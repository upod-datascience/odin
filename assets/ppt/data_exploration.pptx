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9"/>
  </p:notesMasterIdLst>
  <p:sldIdLst>
    <p:sldId id="257" r:id="rId2"/>
    <p:sldId id="273" r:id="rId3"/>
    <p:sldId id="256" r:id="rId4"/>
    <p:sldId id="266" r:id="rId5"/>
    <p:sldId id="258" r:id="rId6"/>
    <p:sldId id="281" r:id="rId7"/>
    <p:sldId id="260" r:id="rId8"/>
    <p:sldId id="261" r:id="rId9"/>
    <p:sldId id="262" r:id="rId10"/>
    <p:sldId id="265" r:id="rId11"/>
    <p:sldId id="264" r:id="rId12"/>
    <p:sldId id="263" r:id="rId13"/>
    <p:sldId id="285" r:id="rId14"/>
    <p:sldId id="280" r:id="rId15"/>
    <p:sldId id="282" r:id="rId16"/>
    <p:sldId id="283" r:id="rId17"/>
    <p:sldId id="286" r:id="rId18"/>
    <p:sldId id="284" r:id="rId19"/>
    <p:sldId id="289" r:id="rId20"/>
    <p:sldId id="288" r:id="rId21"/>
    <p:sldId id="291" r:id="rId22"/>
    <p:sldId id="287" r:id="rId23"/>
    <p:sldId id="290" r:id="rId24"/>
    <p:sldId id="292" r:id="rId25"/>
    <p:sldId id="293" r:id="rId26"/>
    <p:sldId id="259" r:id="rId27"/>
    <p:sldId id="274" r:id="rId28"/>
    <p:sldId id="275" r:id="rId29"/>
    <p:sldId id="279" r:id="rId30"/>
    <p:sldId id="278" r:id="rId31"/>
    <p:sldId id="276" r:id="rId32"/>
    <p:sldId id="277" r:id="rId33"/>
    <p:sldId id="268" r:id="rId34"/>
    <p:sldId id="269" r:id="rId35"/>
    <p:sldId id="271" r:id="rId36"/>
    <p:sldId id="272" r:id="rId37"/>
    <p:sldId id="267" r:id="rId38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92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5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96" y="360"/>
      </p:cViewPr>
      <p:guideLst>
        <p:guide orient="horz" pos="792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Patients DB</c:v>
                </c:pt>
              </c:strCache>
            </c:strRef>
          </c:tx>
          <c:dPt>
            <c:idx val="0"/>
            <c:bubble3D val="0"/>
            <c:spPr>
              <a:gradFill rotWithShape="1">
                <a:gsLst>
                  <a:gs pos="0">
                    <a:schemeClr val="accent1">
                      <a:shade val="76000"/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shade val="76000"/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shade val="76000"/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278F-4D1A-B53E-33D64C00E425}"/>
              </c:ext>
            </c:extLst>
          </c:dPt>
          <c:dPt>
            <c:idx val="1"/>
            <c:bubble3D val="0"/>
            <c:spPr>
              <a:gradFill rotWithShape="1">
                <a:gsLst>
                  <a:gs pos="0">
                    <a:schemeClr val="accent1">
                      <a:tint val="77000"/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tint val="77000"/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tint val="77000"/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278F-4D1A-B53E-33D64C00E425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nl-NL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2"/>
                <c:pt idx="0">
                  <c:v>Eligible</c:v>
                </c:pt>
                <c:pt idx="1">
                  <c:v>Neligible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2"/>
                <c:pt idx="0">
                  <c:v>0.20328102710413695</c:v>
                </c:pt>
                <c:pt idx="1">
                  <c:v>0.79671897289586302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C7F-49CF-93C6-9D708D3574D5}"/>
            </c:ext>
          </c:extLst>
        </c:ser>
        <c:dLbls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nl-NL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nl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344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1A67EE-E303-4967-962F-9A28980F7F51}" type="datetimeFigureOut">
              <a:rPr lang="nl-NL" smtClean="0"/>
              <a:t>29-8-2024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C5567A-7AFB-4BD5-B29D-942703DBBD9B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10625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948AC-B287-41CA-B47D-67A620FCF3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CA617D-8CDC-4F65-9390-74CB821F90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78C5F7-6F60-4F27-9F59-7785DBA2F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D566F3-1D76-4AEC-ABE9-AFABCF495913}" type="datetime1">
              <a:rPr lang="nl-NL" smtClean="0"/>
              <a:t>29-8-2024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FDCB6A-D323-4354-B7D4-9467AF69B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D901AE-19F8-4663-9CE5-05DDFF716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256578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AB29B-76F2-435B-8F9B-E4A2D2170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97678-D29D-4E25-93FC-8B4938B3E7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2F8ED1-C23D-4429-BFB5-AD2DC235C0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DED964-D172-498F-BB83-2F7DE2692B37}" type="datetime1">
              <a:rPr lang="nl-NL" smtClean="0"/>
              <a:t>29-8-2024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54C219-EA01-42FA-AC79-20C9BBBFF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E6E373-602B-42F2-9544-22BDA84AAD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115176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E34D96-94D4-4752-B9E6-24AE8CA4B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DFCD03-CFB3-41EE-966A-80E195415B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DE3FEE-6205-4B95-B947-1CD57C079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F72AC-D91D-48F5-81B4-4889AEA39D06}" type="datetime1">
              <a:rPr lang="nl-NL" smtClean="0"/>
              <a:t>29-8-2024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D5C6CB-9F43-4A9A-8BDF-5E361E3CF8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CE6F9-9336-435B-99C4-1B2C37603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876699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E04E1-BECD-4F8D-9AEA-3E1FBBF13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F62AE8-0F1C-40A4-9933-C2C6445D6A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CCC6A3-60D3-4F49-8134-9555DD8F7B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423EEF-B2AF-4007-A0CC-6A04FCC62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669485-26A9-497C-AD22-BCEA88DF9055}" type="datetime1">
              <a:rPr lang="nl-NL" smtClean="0"/>
              <a:t>29-8-2024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3186E3-2EAF-45FC-9D3B-5DB8A7741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CA7C7D-5BF9-414E-A909-E02CE39DF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827738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7ED87-5DBC-4105-B8D2-62F6369D3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E12741-98B6-45BE-9238-3AB9286E6D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008037-93F8-4100-8D8B-802899C17E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B42F52-1159-4498-A10F-670837787C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510DDDA-D0F2-46C1-9333-7C8A9ECFA5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C5AE4ED-6327-4310-8F14-2B2266882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6D00C-0C62-40DF-B6FF-B9A70701552F}" type="datetime1">
              <a:rPr lang="nl-NL" smtClean="0"/>
              <a:t>29-8-2024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7F0153B-CC0F-48D1-83E4-C86DF6CA4E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A802443-BB47-4A86-990E-F2DAFE688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505204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D51E0-850D-45CE-80D0-E1526BC03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1664787-DB4C-476C-9ABE-CBE11FC29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FE9515-DD39-459B-B4EF-789D74C861A5}" type="datetime1">
              <a:rPr lang="nl-NL" smtClean="0"/>
              <a:t>29-8-2024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70C689-1691-4A79-8F79-1765F66F1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6F9125-8AA4-4357-942F-E0D512E30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453438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826473B-8E52-4970-8EFE-BB7A77953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27954-A76F-4E23-8576-A7D9667CDBCC}" type="datetime1">
              <a:rPr lang="nl-NL" smtClean="0"/>
              <a:t>29-8-2024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414C28-DA8C-41E4-99ED-CD4A4AB233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3173E-2575-432C-ADB6-4EE7AA579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584287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8016D-CA79-4B99-9DA5-91C8716E8F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7F824F-7392-41A8-9386-EBABEA3325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598C4A-C3D9-49EE-BEF4-44B0A17183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4D8747-C1DE-4DAA-8C5A-D16BBDE290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C17D54-D850-41AA-94F6-0F7316E4F326}" type="datetime1">
              <a:rPr lang="nl-NL" smtClean="0"/>
              <a:t>29-8-2024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1386BB-D6D2-4031-9E57-70FB88EFF6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A8E8E8-9918-44B4-9FEF-4D7E7D5CB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494232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CA9765-CB30-4E25-86E7-F361531CB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D9B116-C0FF-4B02-AD1A-8A08E6CD645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08BC79-9573-4E4A-91B1-F0B96BC083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EE7554-64CA-41FE-90D3-147D0A7AA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6A96E-3739-43D3-93E5-DAA507EA7B79}" type="datetime1">
              <a:rPr lang="nl-NL" smtClean="0"/>
              <a:t>29-8-2024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836275-3860-47B0-95E5-E47CE66A5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4DFAFA-428F-4700-8922-3B8EF95F7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579843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50A495-6C31-41FF-A4B0-020E8B28B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C9B0F3-43F5-4FD4-8122-5CBA293A7E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35225E-CE43-4540-AFFC-AAF04C8F8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E55A1-B228-4CF1-BFC3-6AC3B8574AC2}" type="datetime1">
              <a:rPr lang="nl-NL" smtClean="0"/>
              <a:t>29-8-2024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7C101D-B292-40F4-8464-2A879648D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7D5A11-C444-49FD-B50B-F582B0FB4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932105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201D48E-E891-4B7D-AFD4-9AAF8E626A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137D1B-0094-47DD-B9AD-31C8CA042A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D1E101-668E-4BC7-A4CA-5313C7DBB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AEBC58-6519-439D-8982-F0178170B57B}" type="datetime1">
              <a:rPr lang="nl-NL" smtClean="0"/>
              <a:t>29-8-2024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66AB8E-FB2E-4D6E-8154-57D4388790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AA07D3-3567-41F1-8DAB-8F2C583DC3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81752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92EC7E0-AED4-42A9-B7C8-1C8A30363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EDD091-A0BD-4098-8CBF-4B3778A482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BA2CE4-233C-4F57-A4A0-CBB695AC8A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BB0748-A22F-4137-ADB1-6D5A09F7B1DF}" type="datetime1">
              <a:rPr lang="nl-NL" smtClean="0"/>
              <a:t>29-8-2024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7E4AEF-05F3-4A58-BDBD-A8927D0901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BEA39C-A23D-4EEC-9C8A-0F53C04652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747537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file:///\\DS.UMCUTRECHT.NL\DATA\LAB\lab_research\RES-Folder-UPOD\ODIN-UC4\G_Output\3_OtherOutput\ha_8180v_user_manual.pdf" TargetMode="Externa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sv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4.svg"/><Relationship Id="rId5" Type="http://schemas.openxmlformats.org/officeDocument/2006/relationships/image" Target="../media/image8.sv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28.svg"/><Relationship Id="rId3" Type="http://schemas.openxmlformats.org/officeDocument/2006/relationships/image" Target="../media/image18.svg"/><Relationship Id="rId7" Type="http://schemas.openxmlformats.org/officeDocument/2006/relationships/image" Target="../media/image22.svg"/><Relationship Id="rId12" Type="http://schemas.openxmlformats.org/officeDocument/2006/relationships/image" Target="../media/image27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11" Type="http://schemas.openxmlformats.org/officeDocument/2006/relationships/image" Target="../media/image26.svg"/><Relationship Id="rId5" Type="http://schemas.openxmlformats.org/officeDocument/2006/relationships/image" Target="../media/image20.svg"/><Relationship Id="rId10" Type="http://schemas.openxmlformats.org/officeDocument/2006/relationships/image" Target="../media/image25.png"/><Relationship Id="rId4" Type="http://schemas.openxmlformats.org/officeDocument/2006/relationships/image" Target="../media/image19.png"/><Relationship Id="rId9" Type="http://schemas.openxmlformats.org/officeDocument/2006/relationships/image" Target="../media/image24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8.svg"/><Relationship Id="rId7" Type="http://schemas.openxmlformats.org/officeDocument/2006/relationships/image" Target="../media/image42.sv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png"/><Relationship Id="rId11" Type="http://schemas.openxmlformats.org/officeDocument/2006/relationships/image" Target="../media/image46.svg"/><Relationship Id="rId5" Type="http://schemas.openxmlformats.org/officeDocument/2006/relationships/image" Target="../media/image40.svg"/><Relationship Id="rId10" Type="http://schemas.openxmlformats.org/officeDocument/2006/relationships/image" Target="../media/image45.png"/><Relationship Id="rId4" Type="http://schemas.openxmlformats.org/officeDocument/2006/relationships/image" Target="../media/image39.png"/><Relationship Id="rId9" Type="http://schemas.openxmlformats.org/officeDocument/2006/relationships/image" Target="../media/image44.sv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sv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23D3-032D-4C20-8F5B-1840BC8929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Patients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01701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27A7B6BB-C9E7-42BB-9046-E7EF2AC5E8C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673" t="6127" r="2358" b="15388"/>
          <a:stretch/>
        </p:blipFill>
        <p:spPr>
          <a:xfrm>
            <a:off x="561472" y="894345"/>
            <a:ext cx="4427621" cy="3737807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37652BC0-FD39-45D2-8A89-277F3528032E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842" t="1790" r="19895" b="9508"/>
          <a:stretch/>
        </p:blipFill>
        <p:spPr>
          <a:xfrm>
            <a:off x="6096000" y="894345"/>
            <a:ext cx="5534528" cy="476542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E91A7E8-B31F-4EB2-A136-C957064F6D69}"/>
              </a:ext>
            </a:extLst>
          </p:cNvPr>
          <p:cNvSpPr txBox="1"/>
          <p:nvPr/>
        </p:nvSpPr>
        <p:spPr>
          <a:xfrm>
            <a:off x="0" y="0"/>
            <a:ext cx="25426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Patient ∩ Lab Meas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21297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23D3-032D-4C20-8F5B-1840BC8929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Afspraken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2423014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3C70155-7B24-4064-B0C3-5EEA6027BB53}"/>
              </a:ext>
            </a:extLst>
          </p:cNvPr>
          <p:cNvSpPr txBox="1"/>
          <p:nvPr/>
        </p:nvSpPr>
        <p:spPr>
          <a:xfrm>
            <a:off x="0" y="0"/>
            <a:ext cx="40025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Appointment Code to be in the LHS</a:t>
            </a:r>
            <a:endParaRPr lang="nl-NL" u="sng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826DC9C-B1EF-49B7-8DDB-0DD4D517C8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7464091"/>
              </p:ext>
            </p:extLst>
          </p:nvPr>
        </p:nvGraphicFramePr>
        <p:xfrm>
          <a:off x="1141663" y="2493276"/>
          <a:ext cx="4064000" cy="18714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91825133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7167984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CODE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OLD CODE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41837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NALG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NFALG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71853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NGEH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NFGEH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7749231"/>
                  </a:ext>
                </a:extLst>
              </a:tr>
              <a:tr h="388085">
                <a:tc>
                  <a:txBody>
                    <a:bodyPr/>
                    <a:lstStyle/>
                    <a:p>
                      <a:r>
                        <a:rPr lang="it-IT" dirty="0"/>
                        <a:t>NVCMI+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NFVMI+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4843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NVAL+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NFVAL+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5656963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1E04C170-6B5B-4F31-8C8D-F2DB0D2EBAEF}"/>
              </a:ext>
            </a:extLst>
          </p:cNvPr>
          <p:cNvSpPr txBox="1"/>
          <p:nvPr/>
        </p:nvSpPr>
        <p:spPr>
          <a:xfrm>
            <a:off x="5791200" y="2828833"/>
            <a:ext cx="55505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4 out of 26 codes are for eligible patients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Inclusion doesn’t take into account haematochemicals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Inclusion doesn’t take into account the text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Better clusterize?</a:t>
            </a:r>
            <a:endParaRPr lang="nl-NL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249981-8A26-4A9C-9403-D321C871732D}"/>
              </a:ext>
            </a:extLst>
          </p:cNvPr>
          <p:cNvSpPr/>
          <p:nvPr/>
        </p:nvSpPr>
        <p:spPr>
          <a:xfrm>
            <a:off x="292768" y="685073"/>
            <a:ext cx="1160646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nl-NL" dirty="0">
                <a:latin typeface="Gintronic"/>
              </a:rPr>
              <a:t>'NFFRAC’,'NFPOS’,'NFALG’,'NONCO’,'NFVPVAL', 'NFVAL+', 'NFOST', 'NFNEF', 'NFGEHPSO', 'NFPSO', 'NF', 'NPOSK', 'NFVPGEH', 'NTC', 'NFGEH', 'NFPSOVMI', 'NTCPOS', 'NFVMI+', 'NFVPVMI', 'NFSP', 'TCN', 'NSPOS', 'NFSOGEH', 'NS', 'STSN', 'NSCREEN'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6511371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23D3-032D-4C20-8F5B-1840BC8929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Lab Measurements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6878887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60B4FD1-F66A-46C8-A96B-C6DD32132922}"/>
              </a:ext>
            </a:extLst>
          </p:cNvPr>
          <p:cNvSpPr txBox="1"/>
          <p:nvPr/>
        </p:nvSpPr>
        <p:spPr>
          <a:xfrm>
            <a:off x="0" y="0"/>
            <a:ext cx="4708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Instrumental Resolutions</a:t>
            </a:r>
            <a:endParaRPr lang="nl-NL" u="sng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3FC426F-1024-4721-B560-E6BFB1CE00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6792572"/>
              </p:ext>
            </p:extLst>
          </p:nvPr>
        </p:nvGraphicFramePr>
        <p:xfrm>
          <a:off x="1243262" y="903959"/>
          <a:ext cx="9464845" cy="4606498"/>
        </p:xfrm>
        <a:graphic>
          <a:graphicData uri="http://schemas.openxmlformats.org/drawingml/2006/table">
            <a:tbl>
              <a:tblPr firstRow="1">
                <a:tableStyleId>{9D7B26C5-4107-4FEC-AEDC-1716B250A1EF}</a:tableStyleId>
              </a:tblPr>
              <a:tblGrid>
                <a:gridCol w="1836214">
                  <a:extLst>
                    <a:ext uri="{9D8B030D-6E8A-4147-A177-3AD203B41FA5}">
                      <a16:colId xmlns:a16="http://schemas.microsoft.com/office/drawing/2014/main" val="2076889326"/>
                    </a:ext>
                  </a:extLst>
                </a:gridCol>
                <a:gridCol w="1418892">
                  <a:extLst>
                    <a:ext uri="{9D8B030D-6E8A-4147-A177-3AD203B41FA5}">
                      <a16:colId xmlns:a16="http://schemas.microsoft.com/office/drawing/2014/main" val="2767547104"/>
                    </a:ext>
                  </a:extLst>
                </a:gridCol>
                <a:gridCol w="1335428">
                  <a:extLst>
                    <a:ext uri="{9D8B030D-6E8A-4147-A177-3AD203B41FA5}">
                      <a16:colId xmlns:a16="http://schemas.microsoft.com/office/drawing/2014/main" val="4204682836"/>
                    </a:ext>
                  </a:extLst>
                </a:gridCol>
                <a:gridCol w="2420462">
                  <a:extLst>
                    <a:ext uri="{9D8B030D-6E8A-4147-A177-3AD203B41FA5}">
                      <a16:colId xmlns:a16="http://schemas.microsoft.com/office/drawing/2014/main" val="4008304797"/>
                    </a:ext>
                  </a:extLst>
                </a:gridCol>
                <a:gridCol w="2453849">
                  <a:extLst>
                    <a:ext uri="{9D8B030D-6E8A-4147-A177-3AD203B41FA5}">
                      <a16:colId xmlns:a16="http://schemas.microsoft.com/office/drawing/2014/main" val="2756115298"/>
                    </a:ext>
                  </a:extLst>
                </a:gridCol>
              </a:tblGrid>
              <a:tr h="354346">
                <a:tc>
                  <a:txBody>
                    <a:bodyPr/>
                    <a:lstStyle/>
                    <a:p>
                      <a:pPr algn="ctr" fontAlgn="ctr"/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unit</a:t>
                      </a:r>
                      <a:endParaRPr lang="nl-NL" sz="16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healthyRange</a:t>
                      </a:r>
                      <a:endParaRPr lang="nl-NL" sz="16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instrumentResolutionMin</a:t>
                      </a:r>
                      <a:endParaRPr lang="nl-NL" sz="16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instrumentResolutionMax</a:t>
                      </a:r>
                      <a:endParaRPr lang="nl-NL" sz="16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8125472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CRP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mg/L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0 - 10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0.5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624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612131383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Cholesterol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3.5 - 6.5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0.65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32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42700797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HDL Cholesterol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1.10 -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0.1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95646813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HbA1c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mmol/mol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20 - 42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9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195*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75667427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Hemoglobine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7.4 - 9.6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0.6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16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47721487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Kalium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3.8 - 5.0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82828422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 err="1">
                          <a:effectLst/>
                        </a:rPr>
                        <a:t>Kreatinine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µmol/L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49 - 90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13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13000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37466841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LDL Cholesterol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0.0 - 3.0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0.5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 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93110228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Natrium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136 - 146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50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200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301654229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Triglyceriden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0.0 - 2.0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0.17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113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13305178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 err="1">
                          <a:effectLst/>
                        </a:rPr>
                        <a:t>eGFR</a:t>
                      </a:r>
                      <a:r>
                        <a:rPr lang="nl-NL" sz="1600" u="none" strike="noStrike" dirty="0">
                          <a:effectLst/>
                        </a:rPr>
                        <a:t> (CKD-EPI)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mL/min/1.73m2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80 -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 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 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31202181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non-HDL cholesterol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0.0 - 3.8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 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 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699768233"/>
                  </a:ext>
                </a:extLst>
              </a:tr>
            </a:tbl>
          </a:graphicData>
        </a:graphic>
      </p:graphicFrame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40C6C2-8A25-4732-ADD4-BBD79F7C8A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225545"/>
            <a:ext cx="4114800" cy="365125"/>
          </a:xfrm>
        </p:spPr>
        <p:txBody>
          <a:bodyPr/>
          <a:lstStyle/>
          <a:p>
            <a:r>
              <a:rPr lang="nl-NL"/>
              <a:t>Ref: https://www.umcutrecht.nl/bepalingenwijzer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F0FF0B-34D3-4B7E-B257-2C2107C39FA2}"/>
              </a:ext>
            </a:extLst>
          </p:cNvPr>
          <p:cNvSpPr txBox="1"/>
          <p:nvPr/>
        </p:nvSpPr>
        <p:spPr>
          <a:xfrm>
            <a:off x="5081336" y="6590670"/>
            <a:ext cx="178869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050" dirty="0"/>
              <a:t>*</a:t>
            </a:r>
            <a:r>
              <a:rPr lang="it-IT" sz="1050" dirty="0">
                <a:hlinkClick r:id="rId2" action="ppaction://hlinkfile"/>
              </a:rPr>
              <a:t>Machine Reference Manual</a:t>
            </a:r>
            <a:endParaRPr lang="nl-NL" sz="1050" dirty="0"/>
          </a:p>
        </p:txBody>
      </p:sp>
    </p:spTree>
    <p:extLst>
      <p:ext uri="{BB962C8B-B14F-4D97-AF65-F5344CB8AC3E}">
        <p14:creationId xmlns:p14="http://schemas.microsoft.com/office/powerpoint/2010/main" val="9761029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raphic 55">
            <a:extLst>
              <a:ext uri="{FF2B5EF4-FFF2-40B4-BE49-F238E27FC236}">
                <a16:creationId xmlns:a16="http://schemas.microsoft.com/office/drawing/2014/main" id="{52414F87-F631-4D89-AA4B-5432D50060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35099" y="3299436"/>
            <a:ext cx="4394477" cy="3299436"/>
          </a:xfrm>
          <a:prstGeom prst="rect">
            <a:avLst/>
          </a:prstGeom>
        </p:spPr>
      </p:pic>
      <p:pic>
        <p:nvPicPr>
          <p:cNvPr id="58" name="Graphic 57">
            <a:extLst>
              <a:ext uri="{FF2B5EF4-FFF2-40B4-BE49-F238E27FC236}">
                <a16:creationId xmlns:a16="http://schemas.microsoft.com/office/drawing/2014/main" id="{68FD5771-5A2A-484D-A31C-D9D6B47112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62424" y="3299436"/>
            <a:ext cx="4394477" cy="3299436"/>
          </a:xfrm>
          <a:prstGeom prst="rect">
            <a:avLst/>
          </a:prstGeom>
        </p:spPr>
      </p:pic>
      <p:pic>
        <p:nvPicPr>
          <p:cNvPr id="60" name="Graphic 59">
            <a:extLst>
              <a:ext uri="{FF2B5EF4-FFF2-40B4-BE49-F238E27FC236}">
                <a16:creationId xmlns:a16="http://schemas.microsoft.com/office/drawing/2014/main" id="{A666AFF7-F3EA-45A7-9012-B02B8CF613E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14104" y="0"/>
            <a:ext cx="4394477" cy="3299436"/>
          </a:xfrm>
          <a:prstGeom prst="rect">
            <a:avLst/>
          </a:prstGeom>
        </p:spPr>
      </p:pic>
      <p:pic>
        <p:nvPicPr>
          <p:cNvPr id="62" name="Graphic 61">
            <a:extLst>
              <a:ext uri="{FF2B5EF4-FFF2-40B4-BE49-F238E27FC236}">
                <a16:creationId xmlns:a16="http://schemas.microsoft.com/office/drawing/2014/main" id="{BC051BED-6050-4585-8170-AF9657F7F50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256901" y="0"/>
            <a:ext cx="4394477" cy="3299436"/>
          </a:xfrm>
          <a:prstGeom prst="rect">
            <a:avLst/>
          </a:prstGeom>
        </p:spPr>
      </p:pic>
      <p:pic>
        <p:nvPicPr>
          <p:cNvPr id="64" name="Graphic 63">
            <a:extLst>
              <a:ext uri="{FF2B5EF4-FFF2-40B4-BE49-F238E27FC236}">
                <a16:creationId xmlns:a16="http://schemas.microsoft.com/office/drawing/2014/main" id="{FC29D5F6-41B5-4C6C-A664-E5758A41131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299699" y="0"/>
            <a:ext cx="4394477" cy="3299436"/>
          </a:xfrm>
          <a:prstGeom prst="rect">
            <a:avLst/>
          </a:prstGeom>
        </p:spPr>
      </p:pic>
      <p:pic>
        <p:nvPicPr>
          <p:cNvPr id="66" name="Graphic 65">
            <a:extLst>
              <a:ext uri="{FF2B5EF4-FFF2-40B4-BE49-F238E27FC236}">
                <a16:creationId xmlns:a16="http://schemas.microsoft.com/office/drawing/2014/main" id="{E40859BE-F25B-48B1-B7CF-10C7F1E45D9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-657503" y="0"/>
            <a:ext cx="4394477" cy="3299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7641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104F63A-8305-48CC-A7C8-38D27F499A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55860" y="3300410"/>
            <a:ext cx="4471895" cy="3357563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B68B9AC6-63AF-4D04-8412-F617E4BD1E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5392" y="3300411"/>
            <a:ext cx="4471895" cy="3357563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A67BD1E4-1078-48C8-A0CC-A8F92079F4D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16461" y="0"/>
            <a:ext cx="4471895" cy="3357563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9FBB4D53-4F61-4420-B2EA-5DBB2190FBD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405166" y="0"/>
            <a:ext cx="4471895" cy="3357563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9947BBB5-44C5-48CF-969E-441FAF4420E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314940" y="0"/>
            <a:ext cx="4471895" cy="3357563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FC69359F-A5B2-4EC6-BD2E-74DFBA522CF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-859675" y="-28577"/>
            <a:ext cx="4471895" cy="3357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63667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40CC955-9822-4C97-8EA5-CCA925BF2200}"/>
              </a:ext>
            </a:extLst>
          </p:cNvPr>
          <p:cNvSpPr txBox="1"/>
          <p:nvPr/>
        </p:nvSpPr>
        <p:spPr>
          <a:xfrm>
            <a:off x="0" y="2009"/>
            <a:ext cx="34309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Missing Values</a:t>
            </a:r>
            <a:endParaRPr lang="nl-NL" u="sng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C52EDD9-3028-4E42-A5D9-F1DB5004F6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5477" y="0"/>
            <a:ext cx="6455405" cy="6858000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DE2BBFA-3EDF-4661-8183-33CEFA6D6234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7868654" y="1198693"/>
            <a:ext cx="1066798" cy="4696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C5D9A5AB-1C42-4603-9CC8-4255D3AD50A2}"/>
              </a:ext>
            </a:extLst>
          </p:cNvPr>
          <p:cNvSpPr txBox="1"/>
          <p:nvPr/>
        </p:nvSpPr>
        <p:spPr>
          <a:xfrm>
            <a:off x="8935452" y="737028"/>
            <a:ext cx="26228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This is the Pivoted table, that can increase the scarcity of the data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7714554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0D4D3CB-2C2F-4524-B868-41FAEA9F06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4497" y="2219156"/>
            <a:ext cx="4163006" cy="24196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514EC3D-B477-4A30-911C-BD0F244670E3}"/>
              </a:ext>
            </a:extLst>
          </p:cNvPr>
          <p:cNvSpPr txBox="1"/>
          <p:nvPr/>
        </p:nvSpPr>
        <p:spPr>
          <a:xfrm>
            <a:off x="0" y="0"/>
            <a:ext cx="2289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MICE Forest</a:t>
            </a:r>
            <a:endParaRPr lang="nl-NL" u="sng" dirty="0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A2FC79F2-6630-4E33-A4C3-8D9A42B46FEF}"/>
              </a:ext>
            </a:extLst>
          </p:cNvPr>
          <p:cNvSpPr/>
          <p:nvPr/>
        </p:nvSpPr>
        <p:spPr>
          <a:xfrm rot="4638552">
            <a:off x="7604369" y="3141785"/>
            <a:ext cx="140677" cy="1742831"/>
          </a:xfrm>
          <a:prstGeom prst="downArrow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0A6ACB-2D2C-4E4F-96F1-0D3837C836FC}"/>
              </a:ext>
            </a:extLst>
          </p:cNvPr>
          <p:cNvSpPr txBox="1"/>
          <p:nvPr/>
        </p:nvSpPr>
        <p:spPr>
          <a:xfrm>
            <a:off x="8519452" y="3476396"/>
            <a:ext cx="23602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Gradient Boosting</a:t>
            </a:r>
          </a:p>
          <a:p>
            <a:r>
              <a:rPr lang="it-IT" dirty="0"/>
              <a:t>Decision Trees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204438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59EC944-F65A-4355-9EE4-D17542B2E5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2432"/>
            <a:ext cx="12192000" cy="575313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9B55110-826E-47CF-A5A8-A85A55A8AEE0}"/>
              </a:ext>
            </a:extLst>
          </p:cNvPr>
          <p:cNvSpPr txBox="1"/>
          <p:nvPr/>
        </p:nvSpPr>
        <p:spPr>
          <a:xfrm>
            <a:off x="0" y="-5807"/>
            <a:ext cx="2524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Imputed Values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17593525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0962B23-E15F-4BCF-9983-5A40DD11EB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0565" y="214923"/>
            <a:ext cx="8570870" cy="642815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BE0656D-44CA-4A22-BC1D-23F23E963B16}"/>
              </a:ext>
            </a:extLst>
          </p:cNvPr>
          <p:cNvSpPr txBox="1"/>
          <p:nvPr/>
        </p:nvSpPr>
        <p:spPr>
          <a:xfrm>
            <a:off x="0" y="0"/>
            <a:ext cx="2289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MICE Forest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16082756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0962B23-E15F-4BCF-9983-5A40DD11EB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902" y="214923"/>
            <a:ext cx="8570870" cy="642815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BE0656D-44CA-4A22-BC1D-23F23E963B16}"/>
              </a:ext>
            </a:extLst>
          </p:cNvPr>
          <p:cNvSpPr txBox="1"/>
          <p:nvPr/>
        </p:nvSpPr>
        <p:spPr>
          <a:xfrm>
            <a:off x="0" y="0"/>
            <a:ext cx="2289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MICE Forest</a:t>
            </a:r>
            <a:endParaRPr lang="nl-NL" u="sng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EE12EBB-0F27-451D-A1C2-B974EDB76742}"/>
              </a:ext>
            </a:extLst>
          </p:cNvPr>
          <p:cNvSpPr txBox="1"/>
          <p:nvPr/>
        </p:nvSpPr>
        <p:spPr>
          <a:xfrm>
            <a:off x="9681410" y="3244333"/>
            <a:ext cx="1949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Seems good uh?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8748912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9122CDA-8054-4F30-AA24-7864527ED42D}"/>
              </a:ext>
            </a:extLst>
          </p:cNvPr>
          <p:cNvSpPr txBox="1"/>
          <p:nvPr/>
        </p:nvSpPr>
        <p:spPr>
          <a:xfrm>
            <a:off x="0" y="0"/>
            <a:ext cx="4708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Original Chemical Subs distributions</a:t>
            </a:r>
            <a:endParaRPr lang="nl-NL" u="sn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2B614DA-B9E5-44DA-9D9F-C33D5F9B53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538130"/>
            <a:ext cx="11887200" cy="5958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35861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EDA138-723D-402C-81C9-FBE5F72D66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09869"/>
            <a:ext cx="12192000" cy="611097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89BEB55-6184-4AF3-A7C2-E99DE34DA79B}"/>
              </a:ext>
            </a:extLst>
          </p:cNvPr>
          <p:cNvSpPr txBox="1"/>
          <p:nvPr/>
        </p:nvSpPr>
        <p:spPr>
          <a:xfrm>
            <a:off x="0" y="0"/>
            <a:ext cx="4708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After Imputation Chemical Subs distributions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18177738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C597A2D-637D-4700-8FE8-8DCBE5A562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09671"/>
            <a:ext cx="12192000" cy="21328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14A686D-085E-4768-98CF-61F1F9D807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31492"/>
            <a:ext cx="12192000" cy="21328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2F73233-438F-4E0E-9D21-5EF1E8E223FC}"/>
              </a:ext>
            </a:extLst>
          </p:cNvPr>
          <p:cNvSpPr txBox="1"/>
          <p:nvPr/>
        </p:nvSpPr>
        <p:spPr>
          <a:xfrm>
            <a:off x="0" y="0"/>
            <a:ext cx="3400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Kreatinine Data over time</a:t>
            </a:r>
            <a:endParaRPr lang="nl-NL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4205ADD-760A-43D7-9E5C-1CA26946C863}"/>
              </a:ext>
            </a:extLst>
          </p:cNvPr>
          <p:cNvSpPr txBox="1"/>
          <p:nvPr/>
        </p:nvSpPr>
        <p:spPr>
          <a:xfrm>
            <a:off x="4395537" y="742333"/>
            <a:ext cx="3400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Kreatinine Registered</a:t>
            </a:r>
            <a:endParaRPr lang="nl-NL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9CDD73-B873-496C-A709-535F4F828307}"/>
              </a:ext>
            </a:extLst>
          </p:cNvPr>
          <p:cNvSpPr txBox="1"/>
          <p:nvPr/>
        </p:nvSpPr>
        <p:spPr>
          <a:xfrm>
            <a:off x="4395537" y="3798172"/>
            <a:ext cx="3400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Kreatinine Registered + Imputed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9773033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C597A2D-637D-4700-8FE8-8DCBE5A562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421" y="1238007"/>
            <a:ext cx="5919537" cy="21328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14A686D-085E-4768-98CF-61F1F9D807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421" y="4359828"/>
            <a:ext cx="5919537" cy="21328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2F73233-438F-4E0E-9D21-5EF1E8E223FC}"/>
              </a:ext>
            </a:extLst>
          </p:cNvPr>
          <p:cNvSpPr txBox="1"/>
          <p:nvPr/>
        </p:nvSpPr>
        <p:spPr>
          <a:xfrm>
            <a:off x="0" y="0"/>
            <a:ext cx="3400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Kreatinine Data over time</a:t>
            </a:r>
            <a:endParaRPr lang="nl-NL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4205ADD-760A-43D7-9E5C-1CA26946C863}"/>
              </a:ext>
            </a:extLst>
          </p:cNvPr>
          <p:cNvSpPr txBox="1"/>
          <p:nvPr/>
        </p:nvSpPr>
        <p:spPr>
          <a:xfrm>
            <a:off x="2583053" y="865483"/>
            <a:ext cx="25982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Kreatinine Registered</a:t>
            </a:r>
            <a:endParaRPr lang="nl-NL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9CDD73-B873-496C-A709-535F4F828307}"/>
              </a:ext>
            </a:extLst>
          </p:cNvPr>
          <p:cNvSpPr txBox="1"/>
          <p:nvPr/>
        </p:nvSpPr>
        <p:spPr>
          <a:xfrm>
            <a:off x="1937083" y="3990496"/>
            <a:ext cx="38902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Kreatinine Registered + Imputed</a:t>
            </a:r>
            <a:endParaRPr lang="nl-NL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4F6C92-4554-46AB-A52E-5085F8CBD941}"/>
              </a:ext>
            </a:extLst>
          </p:cNvPr>
          <p:cNvSpPr txBox="1"/>
          <p:nvPr/>
        </p:nvSpPr>
        <p:spPr>
          <a:xfrm>
            <a:off x="8229601" y="3370835"/>
            <a:ext cx="29597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We need to change strategy...</a:t>
            </a:r>
            <a:endParaRPr lang="nl-NL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F062F9B-75EE-45F0-9939-679479C24314}"/>
              </a:ext>
            </a:extLst>
          </p:cNvPr>
          <p:cNvCxnSpPr>
            <a:stCxn id="2" idx="1"/>
            <a:endCxn id="3" idx="3"/>
          </p:cNvCxnSpPr>
          <p:nvPr/>
        </p:nvCxnSpPr>
        <p:spPr>
          <a:xfrm flipH="1" flipV="1">
            <a:off x="6841958" y="2304421"/>
            <a:ext cx="1387643" cy="1251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B8C72A0-5C06-4603-82F0-D06B5C07D601}"/>
              </a:ext>
            </a:extLst>
          </p:cNvPr>
          <p:cNvCxnSpPr>
            <a:stCxn id="2" idx="1"/>
            <a:endCxn id="5" idx="3"/>
          </p:cNvCxnSpPr>
          <p:nvPr/>
        </p:nvCxnSpPr>
        <p:spPr>
          <a:xfrm flipH="1">
            <a:off x="6841958" y="3555501"/>
            <a:ext cx="1387643" cy="1870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07125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ACEB4A5-7556-45C7-AF61-C9952B09F07C}"/>
              </a:ext>
            </a:extLst>
          </p:cNvPr>
          <p:cNvSpPr txBox="1"/>
          <p:nvPr/>
        </p:nvSpPr>
        <p:spPr>
          <a:xfrm>
            <a:off x="3709737" y="3136612"/>
            <a:ext cx="47725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3200" dirty="0"/>
              <a:t>Strategy 2</a:t>
            </a:r>
            <a:endParaRPr lang="nl-NL" sz="3200" dirty="0"/>
          </a:p>
        </p:txBody>
      </p:sp>
    </p:spTree>
    <p:extLst>
      <p:ext uri="{BB962C8B-B14F-4D97-AF65-F5344CB8AC3E}">
        <p14:creationId xmlns:p14="http://schemas.microsoft.com/office/powerpoint/2010/main" val="35960634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 descr="Database">
            <a:extLst>
              <a:ext uri="{FF2B5EF4-FFF2-40B4-BE49-F238E27FC236}">
                <a16:creationId xmlns:a16="http://schemas.microsoft.com/office/drawing/2014/main" id="{0D465E5E-71B4-4CAA-80E1-ADC707F0E7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9916" y="2993858"/>
            <a:ext cx="914400" cy="914400"/>
          </a:xfrm>
          <a:prstGeom prst="rect">
            <a:avLst/>
          </a:prstGeom>
        </p:spPr>
      </p:pic>
      <p:pic>
        <p:nvPicPr>
          <p:cNvPr id="6" name="Graphic 5" descr="Database">
            <a:extLst>
              <a:ext uri="{FF2B5EF4-FFF2-40B4-BE49-F238E27FC236}">
                <a16:creationId xmlns:a16="http://schemas.microsoft.com/office/drawing/2014/main" id="{E81DF561-3B38-4BE3-974A-FE9B9C8653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19663" y="1439778"/>
            <a:ext cx="914400" cy="914400"/>
          </a:xfrm>
          <a:prstGeom prst="rect">
            <a:avLst/>
          </a:prstGeom>
        </p:spPr>
      </p:pic>
      <p:pic>
        <p:nvPicPr>
          <p:cNvPr id="7" name="Graphic 6" descr="Database">
            <a:extLst>
              <a:ext uri="{FF2B5EF4-FFF2-40B4-BE49-F238E27FC236}">
                <a16:creationId xmlns:a16="http://schemas.microsoft.com/office/drawing/2014/main" id="{6FE9CA92-798F-4967-8D7B-6A1E2BF3A9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19663" y="4503822"/>
            <a:ext cx="914400" cy="914400"/>
          </a:xfrm>
          <a:prstGeom prst="rect">
            <a:avLst/>
          </a:prstGeom>
        </p:spPr>
      </p:pic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2D7E791C-D6D1-49D9-A9B9-CA8B32688F1D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1644316" y="1896978"/>
            <a:ext cx="1275347" cy="155408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D06B5001-B912-4762-8E80-96E82E1A01EB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1644316" y="3451058"/>
            <a:ext cx="1275347" cy="150996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4" name="Graphic 13" descr="Braille">
            <a:extLst>
              <a:ext uri="{FF2B5EF4-FFF2-40B4-BE49-F238E27FC236}">
                <a16:creationId xmlns:a16="http://schemas.microsoft.com/office/drawing/2014/main" id="{CFE3DD75-4FF4-4EFC-94BD-D9BF548E1C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54779" y="1439778"/>
            <a:ext cx="914400" cy="914400"/>
          </a:xfrm>
          <a:prstGeom prst="rect">
            <a:avLst/>
          </a:prstGeom>
        </p:spPr>
      </p:pic>
      <p:pic>
        <p:nvPicPr>
          <p:cNvPr id="16" name="Graphic 15" descr="Head with gears">
            <a:extLst>
              <a:ext uri="{FF2B5EF4-FFF2-40B4-BE49-F238E27FC236}">
                <a16:creationId xmlns:a16="http://schemas.microsoft.com/office/drawing/2014/main" id="{53E289C0-C6F1-4870-99BC-B4F0CD2B59E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037221" y="4503822"/>
            <a:ext cx="914400" cy="914400"/>
          </a:xfrm>
          <a:prstGeom prst="rect">
            <a:avLst/>
          </a:prstGeom>
        </p:spPr>
      </p:pic>
      <p:pic>
        <p:nvPicPr>
          <p:cNvPr id="18" name="Graphic 17" descr="Network diagram">
            <a:extLst>
              <a:ext uri="{FF2B5EF4-FFF2-40B4-BE49-F238E27FC236}">
                <a16:creationId xmlns:a16="http://schemas.microsoft.com/office/drawing/2014/main" id="{F4F2FF9D-9F35-4D8F-ADFB-D0FC4B57376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686800" y="2993858"/>
            <a:ext cx="914400" cy="914400"/>
          </a:xfrm>
          <a:prstGeom prst="rect">
            <a:avLst/>
          </a:prstGeom>
        </p:spPr>
      </p:pic>
      <p:pic>
        <p:nvPicPr>
          <p:cNvPr id="20" name="Graphic 19" descr="Statistics">
            <a:extLst>
              <a:ext uri="{FF2B5EF4-FFF2-40B4-BE49-F238E27FC236}">
                <a16:creationId xmlns:a16="http://schemas.microsoft.com/office/drawing/2014/main" id="{FFCFB770-836A-4E84-8798-0AB8A5F21F3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037221" y="1439778"/>
            <a:ext cx="914400" cy="914400"/>
          </a:xfrm>
          <a:prstGeom prst="rect">
            <a:avLst/>
          </a:prstGeom>
        </p:spPr>
      </p:pic>
      <p:pic>
        <p:nvPicPr>
          <p:cNvPr id="21" name="Graphic 20" descr="Braille">
            <a:extLst>
              <a:ext uri="{FF2B5EF4-FFF2-40B4-BE49-F238E27FC236}">
                <a16:creationId xmlns:a16="http://schemas.microsoft.com/office/drawing/2014/main" id="{8AC4798F-98EB-4F3F-92C9-6C7F638058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54779" y="4503822"/>
            <a:ext cx="914400" cy="914400"/>
          </a:xfrm>
          <a:prstGeom prst="rect">
            <a:avLst/>
          </a:prstGeom>
        </p:spPr>
      </p:pic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73D8E2E-A8A1-4A4F-B04B-888FE81ECC83}"/>
              </a:ext>
            </a:extLst>
          </p:cNvPr>
          <p:cNvCxnSpPr>
            <a:stCxn id="6" idx="3"/>
            <a:endCxn id="20" idx="1"/>
          </p:cNvCxnSpPr>
          <p:nvPr/>
        </p:nvCxnSpPr>
        <p:spPr>
          <a:xfrm>
            <a:off x="3834063" y="1896978"/>
            <a:ext cx="12031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B43F149-E4E7-4783-8884-9E977B5D78BF}"/>
              </a:ext>
            </a:extLst>
          </p:cNvPr>
          <p:cNvCxnSpPr>
            <a:stCxn id="20" idx="3"/>
            <a:endCxn id="14" idx="1"/>
          </p:cNvCxnSpPr>
          <p:nvPr/>
        </p:nvCxnSpPr>
        <p:spPr>
          <a:xfrm>
            <a:off x="5951621" y="1896978"/>
            <a:ext cx="12031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7EAEDDD-7130-4679-AED7-6303C1A57890}"/>
              </a:ext>
            </a:extLst>
          </p:cNvPr>
          <p:cNvCxnSpPr>
            <a:stCxn id="14" idx="3"/>
            <a:endCxn id="18" idx="1"/>
          </p:cNvCxnSpPr>
          <p:nvPr/>
        </p:nvCxnSpPr>
        <p:spPr>
          <a:xfrm>
            <a:off x="8069179" y="1896978"/>
            <a:ext cx="617621" cy="1554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1349B75-AD95-4C06-B895-E3C404052A54}"/>
              </a:ext>
            </a:extLst>
          </p:cNvPr>
          <p:cNvCxnSpPr>
            <a:stCxn id="7" idx="3"/>
            <a:endCxn id="16" idx="1"/>
          </p:cNvCxnSpPr>
          <p:nvPr/>
        </p:nvCxnSpPr>
        <p:spPr>
          <a:xfrm>
            <a:off x="3834063" y="4961022"/>
            <a:ext cx="12031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39122D0-529A-4924-9F25-179DD8CDEF6E}"/>
              </a:ext>
            </a:extLst>
          </p:cNvPr>
          <p:cNvCxnSpPr>
            <a:stCxn id="16" idx="3"/>
            <a:endCxn id="21" idx="1"/>
          </p:cNvCxnSpPr>
          <p:nvPr/>
        </p:nvCxnSpPr>
        <p:spPr>
          <a:xfrm>
            <a:off x="5951621" y="4961022"/>
            <a:ext cx="12031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A79EF34-8C9A-46B0-A0C8-281492399F29}"/>
              </a:ext>
            </a:extLst>
          </p:cNvPr>
          <p:cNvCxnSpPr>
            <a:stCxn id="21" idx="3"/>
            <a:endCxn id="18" idx="1"/>
          </p:cNvCxnSpPr>
          <p:nvPr/>
        </p:nvCxnSpPr>
        <p:spPr>
          <a:xfrm flipV="1">
            <a:off x="8069179" y="3451058"/>
            <a:ext cx="617621" cy="15099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B92C21B9-73DF-4A50-8732-70B04DB91BB2}"/>
              </a:ext>
            </a:extLst>
          </p:cNvPr>
          <p:cNvSpPr txBox="1"/>
          <p:nvPr/>
        </p:nvSpPr>
        <p:spPr>
          <a:xfrm>
            <a:off x="729916" y="2674018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Data</a:t>
            </a:r>
            <a:endParaRPr lang="nl-NL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92AB112-5266-4EE3-8175-5625F3CC0148}"/>
              </a:ext>
            </a:extLst>
          </p:cNvPr>
          <p:cNvSpPr txBox="1"/>
          <p:nvPr/>
        </p:nvSpPr>
        <p:spPr>
          <a:xfrm>
            <a:off x="2410326" y="1040458"/>
            <a:ext cx="1933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To be interpolated</a:t>
            </a:r>
            <a:endParaRPr lang="nl-NL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DB563F-66D7-4806-B713-02249C6E6939}"/>
              </a:ext>
            </a:extLst>
          </p:cNvPr>
          <p:cNvSpPr txBox="1"/>
          <p:nvPr/>
        </p:nvSpPr>
        <p:spPr>
          <a:xfrm>
            <a:off x="2486526" y="4206040"/>
            <a:ext cx="1933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To be imputed</a:t>
            </a:r>
            <a:endParaRPr lang="nl-NL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D19FC32-97A8-4104-B28A-CF6DA7AD830C}"/>
              </a:ext>
            </a:extLst>
          </p:cNvPr>
          <p:cNvSpPr txBox="1"/>
          <p:nvPr/>
        </p:nvSpPr>
        <p:spPr>
          <a:xfrm>
            <a:off x="6777789" y="4076383"/>
            <a:ext cx="16683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Agg Imputed Data</a:t>
            </a:r>
            <a:endParaRPr lang="nl-NL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511C0EE-145E-4892-AAC3-2ACC6A2D1834}"/>
              </a:ext>
            </a:extLst>
          </p:cNvPr>
          <p:cNvSpPr txBox="1"/>
          <p:nvPr/>
        </p:nvSpPr>
        <p:spPr>
          <a:xfrm>
            <a:off x="4527884" y="4178424"/>
            <a:ext cx="1933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Imputer</a:t>
            </a:r>
            <a:endParaRPr lang="nl-NL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6FA8274-CF09-4053-A202-9FD34F0AD1D7}"/>
              </a:ext>
            </a:extLst>
          </p:cNvPr>
          <p:cNvSpPr txBox="1"/>
          <p:nvPr/>
        </p:nvSpPr>
        <p:spPr>
          <a:xfrm>
            <a:off x="4578016" y="1040458"/>
            <a:ext cx="17927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Interpolate&amp;Agg</a:t>
            </a:r>
            <a:endParaRPr lang="nl-NL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F3F9F64-9CB2-4C49-B464-95ADFA07E271}"/>
              </a:ext>
            </a:extLst>
          </p:cNvPr>
          <p:cNvSpPr txBox="1"/>
          <p:nvPr/>
        </p:nvSpPr>
        <p:spPr>
          <a:xfrm>
            <a:off x="6605337" y="939326"/>
            <a:ext cx="19731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Weighted Avg based on time</a:t>
            </a:r>
            <a:endParaRPr lang="nl-NL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0D1AA15-024B-4A22-9E5B-6FCA5290E1CE}"/>
              </a:ext>
            </a:extLst>
          </p:cNvPr>
          <p:cNvSpPr txBox="1"/>
          <p:nvPr/>
        </p:nvSpPr>
        <p:spPr>
          <a:xfrm>
            <a:off x="9436768" y="3244334"/>
            <a:ext cx="1532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Data Fusion</a:t>
            </a:r>
            <a:endParaRPr lang="nl-NL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39AB1E6-67B6-4B4E-97CC-380898C45A3E}"/>
              </a:ext>
            </a:extLst>
          </p:cNvPr>
          <p:cNvSpPr txBox="1"/>
          <p:nvPr/>
        </p:nvSpPr>
        <p:spPr>
          <a:xfrm>
            <a:off x="0" y="0"/>
            <a:ext cx="3457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Data processing - Pipeline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17838114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41EFDCE-6A3A-4FC2-878E-0096095E24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4074226"/>
              </p:ext>
            </p:extLst>
          </p:nvPr>
        </p:nvGraphicFramePr>
        <p:xfrm>
          <a:off x="1048081" y="1018540"/>
          <a:ext cx="5874084" cy="482092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3609474">
                  <a:extLst>
                    <a:ext uri="{9D8B030D-6E8A-4147-A177-3AD203B41FA5}">
                      <a16:colId xmlns:a16="http://schemas.microsoft.com/office/drawing/2014/main" val="2857705795"/>
                    </a:ext>
                  </a:extLst>
                </a:gridCol>
                <a:gridCol w="2264610">
                  <a:extLst>
                    <a:ext uri="{9D8B030D-6E8A-4147-A177-3AD203B41FA5}">
                      <a16:colId xmlns:a16="http://schemas.microsoft.com/office/drawing/2014/main" val="325564799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Substance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Present values count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08127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CRP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11669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6039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Cholesterol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2525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25832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HDL Cholesterol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2493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04791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HbA1c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2803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96196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Hemoglobine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23126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53262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Kalium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23488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106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 err="1"/>
                        <a:t>Kreatinine</a:t>
                      </a:r>
                      <a:r>
                        <a:rPr lang="nl-NL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21205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7138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LDL Cholesterol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2147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2752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Natrium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20724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10565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Triglyceriden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2626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2391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 err="1"/>
                        <a:t>eGFR</a:t>
                      </a:r>
                      <a:r>
                        <a:rPr lang="nl-NL" dirty="0"/>
                        <a:t> (CKD-EPI)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21181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45922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non-HDL cholesterol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2481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8904815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FFDBA18B-D1D7-4CFF-A12B-7FB9E004DF79}"/>
              </a:ext>
            </a:extLst>
          </p:cNvPr>
          <p:cNvSpPr/>
          <p:nvPr/>
        </p:nvSpPr>
        <p:spPr>
          <a:xfrm>
            <a:off x="1048081" y="2863516"/>
            <a:ext cx="5874084" cy="368968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C61424-BD8E-4EEF-BF4D-2D8BA8FB26AE}"/>
              </a:ext>
            </a:extLst>
          </p:cNvPr>
          <p:cNvSpPr/>
          <p:nvPr/>
        </p:nvSpPr>
        <p:spPr>
          <a:xfrm>
            <a:off x="1048081" y="3625517"/>
            <a:ext cx="5874084" cy="368968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64DEB25-96EA-4DFC-989E-80095B8F2316}"/>
              </a:ext>
            </a:extLst>
          </p:cNvPr>
          <p:cNvSpPr/>
          <p:nvPr/>
        </p:nvSpPr>
        <p:spPr>
          <a:xfrm>
            <a:off x="1048081" y="4363520"/>
            <a:ext cx="5874084" cy="368968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1EEE006-C5B8-43F0-8A57-0163A12D0E93}"/>
              </a:ext>
            </a:extLst>
          </p:cNvPr>
          <p:cNvSpPr/>
          <p:nvPr/>
        </p:nvSpPr>
        <p:spPr>
          <a:xfrm>
            <a:off x="1048081" y="5101490"/>
            <a:ext cx="5874084" cy="368968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82961CC-91D0-4961-BB42-58A23F6CF0DA}"/>
              </a:ext>
            </a:extLst>
          </p:cNvPr>
          <p:cNvSpPr/>
          <p:nvPr/>
        </p:nvSpPr>
        <p:spPr>
          <a:xfrm>
            <a:off x="1048081" y="1387542"/>
            <a:ext cx="5874084" cy="368968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7307ECC-0C19-49E1-AAE5-B528C69F84A2}"/>
              </a:ext>
            </a:extLst>
          </p:cNvPr>
          <p:cNvSpPr/>
          <p:nvPr/>
        </p:nvSpPr>
        <p:spPr>
          <a:xfrm>
            <a:off x="1048081" y="1756510"/>
            <a:ext cx="5874084" cy="368968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4C1DF77-2156-41BA-B371-314FDAF17CB5}"/>
              </a:ext>
            </a:extLst>
          </p:cNvPr>
          <p:cNvSpPr/>
          <p:nvPr/>
        </p:nvSpPr>
        <p:spPr>
          <a:xfrm>
            <a:off x="1048081" y="2125529"/>
            <a:ext cx="5874084" cy="368968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9DCDDD4-1795-4D71-AAA2-7FCACA5AA2B7}"/>
              </a:ext>
            </a:extLst>
          </p:cNvPr>
          <p:cNvSpPr/>
          <p:nvPr/>
        </p:nvSpPr>
        <p:spPr>
          <a:xfrm>
            <a:off x="1048081" y="2494531"/>
            <a:ext cx="5874084" cy="368968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E5593BE-D5E6-43BC-AC69-B5F0C659BFB0}"/>
              </a:ext>
            </a:extLst>
          </p:cNvPr>
          <p:cNvSpPr/>
          <p:nvPr/>
        </p:nvSpPr>
        <p:spPr>
          <a:xfrm>
            <a:off x="1048081" y="3232483"/>
            <a:ext cx="5874084" cy="393034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D521C61-66F1-497B-AE24-312DF4DA282D}"/>
              </a:ext>
            </a:extLst>
          </p:cNvPr>
          <p:cNvSpPr/>
          <p:nvPr/>
        </p:nvSpPr>
        <p:spPr>
          <a:xfrm>
            <a:off x="1048081" y="3982469"/>
            <a:ext cx="5874084" cy="393034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49AD5D4-C117-4800-A408-D2DFD4CA907D}"/>
              </a:ext>
            </a:extLst>
          </p:cNvPr>
          <p:cNvSpPr/>
          <p:nvPr/>
        </p:nvSpPr>
        <p:spPr>
          <a:xfrm>
            <a:off x="1048081" y="4708456"/>
            <a:ext cx="5874084" cy="393034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F265051-3DEC-4E0B-AD6E-61CD5452612F}"/>
              </a:ext>
            </a:extLst>
          </p:cNvPr>
          <p:cNvSpPr/>
          <p:nvPr/>
        </p:nvSpPr>
        <p:spPr>
          <a:xfrm>
            <a:off x="1048081" y="5446426"/>
            <a:ext cx="5874084" cy="393034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4E0FF940-39AD-4449-8ABF-111815A5CB45}"/>
              </a:ext>
            </a:extLst>
          </p:cNvPr>
          <p:cNvCxnSpPr>
            <a:cxnSpLocks/>
            <a:stCxn id="17" idx="1"/>
            <a:endCxn id="5" idx="3"/>
          </p:cNvCxnSpPr>
          <p:nvPr/>
        </p:nvCxnSpPr>
        <p:spPr>
          <a:xfrm flipH="1">
            <a:off x="6922165" y="3047817"/>
            <a:ext cx="2021304" cy="1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9DC9BDA-F7D8-4B2C-8431-93525FA96F49}"/>
              </a:ext>
            </a:extLst>
          </p:cNvPr>
          <p:cNvSpPr txBox="1"/>
          <p:nvPr/>
        </p:nvSpPr>
        <p:spPr>
          <a:xfrm>
            <a:off x="8943469" y="2863151"/>
            <a:ext cx="2181727" cy="36933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it-IT" dirty="0"/>
              <a:t>Interpolate the data</a:t>
            </a:r>
            <a:endParaRPr lang="nl-NL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E3452580-DECD-4053-A95B-2985B8A7F98D}"/>
              </a:ext>
            </a:extLst>
          </p:cNvPr>
          <p:cNvCxnSpPr>
            <a:stCxn id="17" idx="1"/>
            <a:endCxn id="6" idx="3"/>
          </p:cNvCxnSpPr>
          <p:nvPr/>
        </p:nvCxnSpPr>
        <p:spPr>
          <a:xfrm rot="10800000" flipV="1">
            <a:off x="6922165" y="3047817"/>
            <a:ext cx="2021304" cy="76218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3BC5F390-5870-4620-A2E1-8216FECE4532}"/>
              </a:ext>
            </a:extLst>
          </p:cNvPr>
          <p:cNvCxnSpPr>
            <a:stCxn id="17" idx="1"/>
            <a:endCxn id="7" idx="3"/>
          </p:cNvCxnSpPr>
          <p:nvPr/>
        </p:nvCxnSpPr>
        <p:spPr>
          <a:xfrm rot="10800000" flipV="1">
            <a:off x="6922165" y="3047816"/>
            <a:ext cx="2021304" cy="1500187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F71A9B99-C402-402F-B6D6-1175DC078108}"/>
              </a:ext>
            </a:extLst>
          </p:cNvPr>
          <p:cNvCxnSpPr>
            <a:stCxn id="17" idx="1"/>
            <a:endCxn id="8" idx="3"/>
          </p:cNvCxnSpPr>
          <p:nvPr/>
        </p:nvCxnSpPr>
        <p:spPr>
          <a:xfrm rot="10800000" flipV="1">
            <a:off x="6922165" y="3047816"/>
            <a:ext cx="2021304" cy="2238157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5B2C1735-87A1-42A0-94CD-065D6E3DB48C}"/>
              </a:ext>
            </a:extLst>
          </p:cNvPr>
          <p:cNvSpPr txBox="1"/>
          <p:nvPr/>
        </p:nvSpPr>
        <p:spPr>
          <a:xfrm>
            <a:off x="8943468" y="1391423"/>
            <a:ext cx="2181727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it-IT" dirty="0"/>
              <a:t>Impute the data</a:t>
            </a:r>
            <a:endParaRPr lang="nl-NL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8FD28A1-1CAB-4C27-B1AC-01D86CA0C541}"/>
              </a:ext>
            </a:extLst>
          </p:cNvPr>
          <p:cNvCxnSpPr>
            <a:stCxn id="30" idx="1"/>
            <a:endCxn id="9" idx="3"/>
          </p:cNvCxnSpPr>
          <p:nvPr/>
        </p:nvCxnSpPr>
        <p:spPr>
          <a:xfrm flipH="1" flipV="1">
            <a:off x="6922165" y="1572026"/>
            <a:ext cx="2021303" cy="4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5E72941C-A0AA-4D4A-9704-784B74E19054}"/>
              </a:ext>
            </a:extLst>
          </p:cNvPr>
          <p:cNvCxnSpPr>
            <a:stCxn id="30" idx="1"/>
            <a:endCxn id="10" idx="3"/>
          </p:cNvCxnSpPr>
          <p:nvPr/>
        </p:nvCxnSpPr>
        <p:spPr>
          <a:xfrm rot="10800000" flipV="1">
            <a:off x="6922166" y="1576088"/>
            <a:ext cx="2021303" cy="364905"/>
          </a:xfrm>
          <a:prstGeom prst="bentConnector3">
            <a:avLst>
              <a:gd name="adj1" fmla="val 273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F2EEA8B7-446B-492D-B283-2719BDC4699E}"/>
              </a:ext>
            </a:extLst>
          </p:cNvPr>
          <p:cNvCxnSpPr>
            <a:stCxn id="30" idx="1"/>
            <a:endCxn id="11" idx="3"/>
          </p:cNvCxnSpPr>
          <p:nvPr/>
        </p:nvCxnSpPr>
        <p:spPr>
          <a:xfrm rot="10800000" flipV="1">
            <a:off x="6922166" y="1576089"/>
            <a:ext cx="2021303" cy="733924"/>
          </a:xfrm>
          <a:prstGeom prst="bentConnector3">
            <a:avLst>
              <a:gd name="adj1" fmla="val 273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AAA49802-CCEE-401A-A67A-DCAB21AD479F}"/>
              </a:ext>
            </a:extLst>
          </p:cNvPr>
          <p:cNvCxnSpPr>
            <a:stCxn id="30" idx="1"/>
            <a:endCxn id="12" idx="3"/>
          </p:cNvCxnSpPr>
          <p:nvPr/>
        </p:nvCxnSpPr>
        <p:spPr>
          <a:xfrm rot="10800000" flipV="1">
            <a:off x="6922166" y="1576089"/>
            <a:ext cx="2021303" cy="1102926"/>
          </a:xfrm>
          <a:prstGeom prst="bentConnector3">
            <a:avLst>
              <a:gd name="adj1" fmla="val 273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BAD846E9-613C-4D64-9871-751D24F7FCB9}"/>
              </a:ext>
            </a:extLst>
          </p:cNvPr>
          <p:cNvCxnSpPr>
            <a:stCxn id="30" idx="1"/>
            <a:endCxn id="3" idx="3"/>
          </p:cNvCxnSpPr>
          <p:nvPr/>
        </p:nvCxnSpPr>
        <p:spPr>
          <a:xfrm rot="10800000" flipV="1">
            <a:off x="6922166" y="1576088"/>
            <a:ext cx="2021303" cy="1852911"/>
          </a:xfrm>
          <a:prstGeom prst="bentConnector3">
            <a:avLst>
              <a:gd name="adj1" fmla="val 273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D41878C0-C417-42EF-937F-5D8EAC946940}"/>
              </a:ext>
            </a:extLst>
          </p:cNvPr>
          <p:cNvCxnSpPr>
            <a:stCxn id="30" idx="1"/>
            <a:endCxn id="14" idx="3"/>
          </p:cNvCxnSpPr>
          <p:nvPr/>
        </p:nvCxnSpPr>
        <p:spPr>
          <a:xfrm rot="10800000" flipV="1">
            <a:off x="6922166" y="1576088"/>
            <a:ext cx="2021303" cy="2602897"/>
          </a:xfrm>
          <a:prstGeom prst="bentConnector3">
            <a:avLst>
              <a:gd name="adj1" fmla="val 273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E5E577A5-5C4E-4314-B94E-C692A7C075E7}"/>
              </a:ext>
            </a:extLst>
          </p:cNvPr>
          <p:cNvCxnSpPr>
            <a:stCxn id="30" idx="1"/>
            <a:endCxn id="15" idx="3"/>
          </p:cNvCxnSpPr>
          <p:nvPr/>
        </p:nvCxnSpPr>
        <p:spPr>
          <a:xfrm rot="10800000" flipV="1">
            <a:off x="6922166" y="1576089"/>
            <a:ext cx="2021303" cy="3328884"/>
          </a:xfrm>
          <a:prstGeom prst="bentConnector3">
            <a:avLst>
              <a:gd name="adj1" fmla="val 273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AAE5AA8C-C949-4CBF-BBC4-FC9FB991F2B3}"/>
              </a:ext>
            </a:extLst>
          </p:cNvPr>
          <p:cNvCxnSpPr>
            <a:stCxn id="30" idx="1"/>
            <a:endCxn id="16" idx="3"/>
          </p:cNvCxnSpPr>
          <p:nvPr/>
        </p:nvCxnSpPr>
        <p:spPr>
          <a:xfrm rot="10800000" flipV="1">
            <a:off x="6922166" y="1576089"/>
            <a:ext cx="2021303" cy="4066854"/>
          </a:xfrm>
          <a:prstGeom prst="bentConnector3">
            <a:avLst>
              <a:gd name="adj1" fmla="val 273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7908D600-ADD3-4A71-8FD9-84F68F862A78}"/>
              </a:ext>
            </a:extLst>
          </p:cNvPr>
          <p:cNvSpPr txBox="1"/>
          <p:nvPr/>
        </p:nvSpPr>
        <p:spPr>
          <a:xfrm>
            <a:off x="0" y="0"/>
            <a:ext cx="42511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Data processing – Selection values-based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39613984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E0A7A84-3B9F-4444-9267-CAFBABDBBBA3}"/>
              </a:ext>
            </a:extLst>
          </p:cNvPr>
          <p:cNvSpPr txBox="1"/>
          <p:nvPr/>
        </p:nvSpPr>
        <p:spPr>
          <a:xfrm>
            <a:off x="3709737" y="3136612"/>
            <a:ext cx="47725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3200" dirty="0"/>
              <a:t>Definetly not working...</a:t>
            </a:r>
            <a:endParaRPr lang="nl-NL" sz="3200" dirty="0"/>
          </a:p>
        </p:txBody>
      </p:sp>
    </p:spTree>
    <p:extLst>
      <p:ext uri="{BB962C8B-B14F-4D97-AF65-F5344CB8AC3E}">
        <p14:creationId xmlns:p14="http://schemas.microsoft.com/office/powerpoint/2010/main" val="954779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173A06-E055-4964-BA41-68DADB5DF996}"/>
              </a:ext>
            </a:extLst>
          </p:cNvPr>
          <p:cNvSpPr txBox="1"/>
          <p:nvPr/>
        </p:nvSpPr>
        <p:spPr>
          <a:xfrm>
            <a:off x="3709737" y="3136612"/>
            <a:ext cx="47725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3200" dirty="0"/>
              <a:t>Strategy 3</a:t>
            </a:r>
            <a:endParaRPr lang="nl-NL" sz="3200" dirty="0"/>
          </a:p>
        </p:txBody>
      </p:sp>
    </p:spTree>
    <p:extLst>
      <p:ext uri="{BB962C8B-B14F-4D97-AF65-F5344CB8AC3E}">
        <p14:creationId xmlns:p14="http://schemas.microsoft.com/office/powerpoint/2010/main" val="19279688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Database">
            <a:extLst>
              <a:ext uri="{FF2B5EF4-FFF2-40B4-BE49-F238E27FC236}">
                <a16:creationId xmlns:a16="http://schemas.microsoft.com/office/drawing/2014/main" id="{449AF60D-4D6F-4DF7-80E8-163F21B1FA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6400" y="2964920"/>
            <a:ext cx="914400" cy="9144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F4B8F17-68DE-42EB-9D5E-7551561D7CEB}"/>
              </a:ext>
            </a:extLst>
          </p:cNvPr>
          <p:cNvSpPr txBox="1"/>
          <p:nvPr/>
        </p:nvSpPr>
        <p:spPr>
          <a:xfrm>
            <a:off x="1275348" y="2704556"/>
            <a:ext cx="1716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Data with NaNs</a:t>
            </a:r>
            <a:endParaRPr lang="nl-NL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DE646C-1375-4835-99F9-196DF7430ACD}"/>
              </a:ext>
            </a:extLst>
          </p:cNvPr>
          <p:cNvSpPr txBox="1"/>
          <p:nvPr/>
        </p:nvSpPr>
        <p:spPr>
          <a:xfrm>
            <a:off x="0" y="0"/>
            <a:ext cx="3457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Data processing - Pipeline</a:t>
            </a:r>
            <a:endParaRPr lang="nl-NL" u="sng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26349C7-BE7C-45C8-AC0A-95708985B7ED}"/>
              </a:ext>
            </a:extLst>
          </p:cNvPr>
          <p:cNvCxnSpPr>
            <a:cxnSpLocks/>
            <a:stCxn id="2" idx="3"/>
            <a:endCxn id="8" idx="1"/>
          </p:cNvCxnSpPr>
          <p:nvPr/>
        </p:nvCxnSpPr>
        <p:spPr>
          <a:xfrm>
            <a:off x="2590800" y="3422120"/>
            <a:ext cx="13154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795A676-9415-4002-B1B7-7025F9D91A94}"/>
              </a:ext>
            </a:extLst>
          </p:cNvPr>
          <p:cNvSpPr/>
          <p:nvPr/>
        </p:nvSpPr>
        <p:spPr>
          <a:xfrm>
            <a:off x="3906252" y="3007532"/>
            <a:ext cx="2053389" cy="82917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Weighted AVG if pt has undergo that meas</a:t>
            </a:r>
            <a:endParaRPr lang="nl-NL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3356680-ECA9-49AE-AFFD-FBCE91A67EC0}"/>
              </a:ext>
            </a:extLst>
          </p:cNvPr>
          <p:cNvSpPr/>
          <p:nvPr/>
        </p:nvSpPr>
        <p:spPr>
          <a:xfrm>
            <a:off x="6874043" y="3014412"/>
            <a:ext cx="1588168" cy="82917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MICE Forest</a:t>
            </a:r>
            <a:endParaRPr lang="nl-NL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5BC7136-27F3-4AF0-A650-313ACCC5D9F3}"/>
              </a:ext>
            </a:extLst>
          </p:cNvPr>
          <p:cNvCxnSpPr>
            <a:stCxn id="8" idx="3"/>
            <a:endCxn id="11" idx="1"/>
          </p:cNvCxnSpPr>
          <p:nvPr/>
        </p:nvCxnSpPr>
        <p:spPr>
          <a:xfrm>
            <a:off x="5959641" y="3422120"/>
            <a:ext cx="914402" cy="6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Graphic 15" descr="Database">
            <a:extLst>
              <a:ext uri="{FF2B5EF4-FFF2-40B4-BE49-F238E27FC236}">
                <a16:creationId xmlns:a16="http://schemas.microsoft.com/office/drawing/2014/main" id="{CFA01DF2-1837-46C5-9A16-1B6A46866A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841833" y="2964920"/>
            <a:ext cx="914400" cy="914400"/>
          </a:xfrm>
          <a:prstGeom prst="rect">
            <a:avLst/>
          </a:prstGeom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9696F83-8425-432B-8C85-9DE9D194F48A}"/>
              </a:ext>
            </a:extLst>
          </p:cNvPr>
          <p:cNvCxnSpPr>
            <a:cxnSpLocks/>
            <a:stCxn id="11" idx="3"/>
            <a:endCxn id="16" idx="1"/>
          </p:cNvCxnSpPr>
          <p:nvPr/>
        </p:nvCxnSpPr>
        <p:spPr>
          <a:xfrm flipV="1">
            <a:off x="8462211" y="3422120"/>
            <a:ext cx="1379622" cy="6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5A0CE27-29B8-440B-BD89-3EC604551F54}"/>
              </a:ext>
            </a:extLst>
          </p:cNvPr>
          <p:cNvSpPr txBox="1"/>
          <p:nvPr/>
        </p:nvSpPr>
        <p:spPr>
          <a:xfrm>
            <a:off x="9220201" y="2602468"/>
            <a:ext cx="21576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Complete Data</a:t>
            </a:r>
            <a:endParaRPr lang="nl-NL" dirty="0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D3304676-921B-4925-BDF9-B8B88E00BC32}"/>
              </a:ext>
            </a:extLst>
          </p:cNvPr>
          <p:cNvSpPr/>
          <p:nvPr/>
        </p:nvSpPr>
        <p:spPr>
          <a:xfrm>
            <a:off x="1772651" y="3508347"/>
            <a:ext cx="192505" cy="19250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A69C32AA-03CD-473E-B6C7-9E2DC28AAEE0}"/>
              </a:ext>
            </a:extLst>
          </p:cNvPr>
          <p:cNvSpPr/>
          <p:nvPr/>
        </p:nvSpPr>
        <p:spPr>
          <a:xfrm>
            <a:off x="2045367" y="3303809"/>
            <a:ext cx="192505" cy="19250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9BD3E5E-5C45-4437-96FD-C757152F3A79}"/>
              </a:ext>
            </a:extLst>
          </p:cNvPr>
          <p:cNvSpPr/>
          <p:nvPr/>
        </p:nvSpPr>
        <p:spPr>
          <a:xfrm>
            <a:off x="2237872" y="3623286"/>
            <a:ext cx="192505" cy="19250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808987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65D2315-51B1-4287-BCA6-D30549C283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1335" y="725501"/>
            <a:ext cx="7209329" cy="540699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A5CCA7C-FF14-4AD7-8D60-609EC3986411}"/>
              </a:ext>
            </a:extLst>
          </p:cNvPr>
          <p:cNvSpPr txBox="1"/>
          <p:nvPr/>
        </p:nvSpPr>
        <p:spPr>
          <a:xfrm>
            <a:off x="0" y="0"/>
            <a:ext cx="3457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MICE Forest Imputed Distributions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17513197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65D2315-51B1-4287-BCA6-D30549C283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158" y="725501"/>
            <a:ext cx="7209329" cy="540699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A5CCA7C-FF14-4AD7-8D60-609EC3986411}"/>
              </a:ext>
            </a:extLst>
          </p:cNvPr>
          <p:cNvSpPr txBox="1"/>
          <p:nvPr/>
        </p:nvSpPr>
        <p:spPr>
          <a:xfrm>
            <a:off x="0" y="0"/>
            <a:ext cx="3457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MICE Forest Imputed Distributions</a:t>
            </a:r>
            <a:endParaRPr lang="nl-NL" u="sng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856716-7E6F-49FD-A372-2EF5C92D3712}"/>
              </a:ext>
            </a:extLst>
          </p:cNvPr>
          <p:cNvSpPr txBox="1"/>
          <p:nvPr/>
        </p:nvSpPr>
        <p:spPr>
          <a:xfrm>
            <a:off x="8598568" y="2895600"/>
            <a:ext cx="2871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Is this acceptable?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4023978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23D3-032D-4C20-8F5B-1840BC8929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Medications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1278562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697793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7F963-7349-4DE3-A960-EEBD333A4E61}"/>
              </a:ext>
            </a:extLst>
          </p:cNvPr>
          <p:cNvSpPr txBox="1">
            <a:spLocks/>
          </p:cNvSpPr>
          <p:nvPr/>
        </p:nvSpPr>
        <p:spPr>
          <a:xfrm>
            <a:off x="1524000" y="2235200"/>
            <a:ext cx="9144000" cy="2387600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it-IT" dirty="0"/>
              <a:t>Metingen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6446731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68611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7F963-7349-4DE3-A960-EEBD333A4E61}"/>
              </a:ext>
            </a:extLst>
          </p:cNvPr>
          <p:cNvSpPr txBox="1">
            <a:spLocks/>
          </p:cNvSpPr>
          <p:nvPr/>
        </p:nvSpPr>
        <p:spPr>
          <a:xfrm>
            <a:off x="1524000" y="2235200"/>
            <a:ext cx="9144000" cy="2387600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it-IT" dirty="0"/>
              <a:t>Blood Pressure Readings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6036925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0200F0-ABFF-45F8-A6F5-9F8372AE5C7D}"/>
              </a:ext>
            </a:extLst>
          </p:cNvPr>
          <p:cNvSpPr txBox="1"/>
          <p:nvPr/>
        </p:nvSpPr>
        <p:spPr>
          <a:xfrm>
            <a:off x="0" y="0"/>
            <a:ext cx="4395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Blood Pressure Measurements - Outliers</a:t>
            </a:r>
            <a:endParaRPr lang="nl-NL" u="sn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141D145-8AC1-45C7-8D61-50D4BD1CC9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6458" y="1957137"/>
            <a:ext cx="6005542" cy="364958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78D7C7E-C973-4558-835C-AE7A82ECC7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58" y="1957137"/>
            <a:ext cx="6005542" cy="3649580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2D21716-6BD7-4A50-9558-0D0C13985C2D}"/>
              </a:ext>
            </a:extLst>
          </p:cNvPr>
          <p:cNvCxnSpPr>
            <a:cxnSpLocks/>
            <a:stCxn id="13" idx="2"/>
            <a:endCxn id="28" idx="7"/>
          </p:cNvCxnSpPr>
          <p:nvPr/>
        </p:nvCxnSpPr>
        <p:spPr>
          <a:xfrm flipH="1">
            <a:off x="1745476" y="1706964"/>
            <a:ext cx="1271553" cy="61812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588E362-09B2-4B0B-BBDE-2EFEFF000F9B}"/>
              </a:ext>
            </a:extLst>
          </p:cNvPr>
          <p:cNvCxnSpPr>
            <a:cxnSpLocks/>
            <a:stCxn id="13" idx="2"/>
            <a:endCxn id="30" idx="1"/>
          </p:cNvCxnSpPr>
          <p:nvPr/>
        </p:nvCxnSpPr>
        <p:spPr>
          <a:xfrm>
            <a:off x="3017029" y="1706964"/>
            <a:ext cx="1532465" cy="79784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406D038-F66B-4859-9416-A23E4E34906D}"/>
              </a:ext>
            </a:extLst>
          </p:cNvPr>
          <p:cNvSpPr txBox="1"/>
          <p:nvPr/>
        </p:nvSpPr>
        <p:spPr>
          <a:xfrm>
            <a:off x="1490242" y="1337632"/>
            <a:ext cx="30535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Set to NaN... Imputation?</a:t>
            </a:r>
            <a:endParaRPr lang="nl-NL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98F7243-8499-4EB9-8006-57DE1509E5C3}"/>
              </a:ext>
            </a:extLst>
          </p:cNvPr>
          <p:cNvSpPr txBox="1"/>
          <p:nvPr/>
        </p:nvSpPr>
        <p:spPr>
          <a:xfrm>
            <a:off x="8060265" y="1152966"/>
            <a:ext cx="2229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Considered Outliers</a:t>
            </a:r>
            <a:endParaRPr lang="nl-NL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F44B29E-148B-46BB-A8FF-E530EC852232}"/>
              </a:ext>
            </a:extLst>
          </p:cNvPr>
          <p:cNvCxnSpPr>
            <a:cxnSpLocks/>
            <a:stCxn id="14" idx="2"/>
          </p:cNvCxnSpPr>
          <p:nvPr/>
        </p:nvCxnSpPr>
        <p:spPr>
          <a:xfrm>
            <a:off x="9175192" y="1522298"/>
            <a:ext cx="1451811" cy="110842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96788B4-CBEF-49A2-B29F-3DAC5165F805}"/>
              </a:ext>
            </a:extLst>
          </p:cNvPr>
          <p:cNvCxnSpPr>
            <a:cxnSpLocks/>
            <a:stCxn id="14" idx="2"/>
          </p:cNvCxnSpPr>
          <p:nvPr/>
        </p:nvCxnSpPr>
        <p:spPr>
          <a:xfrm flipH="1">
            <a:off x="7955994" y="1522298"/>
            <a:ext cx="1219198" cy="12127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5D3BB183-A2CA-46A2-B9C3-ADAE972B9027}"/>
              </a:ext>
            </a:extLst>
          </p:cNvPr>
          <p:cNvSpPr/>
          <p:nvPr/>
        </p:nvSpPr>
        <p:spPr>
          <a:xfrm>
            <a:off x="1444235" y="2056559"/>
            <a:ext cx="352926" cy="1833652"/>
          </a:xfrm>
          <a:prstGeom prst="ellipse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DFC1405A-A1FB-4B7D-A729-6F366D78F1F5}"/>
              </a:ext>
            </a:extLst>
          </p:cNvPr>
          <p:cNvSpPr/>
          <p:nvPr/>
        </p:nvSpPr>
        <p:spPr>
          <a:xfrm>
            <a:off x="4497809" y="2056558"/>
            <a:ext cx="352926" cy="3060874"/>
          </a:xfrm>
          <a:prstGeom prst="ellipse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B77F60D-AA92-4E88-9238-C37C7FCED343}"/>
              </a:ext>
            </a:extLst>
          </p:cNvPr>
          <p:cNvCxnSpPr/>
          <p:nvPr/>
        </p:nvCxnSpPr>
        <p:spPr>
          <a:xfrm>
            <a:off x="344905" y="4868779"/>
            <a:ext cx="2334126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210063D6-AB12-4D1A-8DD9-1B596D004A2F}"/>
              </a:ext>
            </a:extLst>
          </p:cNvPr>
          <p:cNvSpPr txBox="1"/>
          <p:nvPr/>
        </p:nvSpPr>
        <p:spPr>
          <a:xfrm>
            <a:off x="2310061" y="4588042"/>
            <a:ext cx="471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chemeClr val="accent2"/>
                </a:solidFill>
              </a:rPr>
              <a:t>20</a:t>
            </a:r>
            <a:endParaRPr lang="nl-NL" dirty="0">
              <a:solidFill>
                <a:schemeClr val="accent2"/>
              </a:solidFill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0BD6F6C2-AA8F-4637-B394-6AEB8944AE70}"/>
              </a:ext>
            </a:extLst>
          </p:cNvPr>
          <p:cNvCxnSpPr/>
          <p:nvPr/>
        </p:nvCxnSpPr>
        <p:spPr>
          <a:xfrm>
            <a:off x="351141" y="3890211"/>
            <a:ext cx="2334126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DC3D5BFC-C2C7-4C0B-8CCD-B5F0EF51BD42}"/>
              </a:ext>
            </a:extLst>
          </p:cNvPr>
          <p:cNvSpPr txBox="1"/>
          <p:nvPr/>
        </p:nvSpPr>
        <p:spPr>
          <a:xfrm>
            <a:off x="2181726" y="3609474"/>
            <a:ext cx="606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chemeClr val="accent2"/>
                </a:solidFill>
              </a:rPr>
              <a:t>300</a:t>
            </a:r>
            <a:endParaRPr lang="nl-NL" dirty="0">
              <a:solidFill>
                <a:schemeClr val="accent2"/>
              </a:solidFill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4BEA9E8-8FA9-4EBF-ADB1-F15EF59D545A}"/>
              </a:ext>
            </a:extLst>
          </p:cNvPr>
          <p:cNvCxnSpPr/>
          <p:nvPr/>
        </p:nvCxnSpPr>
        <p:spPr>
          <a:xfrm>
            <a:off x="3376752" y="5219798"/>
            <a:ext cx="2334126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A166A446-0273-44CD-8582-FA57872289AC}"/>
              </a:ext>
            </a:extLst>
          </p:cNvPr>
          <p:cNvSpPr txBox="1"/>
          <p:nvPr/>
        </p:nvSpPr>
        <p:spPr>
          <a:xfrm>
            <a:off x="5624542" y="5035132"/>
            <a:ext cx="471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chemeClr val="accent2"/>
                </a:solidFill>
              </a:rPr>
              <a:t>20</a:t>
            </a:r>
            <a:endParaRPr lang="nl-NL" dirty="0">
              <a:solidFill>
                <a:schemeClr val="accent2"/>
              </a:solidFill>
            </a:endParaRP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EEC18CD-74D0-4FAF-8860-CE57F8D1CFA6}"/>
              </a:ext>
            </a:extLst>
          </p:cNvPr>
          <p:cNvCxnSpPr/>
          <p:nvPr/>
        </p:nvCxnSpPr>
        <p:spPr>
          <a:xfrm>
            <a:off x="3382988" y="5112781"/>
            <a:ext cx="2334126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79388AA8-1909-4DBD-B882-1AB427F2771E}"/>
              </a:ext>
            </a:extLst>
          </p:cNvPr>
          <p:cNvSpPr txBox="1"/>
          <p:nvPr/>
        </p:nvSpPr>
        <p:spPr>
          <a:xfrm>
            <a:off x="5566173" y="4796958"/>
            <a:ext cx="606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chemeClr val="accent2"/>
                </a:solidFill>
              </a:rPr>
              <a:t>300</a:t>
            </a:r>
            <a:endParaRPr lang="nl-NL" dirty="0">
              <a:solidFill>
                <a:schemeClr val="accent2"/>
              </a:solidFill>
            </a:endParaRPr>
          </a:p>
        </p:txBody>
      </p:sp>
      <p:sp>
        <p:nvSpPr>
          <p:cNvPr id="55" name="Arrow: Right 54">
            <a:extLst>
              <a:ext uri="{FF2B5EF4-FFF2-40B4-BE49-F238E27FC236}">
                <a16:creationId xmlns:a16="http://schemas.microsoft.com/office/drawing/2014/main" id="{CF186115-EF21-4E45-BA1A-F7A01B55B725}"/>
              </a:ext>
            </a:extLst>
          </p:cNvPr>
          <p:cNvSpPr/>
          <p:nvPr/>
        </p:nvSpPr>
        <p:spPr>
          <a:xfrm>
            <a:off x="5654279" y="3364185"/>
            <a:ext cx="1094205" cy="369332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F946F1D0-67D6-45FC-AEDB-3F765ADB089F}"/>
              </a:ext>
            </a:extLst>
          </p:cNvPr>
          <p:cNvSpPr/>
          <p:nvPr/>
        </p:nvSpPr>
        <p:spPr>
          <a:xfrm>
            <a:off x="1444235" y="4886330"/>
            <a:ext cx="352926" cy="473862"/>
          </a:xfrm>
          <a:prstGeom prst="ellipse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080140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FCA64AE-70C0-46DC-9DE0-3BD016877C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1014" y="2125452"/>
            <a:ext cx="7249970" cy="440581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69BC41E-7A1B-450B-AE56-57E23EBB368B}"/>
              </a:ext>
            </a:extLst>
          </p:cNvPr>
          <p:cNvSpPr txBox="1"/>
          <p:nvPr/>
        </p:nvSpPr>
        <p:spPr>
          <a:xfrm>
            <a:off x="0" y="0"/>
            <a:ext cx="4395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Blood Pressure Measurements - Outliers</a:t>
            </a:r>
            <a:endParaRPr lang="nl-NL" u="sn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83727A-AEE6-4E01-9A07-195FB57628BF}"/>
              </a:ext>
            </a:extLst>
          </p:cNvPr>
          <p:cNvSpPr txBox="1"/>
          <p:nvPr/>
        </p:nvSpPr>
        <p:spPr>
          <a:xfrm>
            <a:off x="2709862" y="811929"/>
            <a:ext cx="677227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400" dirty="0"/>
              <a:t>Replaced with Mean value </a:t>
            </a:r>
          </a:p>
          <a:p>
            <a:pPr algn="ctr"/>
            <a:r>
              <a:rPr lang="it-IT" sz="2400" dirty="0"/>
              <a:t>if </a:t>
            </a:r>
          </a:p>
          <a:p>
            <a:pPr algn="ctr"/>
            <a:r>
              <a:rPr lang="it-IT" sz="2400" dirty="0"/>
              <a:t>|BP</a:t>
            </a:r>
            <a:r>
              <a:rPr lang="it-IT" sz="2400" baseline="-25000" dirty="0"/>
              <a:t>Sys,Dia</a:t>
            </a:r>
            <a:r>
              <a:rPr lang="it-IT" sz="2400" dirty="0"/>
              <a:t>| </a:t>
            </a:r>
            <a:r>
              <a:rPr lang="nl-NL" sz="2400" dirty="0"/>
              <a:t>&lt; 3·</a:t>
            </a:r>
            <a:r>
              <a:rPr lang="el-GR" sz="2400" dirty="0"/>
              <a:t>σ</a:t>
            </a:r>
            <a:endParaRPr lang="nl-NL" sz="2400" dirty="0"/>
          </a:p>
        </p:txBody>
      </p:sp>
    </p:spTree>
    <p:extLst>
      <p:ext uri="{BB962C8B-B14F-4D97-AF65-F5344CB8AC3E}">
        <p14:creationId xmlns:p14="http://schemas.microsoft.com/office/powerpoint/2010/main" val="4838600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42523-2057-44B4-9FB1-A3B7126FBF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it-IT" dirty="0"/>
              <a:t>Eligibility to LHS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646855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34F9682-BC94-4EF7-B59C-7F339EBAD685}"/>
              </a:ext>
            </a:extLst>
          </p:cNvPr>
          <p:cNvSpPr txBox="1"/>
          <p:nvPr/>
        </p:nvSpPr>
        <p:spPr>
          <a:xfrm>
            <a:off x="0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Afspraken DB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E904B1F-4ED8-416C-A086-E6529D5565A8}"/>
              </a:ext>
            </a:extLst>
          </p:cNvPr>
          <p:cNvGrpSpPr/>
          <p:nvPr/>
        </p:nvGrpSpPr>
        <p:grpSpPr>
          <a:xfrm>
            <a:off x="1973179" y="1741640"/>
            <a:ext cx="2762250" cy="3374720"/>
            <a:chOff x="1944604" y="1803095"/>
            <a:chExt cx="2762250" cy="337472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CD9424F-73E8-44E7-BE2B-0983785925DE}"/>
                </a:ext>
              </a:extLst>
            </p:cNvPr>
            <p:cNvSpPr txBox="1"/>
            <p:nvPr/>
          </p:nvSpPr>
          <p:spPr>
            <a:xfrm>
              <a:off x="2150645" y="4808483"/>
              <a:ext cx="2350168" cy="369332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4435 patients records</a:t>
              </a:r>
              <a:endParaRPr lang="nl-NL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4B023E9-86D6-4B7C-B948-43D4B9C4890F}"/>
                </a:ext>
              </a:extLst>
            </p:cNvPr>
            <p:cNvSpPr/>
            <p:nvPr/>
          </p:nvSpPr>
          <p:spPr>
            <a:xfrm>
              <a:off x="1944604" y="1803095"/>
              <a:ext cx="2762250" cy="2762250"/>
            </a:xfrm>
            <a:prstGeom prst="ellipse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CD3A9A0-2489-4D82-A634-95332E6C96A1}"/>
              </a:ext>
            </a:extLst>
          </p:cNvPr>
          <p:cNvGrpSpPr/>
          <p:nvPr/>
        </p:nvGrpSpPr>
        <p:grpSpPr>
          <a:xfrm>
            <a:off x="7782929" y="1844660"/>
            <a:ext cx="2556209" cy="3271700"/>
            <a:chOff x="2150644" y="2009135"/>
            <a:chExt cx="2556209" cy="327170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DB8A1FF-34D3-4172-A7C9-8D2FE1ACE8A4}"/>
                </a:ext>
              </a:extLst>
            </p:cNvPr>
            <p:cNvSpPr txBox="1"/>
            <p:nvPr/>
          </p:nvSpPr>
          <p:spPr>
            <a:xfrm>
              <a:off x="2253664" y="4911503"/>
              <a:ext cx="2350168" cy="369332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4206 patients records</a:t>
              </a:r>
              <a:endParaRPr lang="nl-NL" dirty="0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ACF602D0-F806-4700-9C47-0F278131D424}"/>
                </a:ext>
              </a:extLst>
            </p:cNvPr>
            <p:cNvSpPr/>
            <p:nvPr/>
          </p:nvSpPr>
          <p:spPr>
            <a:xfrm>
              <a:off x="2150644" y="2009135"/>
              <a:ext cx="2556209" cy="2556209"/>
            </a:xfrm>
            <a:prstGeom prst="ellipse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D5523F38-46EB-4439-B403-339A9CCB84BD}"/>
              </a:ext>
            </a:extLst>
          </p:cNvPr>
          <p:cNvSpPr txBox="1"/>
          <p:nvPr/>
        </p:nvSpPr>
        <p:spPr>
          <a:xfrm>
            <a:off x="8245642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u="sng" dirty="0"/>
              <a:t>Lab Measures DB</a:t>
            </a:r>
          </a:p>
        </p:txBody>
      </p:sp>
    </p:spTree>
    <p:extLst>
      <p:ext uri="{BB962C8B-B14F-4D97-AF65-F5344CB8AC3E}">
        <p14:creationId xmlns:p14="http://schemas.microsoft.com/office/powerpoint/2010/main" val="26410321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34F9682-BC94-4EF7-B59C-7F339EBAD685}"/>
              </a:ext>
            </a:extLst>
          </p:cNvPr>
          <p:cNvSpPr txBox="1"/>
          <p:nvPr/>
        </p:nvSpPr>
        <p:spPr>
          <a:xfrm>
            <a:off x="0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Afspraken DB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E904B1F-4ED8-416C-A086-E6529D5565A8}"/>
              </a:ext>
            </a:extLst>
          </p:cNvPr>
          <p:cNvGrpSpPr/>
          <p:nvPr/>
        </p:nvGrpSpPr>
        <p:grpSpPr>
          <a:xfrm>
            <a:off x="4714875" y="1741640"/>
            <a:ext cx="2762250" cy="3374720"/>
            <a:chOff x="1944604" y="1803095"/>
            <a:chExt cx="2762250" cy="337472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CD9424F-73E8-44E7-BE2B-0983785925DE}"/>
                </a:ext>
              </a:extLst>
            </p:cNvPr>
            <p:cNvSpPr txBox="1"/>
            <p:nvPr/>
          </p:nvSpPr>
          <p:spPr>
            <a:xfrm>
              <a:off x="2150645" y="4808483"/>
              <a:ext cx="2350168" cy="369332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4206 Patients</a:t>
              </a:r>
              <a:endParaRPr lang="nl-NL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4B023E9-86D6-4B7C-B948-43D4B9C4890F}"/>
                </a:ext>
              </a:extLst>
            </p:cNvPr>
            <p:cNvSpPr/>
            <p:nvPr/>
          </p:nvSpPr>
          <p:spPr>
            <a:xfrm>
              <a:off x="1944604" y="1803095"/>
              <a:ext cx="2762250" cy="2762250"/>
            </a:xfrm>
            <a:prstGeom prst="ellipse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12" name="Oval 11">
            <a:extLst>
              <a:ext uri="{FF2B5EF4-FFF2-40B4-BE49-F238E27FC236}">
                <a16:creationId xmlns:a16="http://schemas.microsoft.com/office/drawing/2014/main" id="{ACF602D0-F806-4700-9C47-0F278131D424}"/>
              </a:ext>
            </a:extLst>
          </p:cNvPr>
          <p:cNvSpPr/>
          <p:nvPr/>
        </p:nvSpPr>
        <p:spPr>
          <a:xfrm>
            <a:off x="4923925" y="1844660"/>
            <a:ext cx="2556209" cy="2556209"/>
          </a:xfrm>
          <a:prstGeom prst="ellipse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5523F38-46EB-4439-B403-339A9CCB84BD}"/>
              </a:ext>
            </a:extLst>
          </p:cNvPr>
          <p:cNvSpPr txBox="1"/>
          <p:nvPr/>
        </p:nvSpPr>
        <p:spPr>
          <a:xfrm>
            <a:off x="8245642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u="sng" dirty="0"/>
              <a:t>Lab Measures DB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A02BA0B-1B27-4720-8234-9ED4A43D6ED8}"/>
              </a:ext>
            </a:extLst>
          </p:cNvPr>
          <p:cNvCxnSpPr/>
          <p:nvPr/>
        </p:nvCxnSpPr>
        <p:spPr>
          <a:xfrm flipH="1">
            <a:off x="6286500" y="1933575"/>
            <a:ext cx="2171700" cy="11811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480CBE3B-7DBD-4CCB-AA01-92C56653F80D}"/>
              </a:ext>
            </a:extLst>
          </p:cNvPr>
          <p:cNvSpPr txBox="1"/>
          <p:nvPr/>
        </p:nvSpPr>
        <p:spPr>
          <a:xfrm>
            <a:off x="8064166" y="1521494"/>
            <a:ext cx="2350168" cy="64633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it-IT" dirty="0"/>
              <a:t>Patient who has lab meas is kept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3641210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34F9682-BC94-4EF7-B59C-7F339EBAD685}"/>
              </a:ext>
            </a:extLst>
          </p:cNvPr>
          <p:cNvSpPr txBox="1"/>
          <p:nvPr/>
        </p:nvSpPr>
        <p:spPr>
          <a:xfrm>
            <a:off x="0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Afspraken DB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D9424F-73E8-44E7-BE2B-0983785925DE}"/>
              </a:ext>
            </a:extLst>
          </p:cNvPr>
          <p:cNvSpPr txBox="1"/>
          <p:nvPr/>
        </p:nvSpPr>
        <p:spPr>
          <a:xfrm>
            <a:off x="4920916" y="4747028"/>
            <a:ext cx="2350168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it-IT" dirty="0"/>
              <a:t>229 Patients</a:t>
            </a:r>
            <a:endParaRPr lang="nl-NL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F0FAA5D-3950-414F-8178-6F612CCEC657}"/>
              </a:ext>
            </a:extLst>
          </p:cNvPr>
          <p:cNvSpPr/>
          <p:nvPr/>
        </p:nvSpPr>
        <p:spPr>
          <a:xfrm>
            <a:off x="4717884" y="1741639"/>
            <a:ext cx="2762251" cy="2762250"/>
          </a:xfrm>
          <a:custGeom>
            <a:avLst/>
            <a:gdLst>
              <a:gd name="connsiteX0" fmla="*/ 2755651 w 2762251"/>
              <a:gd name="connsiteY0" fmla="*/ 1250436 h 2762250"/>
              <a:gd name="connsiteX1" fmla="*/ 2755653 w 2762251"/>
              <a:gd name="connsiteY1" fmla="*/ 1250446 h 2762250"/>
              <a:gd name="connsiteX2" fmla="*/ 2762251 w 2762251"/>
              <a:gd name="connsiteY2" fmla="*/ 1381125 h 2762250"/>
              <a:gd name="connsiteX3" fmla="*/ 2755653 w 2762251"/>
              <a:gd name="connsiteY3" fmla="*/ 1511804 h 2762250"/>
              <a:gd name="connsiteX4" fmla="*/ 2755651 w 2762251"/>
              <a:gd name="connsiteY4" fmla="*/ 1511814 h 2762250"/>
              <a:gd name="connsiteX5" fmla="*/ 2762250 w 2762251"/>
              <a:gd name="connsiteY5" fmla="*/ 1381125 h 2762250"/>
              <a:gd name="connsiteX6" fmla="*/ 1381125 w 2762251"/>
              <a:gd name="connsiteY6" fmla="*/ 0 h 2762250"/>
              <a:gd name="connsiteX7" fmla="*/ 2755120 w 2762251"/>
              <a:gd name="connsiteY7" fmla="*/ 1239913 h 2762250"/>
              <a:gd name="connsiteX8" fmla="*/ 2755651 w 2762251"/>
              <a:gd name="connsiteY8" fmla="*/ 1250436 h 2762250"/>
              <a:gd name="connsiteX9" fmla="*/ 2736285 w 2762251"/>
              <a:gd name="connsiteY9" fmla="*/ 1123542 h 2762250"/>
              <a:gd name="connsiteX10" fmla="*/ 1484146 w 2762251"/>
              <a:gd name="connsiteY10" fmla="*/ 103020 h 2762250"/>
              <a:gd name="connsiteX11" fmla="*/ 206041 w 2762251"/>
              <a:gd name="connsiteY11" fmla="*/ 1381125 h 2762250"/>
              <a:gd name="connsiteX12" fmla="*/ 1484146 w 2762251"/>
              <a:gd name="connsiteY12" fmla="*/ 2659230 h 2762250"/>
              <a:gd name="connsiteX13" fmla="*/ 2736285 w 2762251"/>
              <a:gd name="connsiteY13" fmla="*/ 1638708 h 2762250"/>
              <a:gd name="connsiteX14" fmla="*/ 2755651 w 2762251"/>
              <a:gd name="connsiteY14" fmla="*/ 1511814 h 2762250"/>
              <a:gd name="connsiteX15" fmla="*/ 2755120 w 2762251"/>
              <a:gd name="connsiteY15" fmla="*/ 1522337 h 2762250"/>
              <a:gd name="connsiteX16" fmla="*/ 1381125 w 2762251"/>
              <a:gd name="connsiteY16" fmla="*/ 2762250 h 2762250"/>
              <a:gd name="connsiteX17" fmla="*/ 0 w 2762251"/>
              <a:gd name="connsiteY17" fmla="*/ 1381125 h 2762250"/>
              <a:gd name="connsiteX18" fmla="*/ 1381125 w 2762251"/>
              <a:gd name="connsiteY18" fmla="*/ 0 h 2762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2762251" h="2762250">
                <a:moveTo>
                  <a:pt x="2755651" y="1250436"/>
                </a:moveTo>
                <a:lnTo>
                  <a:pt x="2755653" y="1250446"/>
                </a:lnTo>
                <a:cubicBezTo>
                  <a:pt x="2760016" y="1293412"/>
                  <a:pt x="2762251" y="1337008"/>
                  <a:pt x="2762251" y="1381125"/>
                </a:cubicBezTo>
                <a:cubicBezTo>
                  <a:pt x="2762251" y="1425243"/>
                  <a:pt x="2760016" y="1468838"/>
                  <a:pt x="2755653" y="1511804"/>
                </a:cubicBezTo>
                <a:lnTo>
                  <a:pt x="2755651" y="1511814"/>
                </a:lnTo>
                <a:lnTo>
                  <a:pt x="2762250" y="1381125"/>
                </a:lnTo>
                <a:close/>
                <a:moveTo>
                  <a:pt x="1381125" y="0"/>
                </a:moveTo>
                <a:cubicBezTo>
                  <a:pt x="2096226" y="0"/>
                  <a:pt x="2684392" y="543473"/>
                  <a:pt x="2755120" y="1239913"/>
                </a:cubicBezTo>
                <a:lnTo>
                  <a:pt x="2755651" y="1250436"/>
                </a:lnTo>
                <a:lnTo>
                  <a:pt x="2736285" y="1123542"/>
                </a:lnTo>
                <a:cubicBezTo>
                  <a:pt x="2617106" y="541131"/>
                  <a:pt x="2101790" y="103020"/>
                  <a:pt x="1484146" y="103020"/>
                </a:cubicBezTo>
                <a:cubicBezTo>
                  <a:pt x="778268" y="103020"/>
                  <a:pt x="206041" y="675247"/>
                  <a:pt x="206041" y="1381125"/>
                </a:cubicBezTo>
                <a:cubicBezTo>
                  <a:pt x="206041" y="2087003"/>
                  <a:pt x="778268" y="2659230"/>
                  <a:pt x="1484146" y="2659230"/>
                </a:cubicBezTo>
                <a:cubicBezTo>
                  <a:pt x="2101790" y="2659230"/>
                  <a:pt x="2617106" y="2221119"/>
                  <a:pt x="2736285" y="1638708"/>
                </a:cubicBezTo>
                <a:lnTo>
                  <a:pt x="2755651" y="1511814"/>
                </a:lnTo>
                <a:lnTo>
                  <a:pt x="2755120" y="1522337"/>
                </a:lnTo>
                <a:cubicBezTo>
                  <a:pt x="2684392" y="2218778"/>
                  <a:pt x="2096226" y="2762250"/>
                  <a:pt x="1381125" y="2762250"/>
                </a:cubicBezTo>
                <a:cubicBezTo>
                  <a:pt x="618351" y="2762250"/>
                  <a:pt x="0" y="2143899"/>
                  <a:pt x="0" y="1381125"/>
                </a:cubicBezTo>
                <a:cubicBezTo>
                  <a:pt x="0" y="618351"/>
                  <a:pt x="618351" y="0"/>
                  <a:pt x="1381125" y="0"/>
                </a:cubicBezTo>
                <a:close/>
              </a:path>
            </a:pathLst>
          </a:cu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5523F38-46EB-4439-B403-339A9CCB84BD}"/>
              </a:ext>
            </a:extLst>
          </p:cNvPr>
          <p:cNvSpPr txBox="1"/>
          <p:nvPr/>
        </p:nvSpPr>
        <p:spPr>
          <a:xfrm>
            <a:off x="8245642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u="sng" dirty="0"/>
              <a:t>Lab Measures DB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A02BA0B-1B27-4720-8234-9ED4A43D6ED8}"/>
              </a:ext>
            </a:extLst>
          </p:cNvPr>
          <p:cNvCxnSpPr>
            <a:cxnSpLocks/>
            <a:stCxn id="13" idx="2"/>
            <a:endCxn id="10" idx="17"/>
          </p:cNvCxnSpPr>
          <p:nvPr/>
        </p:nvCxnSpPr>
        <p:spPr>
          <a:xfrm>
            <a:off x="2133600" y="1882849"/>
            <a:ext cx="2584284" cy="123991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480CBE3B-7DBD-4CCB-AA01-92C56653F80D}"/>
              </a:ext>
            </a:extLst>
          </p:cNvPr>
          <p:cNvSpPr txBox="1"/>
          <p:nvPr/>
        </p:nvSpPr>
        <p:spPr>
          <a:xfrm>
            <a:off x="958516" y="959519"/>
            <a:ext cx="2350168" cy="9233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it-IT" dirty="0"/>
              <a:t>Patient who has appointment but no lab meas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7472989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1E6EDE02-5888-4D59-B9D2-2A6DB51F3CF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90993891"/>
              </p:ext>
            </p:extLst>
          </p:nvPr>
        </p:nvGraphicFramePr>
        <p:xfrm>
          <a:off x="2967579" y="1343386"/>
          <a:ext cx="6256841" cy="417122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DDB85C5-949E-4452-A569-0502A3BA6778}"/>
              </a:ext>
            </a:extLst>
          </p:cNvPr>
          <p:cNvSpPr txBox="1"/>
          <p:nvPr/>
        </p:nvSpPr>
        <p:spPr>
          <a:xfrm>
            <a:off x="0" y="0"/>
            <a:ext cx="38957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Eligibility based on agenda codes</a:t>
            </a:r>
            <a:endParaRPr lang="nl-NL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69CF4A-89C6-4175-8EB5-AA434C76692C}"/>
                  </a:ext>
                </a:extLst>
              </p:cNvPr>
              <p:cNvSpPr txBox="1"/>
              <p:nvPr/>
            </p:nvSpPr>
            <p:spPr>
              <a:xfrm>
                <a:off x="3895725" y="1112553"/>
                <a:ext cx="378142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it-IT" sz="2400" dirty="0"/>
                  <a:t>Agenda </a:t>
                </a:r>
                <a14:m>
                  <m:oMath xmlns:m="http://schemas.openxmlformats.org/officeDocument/2006/math"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nl-NL" sz="2400" dirty="0"/>
                  <a:t> </a:t>
                </a:r>
                <a:r>
                  <a:rPr lang="it-IT" sz="2400" dirty="0"/>
                  <a:t>Lab Measures</a:t>
                </a:r>
                <a:endParaRPr lang="nl-NL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69CF4A-89C6-4175-8EB5-AA434C7669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5725" y="1112553"/>
                <a:ext cx="3781425" cy="461665"/>
              </a:xfrm>
              <a:prstGeom prst="rect">
                <a:avLst/>
              </a:prstGeom>
              <a:blipFill>
                <a:blip r:embed="rId3"/>
                <a:stretch>
                  <a:fillRect t="-10667" b="-30667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523138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833</TotalTime>
  <Words>512</Words>
  <Application>Microsoft Office PowerPoint</Application>
  <PresentationFormat>Widescreen</PresentationFormat>
  <Paragraphs>183</Paragraphs>
  <Slides>37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4" baseType="lpstr">
      <vt:lpstr>Arial</vt:lpstr>
      <vt:lpstr>Calibri</vt:lpstr>
      <vt:lpstr>Calibri Light</vt:lpstr>
      <vt:lpstr>Cambria Math</vt:lpstr>
      <vt:lpstr>Gintronic</vt:lpstr>
      <vt:lpstr>Segoe UI</vt:lpstr>
      <vt:lpstr>Office Theme</vt:lpstr>
      <vt:lpstr>Patients</vt:lpstr>
      <vt:lpstr>PowerPoint Presentation</vt:lpstr>
      <vt:lpstr>Afspraken</vt:lpstr>
      <vt:lpstr>PowerPoint Presentation</vt:lpstr>
      <vt:lpstr>Lab Measurements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Medications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Eligibility to LHS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Afspraken</dc:title>
  <dc:creator>Vitale, J. (Jacopo)</dc:creator>
  <cp:lastModifiedBy>Vitale, J. (Jacopo)</cp:lastModifiedBy>
  <cp:revision>61</cp:revision>
  <dcterms:created xsi:type="dcterms:W3CDTF">2024-08-14T11:19:45Z</dcterms:created>
  <dcterms:modified xsi:type="dcterms:W3CDTF">2024-08-29T14:18:06Z</dcterms:modified>
</cp:coreProperties>
</file>