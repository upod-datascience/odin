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svg" ContentType="image/svg+xml"/>
  <Default Extension="xlsx" ContentType="application/vnd.openxmlformats-officedocument.spreadsheetml.sheet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charts/chart1.xml" ContentType="application/vnd.openxmlformats-officedocument.drawingml.chart+xml"/>
  <Override PartName="/ppt/charts/style1.xml" ContentType="application/vnd.ms-office.chartstyle+xml"/>
  <Override PartName="/ppt/charts/colors1.xml" ContentType="application/vnd.ms-office.chartcolorstyle+xml"/>
  <Override PartName="/ppt/changesInfos/changesInfo1.xml" ContentType="application/vnd.ms-powerpoint.changesinfo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46"/>
  </p:notesMasterIdLst>
  <p:sldIdLst>
    <p:sldId id="257" r:id="rId2"/>
    <p:sldId id="273" r:id="rId3"/>
    <p:sldId id="256" r:id="rId4"/>
    <p:sldId id="266" r:id="rId5"/>
    <p:sldId id="258" r:id="rId6"/>
    <p:sldId id="281" r:id="rId7"/>
    <p:sldId id="260" r:id="rId8"/>
    <p:sldId id="261" r:id="rId9"/>
    <p:sldId id="262" r:id="rId10"/>
    <p:sldId id="265" r:id="rId11"/>
    <p:sldId id="264" r:id="rId12"/>
    <p:sldId id="263" r:id="rId13"/>
    <p:sldId id="285" r:id="rId14"/>
    <p:sldId id="280" r:id="rId15"/>
    <p:sldId id="282" r:id="rId16"/>
    <p:sldId id="283" r:id="rId17"/>
    <p:sldId id="286" r:id="rId18"/>
    <p:sldId id="284" r:id="rId19"/>
    <p:sldId id="289" r:id="rId20"/>
    <p:sldId id="288" r:id="rId21"/>
    <p:sldId id="291" r:id="rId22"/>
    <p:sldId id="287" r:id="rId23"/>
    <p:sldId id="290" r:id="rId24"/>
    <p:sldId id="292" r:id="rId25"/>
    <p:sldId id="293" r:id="rId26"/>
    <p:sldId id="259" r:id="rId27"/>
    <p:sldId id="274" r:id="rId28"/>
    <p:sldId id="297" r:id="rId29"/>
    <p:sldId id="298" r:id="rId30"/>
    <p:sldId id="299" r:id="rId31"/>
    <p:sldId id="300" r:id="rId32"/>
    <p:sldId id="275" r:id="rId33"/>
    <p:sldId id="279" r:id="rId34"/>
    <p:sldId id="278" r:id="rId35"/>
    <p:sldId id="295" r:id="rId36"/>
    <p:sldId id="276" r:id="rId37"/>
    <p:sldId id="277" r:id="rId38"/>
    <p:sldId id="296" r:id="rId39"/>
    <p:sldId id="294" r:id="rId40"/>
    <p:sldId id="268" r:id="rId41"/>
    <p:sldId id="269" r:id="rId42"/>
    <p:sldId id="271" r:id="rId43"/>
    <p:sldId id="272" r:id="rId44"/>
    <p:sldId id="267" r:id="rId45"/>
  </p:sldIdLst>
  <p:sldSz cx="12192000" cy="6858000"/>
  <p:notesSz cx="6858000" cy="9144000"/>
  <p:defaultTextStyle>
    <a:defPPr>
      <a:defRPr lang="nl-NL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792" userDrawn="1">
          <p15:clr>
            <a:srgbClr val="A4A3A4"/>
          </p15:clr>
        </p15:guide>
        <p15:guide id="2" pos="384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2B1F4453-3A08-4063-8531-83E4A0933A57}" v="13" dt="2024-11-11T16:41:13.162"/>
  </p1510:revLst>
</p1510:revInfo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9D7B26C5-4107-4FEC-AEDC-1716B250A1EF}" styleName="Light Style 1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tx1">
              <a:alpha val="2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tx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12700" cmpd="sng">
              <a:solidFill>
                <a:schemeClr val="tx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12700" cmpd="sng">
              <a:solidFill>
                <a:schemeClr val="tx1"/>
              </a:solidFill>
            </a:ln>
          </a:bottom>
        </a:tcBdr>
        <a:fill>
          <a:noFill/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8025" autoAdjust="0"/>
    <p:restoredTop sz="94660"/>
  </p:normalViewPr>
  <p:slideViewPr>
    <p:cSldViewPr snapToGrid="0">
      <p:cViewPr varScale="1">
        <p:scale>
          <a:sx n="119" d="100"/>
          <a:sy n="119" d="100"/>
        </p:scale>
        <p:origin x="96" y="348"/>
      </p:cViewPr>
      <p:guideLst>
        <p:guide orient="horz" pos="792"/>
        <p:guide pos="3840"/>
      </p:guideLst>
    </p:cSldViewPr>
  </p:slideViewPr>
  <p:notesTextViewPr>
    <p:cViewPr>
      <p:scale>
        <a:sx n="3" d="2"/>
        <a:sy n="3" d="2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9" Type="http://schemas.openxmlformats.org/officeDocument/2006/relationships/slide" Target="slides/slide38.xml"/><Relationship Id="rId21" Type="http://schemas.openxmlformats.org/officeDocument/2006/relationships/slide" Target="slides/slide20.xml"/><Relationship Id="rId34" Type="http://schemas.openxmlformats.org/officeDocument/2006/relationships/slide" Target="slides/slide33.xml"/><Relationship Id="rId42" Type="http://schemas.openxmlformats.org/officeDocument/2006/relationships/slide" Target="slides/slide41.xml"/><Relationship Id="rId47" Type="http://schemas.openxmlformats.org/officeDocument/2006/relationships/presProps" Target="presProps.xml"/><Relationship Id="rId50" Type="http://schemas.openxmlformats.org/officeDocument/2006/relationships/tableStyles" Target="tableStyles.xml"/><Relationship Id="rId7" Type="http://schemas.openxmlformats.org/officeDocument/2006/relationships/slide" Target="slides/slide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9" Type="http://schemas.openxmlformats.org/officeDocument/2006/relationships/slide" Target="slides/slide28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slide" Target="slides/slide31.xml"/><Relationship Id="rId37" Type="http://schemas.openxmlformats.org/officeDocument/2006/relationships/slide" Target="slides/slide36.xml"/><Relationship Id="rId40" Type="http://schemas.openxmlformats.org/officeDocument/2006/relationships/slide" Target="slides/slide39.xml"/><Relationship Id="rId45" Type="http://schemas.openxmlformats.org/officeDocument/2006/relationships/slide" Target="slides/slide44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slide" Target="slides/slide35.xml"/><Relationship Id="rId49" Type="http://schemas.openxmlformats.org/officeDocument/2006/relationships/theme" Target="theme/theme1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slide" Target="slides/slide30.xml"/><Relationship Id="rId44" Type="http://schemas.openxmlformats.org/officeDocument/2006/relationships/slide" Target="slides/slide43.xml"/><Relationship Id="rId52" Type="http://schemas.microsoft.com/office/2015/10/relationships/revisionInfo" Target="revisionInfo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slide" Target="slides/slide34.xml"/><Relationship Id="rId43" Type="http://schemas.openxmlformats.org/officeDocument/2006/relationships/slide" Target="slides/slide42.xml"/><Relationship Id="rId48" Type="http://schemas.openxmlformats.org/officeDocument/2006/relationships/viewProps" Target="viewProps.xml"/><Relationship Id="rId8" Type="http://schemas.openxmlformats.org/officeDocument/2006/relationships/slide" Target="slides/slide7.xml"/><Relationship Id="rId51" Type="http://schemas.microsoft.com/office/2016/11/relationships/changesInfo" Target="changesInfos/changesInfo1.xml"/><Relationship Id="rId3" Type="http://schemas.openxmlformats.org/officeDocument/2006/relationships/slide" Target="slides/slide2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slide" Target="slides/slide32.xml"/><Relationship Id="rId38" Type="http://schemas.openxmlformats.org/officeDocument/2006/relationships/slide" Target="slides/slide37.xml"/><Relationship Id="rId46" Type="http://schemas.openxmlformats.org/officeDocument/2006/relationships/notesMaster" Target="notesMasters/notesMaster1.xml"/><Relationship Id="rId20" Type="http://schemas.openxmlformats.org/officeDocument/2006/relationships/slide" Target="slides/slide19.xml"/><Relationship Id="rId41" Type="http://schemas.openxmlformats.org/officeDocument/2006/relationships/slide" Target="slides/slide40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Della Morte, D. (David)" userId="3c5e67f7-a0bf-49c4-b007-9de27f055a84" providerId="ADAL" clId="{2B1F4453-3A08-4063-8531-83E4A0933A57}"/>
    <pc:docChg chg="undo custSel addSld delSld modSld">
      <pc:chgData name="Della Morte, D. (David)" userId="3c5e67f7-a0bf-49c4-b007-9de27f055a84" providerId="ADAL" clId="{2B1F4453-3A08-4063-8531-83E4A0933A57}" dt="2024-11-11T16:46:30.274" v="1343" actId="1035"/>
      <pc:docMkLst>
        <pc:docMk/>
      </pc:docMkLst>
      <pc:sldChg chg="addSp modSp mod">
        <pc:chgData name="Della Morte, D. (David)" userId="3c5e67f7-a0bf-49c4-b007-9de27f055a84" providerId="ADAL" clId="{2B1F4453-3A08-4063-8531-83E4A0933A57}" dt="2024-11-11T16:17:00.729" v="238" actId="20577"/>
        <pc:sldMkLst>
          <pc:docMk/>
          <pc:sldMk cId="2469779366" sldId="274"/>
        </pc:sldMkLst>
        <pc:spChg chg="add mod">
          <ac:chgData name="Della Morte, D. (David)" userId="3c5e67f7-a0bf-49c4-b007-9de27f055a84" providerId="ADAL" clId="{2B1F4453-3A08-4063-8531-83E4A0933A57}" dt="2024-11-11T16:16:49.495" v="230" actId="20577"/>
          <ac:spMkLst>
            <pc:docMk/>
            <pc:sldMk cId="2469779366" sldId="274"/>
            <ac:spMk id="2" creationId="{1B94D29F-EC16-B936-B5E6-3D46ADDD2F75}"/>
          </ac:spMkLst>
        </pc:spChg>
        <pc:spChg chg="add mod">
          <ac:chgData name="Della Morte, D. (David)" userId="3c5e67f7-a0bf-49c4-b007-9de27f055a84" providerId="ADAL" clId="{2B1F4453-3A08-4063-8531-83E4A0933A57}" dt="2024-11-11T16:17:00.729" v="238" actId="20577"/>
          <ac:spMkLst>
            <pc:docMk/>
            <pc:sldMk cId="2469779366" sldId="274"/>
            <ac:spMk id="4" creationId="{21CA0B5B-9788-C35A-440F-872467DA6F45}"/>
          </ac:spMkLst>
        </pc:spChg>
        <pc:picChg chg="add mod">
          <ac:chgData name="Della Morte, D. (David)" userId="3c5e67f7-a0bf-49c4-b007-9de27f055a84" providerId="ADAL" clId="{2B1F4453-3A08-4063-8531-83E4A0933A57}" dt="2024-11-11T13:31:21.433" v="7" actId="1076"/>
          <ac:picMkLst>
            <pc:docMk/>
            <pc:sldMk cId="2469779366" sldId="274"/>
            <ac:picMk id="3" creationId="{FEE82702-62C0-A793-AC54-171266B00338}"/>
          </ac:picMkLst>
        </pc:picChg>
        <pc:picChg chg="add mod">
          <ac:chgData name="Della Morte, D. (David)" userId="3c5e67f7-a0bf-49c4-b007-9de27f055a84" providerId="ADAL" clId="{2B1F4453-3A08-4063-8531-83E4A0933A57}" dt="2024-11-11T13:31:37.816" v="12" actId="1076"/>
          <ac:picMkLst>
            <pc:docMk/>
            <pc:sldMk cId="2469779366" sldId="274"/>
            <ac:picMk id="5" creationId="{D90762A5-DE7D-A3BD-3D4F-4A044C11AEED}"/>
          </ac:picMkLst>
        </pc:picChg>
      </pc:sldChg>
      <pc:sldChg chg="addSp delSp modSp new mod">
        <pc:chgData name="Della Morte, D. (David)" userId="3c5e67f7-a0bf-49c4-b007-9de27f055a84" providerId="ADAL" clId="{2B1F4453-3A08-4063-8531-83E4A0933A57}" dt="2024-11-11T16:20:45.988" v="593" actId="14100"/>
        <pc:sldMkLst>
          <pc:docMk/>
          <pc:sldMk cId="1189710876" sldId="297"/>
        </pc:sldMkLst>
        <pc:spChg chg="add mod">
          <ac:chgData name="Della Morte, D. (David)" userId="3c5e67f7-a0bf-49c4-b007-9de27f055a84" providerId="ADAL" clId="{2B1F4453-3A08-4063-8531-83E4A0933A57}" dt="2024-11-11T16:20:45.988" v="593" actId="14100"/>
          <ac:spMkLst>
            <pc:docMk/>
            <pc:sldMk cId="1189710876" sldId="297"/>
            <ac:spMk id="8" creationId="{2DD48FE3-4279-35A8-1C5C-CCECF3CD6E60}"/>
          </ac:spMkLst>
        </pc:spChg>
        <pc:picChg chg="add del mod">
          <ac:chgData name="Della Morte, D. (David)" userId="3c5e67f7-a0bf-49c4-b007-9de27f055a84" providerId="ADAL" clId="{2B1F4453-3A08-4063-8531-83E4A0933A57}" dt="2024-11-11T16:13:32.067" v="18" actId="478"/>
          <ac:picMkLst>
            <pc:docMk/>
            <pc:sldMk cId="1189710876" sldId="297"/>
            <ac:picMk id="3" creationId="{FFE98BA2-B362-B1E6-183B-FFBCF4598E4C}"/>
          </ac:picMkLst>
        </pc:picChg>
        <pc:picChg chg="add mod">
          <ac:chgData name="Della Morte, D. (David)" userId="3c5e67f7-a0bf-49c4-b007-9de27f055a84" providerId="ADAL" clId="{2B1F4453-3A08-4063-8531-83E4A0933A57}" dt="2024-11-11T16:20:40.895" v="591" actId="1076"/>
          <ac:picMkLst>
            <pc:docMk/>
            <pc:sldMk cId="1189710876" sldId="297"/>
            <ac:picMk id="5" creationId="{441E34C8-6CFE-1EA6-C69B-CEB8B34A862F}"/>
          </ac:picMkLst>
        </pc:picChg>
        <pc:picChg chg="add del mod">
          <ac:chgData name="Della Morte, D. (David)" userId="3c5e67f7-a0bf-49c4-b007-9de27f055a84" providerId="ADAL" clId="{2B1F4453-3A08-4063-8531-83E4A0933A57}" dt="2024-11-11T16:15:25.513" v="29" actId="21"/>
          <ac:picMkLst>
            <pc:docMk/>
            <pc:sldMk cId="1189710876" sldId="297"/>
            <ac:picMk id="7" creationId="{DE7877D4-2099-8E25-FA34-A24AB4707485}"/>
          </ac:picMkLst>
        </pc:picChg>
      </pc:sldChg>
      <pc:sldChg chg="new del">
        <pc:chgData name="Della Morte, D. (David)" userId="3c5e67f7-a0bf-49c4-b007-9de27f055a84" providerId="ADAL" clId="{2B1F4453-3A08-4063-8531-83E4A0933A57}" dt="2024-11-11T13:15:30.404" v="1" actId="47"/>
        <pc:sldMkLst>
          <pc:docMk/>
          <pc:sldMk cId="2529491958" sldId="297"/>
        </pc:sldMkLst>
      </pc:sldChg>
      <pc:sldChg chg="addSp modSp new mod">
        <pc:chgData name="Della Morte, D. (David)" userId="3c5e67f7-a0bf-49c4-b007-9de27f055a84" providerId="ADAL" clId="{2B1F4453-3A08-4063-8531-83E4A0933A57}" dt="2024-11-11T16:21:56.710" v="753" actId="20577"/>
        <pc:sldMkLst>
          <pc:docMk/>
          <pc:sldMk cId="922527501" sldId="298"/>
        </pc:sldMkLst>
        <pc:spChg chg="add mod">
          <ac:chgData name="Della Morte, D. (David)" userId="3c5e67f7-a0bf-49c4-b007-9de27f055a84" providerId="ADAL" clId="{2B1F4453-3A08-4063-8531-83E4A0933A57}" dt="2024-11-11T16:21:56.710" v="753" actId="20577"/>
          <ac:spMkLst>
            <pc:docMk/>
            <pc:sldMk cId="922527501" sldId="298"/>
            <ac:spMk id="2" creationId="{C81EEF24-450E-EB19-CF13-BD3DB05F867C}"/>
          </ac:spMkLst>
        </pc:spChg>
        <pc:picChg chg="add mod">
          <ac:chgData name="Della Morte, D. (David)" userId="3c5e67f7-a0bf-49c4-b007-9de27f055a84" providerId="ADAL" clId="{2B1F4453-3A08-4063-8531-83E4A0933A57}" dt="2024-11-11T16:15:32.014" v="33" actId="14100"/>
          <ac:picMkLst>
            <pc:docMk/>
            <pc:sldMk cId="922527501" sldId="298"/>
            <ac:picMk id="7" creationId="{DE7877D4-2099-8E25-FA34-A24AB4707485}"/>
          </ac:picMkLst>
        </pc:picChg>
      </pc:sldChg>
      <pc:sldChg chg="addSp modSp new mod">
        <pc:chgData name="Della Morte, D. (David)" userId="3c5e67f7-a0bf-49c4-b007-9de27f055a84" providerId="ADAL" clId="{2B1F4453-3A08-4063-8531-83E4A0933A57}" dt="2024-11-11T16:46:30.274" v="1343" actId="1035"/>
        <pc:sldMkLst>
          <pc:docMk/>
          <pc:sldMk cId="3880638226" sldId="299"/>
        </pc:sldMkLst>
        <pc:spChg chg="add mod">
          <ac:chgData name="Della Morte, D. (David)" userId="3c5e67f7-a0bf-49c4-b007-9de27f055a84" providerId="ADAL" clId="{2B1F4453-3A08-4063-8531-83E4A0933A57}" dt="2024-11-11T16:46:30.274" v="1343" actId="1035"/>
          <ac:spMkLst>
            <pc:docMk/>
            <pc:sldMk cId="3880638226" sldId="299"/>
            <ac:spMk id="3" creationId="{130BE27A-1ED6-7354-2F83-252505E3F819}"/>
          </ac:spMkLst>
        </pc:spChg>
        <pc:spChg chg="add mod">
          <ac:chgData name="Della Morte, D. (David)" userId="3c5e67f7-a0bf-49c4-b007-9de27f055a84" providerId="ADAL" clId="{2B1F4453-3A08-4063-8531-83E4A0933A57}" dt="2024-11-11T16:34:38.528" v="1115" actId="20577"/>
          <ac:spMkLst>
            <pc:docMk/>
            <pc:sldMk cId="3880638226" sldId="299"/>
            <ac:spMk id="4" creationId="{06BFBDEA-9954-05ED-E78A-C9D1A327F3E5}"/>
          </ac:spMkLst>
        </pc:spChg>
        <pc:spChg chg="add mod">
          <ac:chgData name="Della Morte, D. (David)" userId="3c5e67f7-a0bf-49c4-b007-9de27f055a84" providerId="ADAL" clId="{2B1F4453-3A08-4063-8531-83E4A0933A57}" dt="2024-11-11T16:46:30.274" v="1343" actId="1035"/>
          <ac:spMkLst>
            <pc:docMk/>
            <pc:sldMk cId="3880638226" sldId="299"/>
            <ac:spMk id="6" creationId="{F0C8BBCE-D889-4C4B-1386-EC69452C9B7C}"/>
          </ac:spMkLst>
        </pc:spChg>
        <pc:spChg chg="add mod">
          <ac:chgData name="Della Morte, D. (David)" userId="3c5e67f7-a0bf-49c4-b007-9de27f055a84" providerId="ADAL" clId="{2B1F4453-3A08-4063-8531-83E4A0933A57}" dt="2024-11-11T16:46:30.274" v="1343" actId="1035"/>
          <ac:spMkLst>
            <pc:docMk/>
            <pc:sldMk cId="3880638226" sldId="299"/>
            <ac:spMk id="8" creationId="{99A21139-01FE-FF92-1AF2-C7B30C13A66D}"/>
          </ac:spMkLst>
        </pc:spChg>
      </pc:sldChg>
      <pc:sldChg chg="addSp modSp new mod">
        <pc:chgData name="Della Morte, D. (David)" userId="3c5e67f7-a0bf-49c4-b007-9de27f055a84" providerId="ADAL" clId="{2B1F4453-3A08-4063-8531-83E4A0933A57}" dt="2024-11-11T16:45:27.369" v="1294" actId="20577"/>
        <pc:sldMkLst>
          <pc:docMk/>
          <pc:sldMk cId="2717820577" sldId="300"/>
        </pc:sldMkLst>
        <pc:spChg chg="add mod">
          <ac:chgData name="Della Morte, D. (David)" userId="3c5e67f7-a0bf-49c4-b007-9de27f055a84" providerId="ADAL" clId="{2B1F4453-3A08-4063-8531-83E4A0933A57}" dt="2024-11-11T16:45:27.369" v="1294" actId="20577"/>
          <ac:spMkLst>
            <pc:docMk/>
            <pc:sldMk cId="2717820577" sldId="300"/>
            <ac:spMk id="4" creationId="{344149A8-3AB5-2048-2C37-1E73986F28CD}"/>
          </ac:spMkLst>
        </pc:spChg>
        <pc:picChg chg="add mod">
          <ac:chgData name="Della Morte, D. (David)" userId="3c5e67f7-a0bf-49c4-b007-9de27f055a84" providerId="ADAL" clId="{2B1F4453-3A08-4063-8531-83E4A0933A57}" dt="2024-11-11T16:39:55.904" v="1173" actId="1076"/>
          <ac:picMkLst>
            <pc:docMk/>
            <pc:sldMk cId="2717820577" sldId="300"/>
            <ac:picMk id="3" creationId="{69407E6F-9533-2669-E1A4-8F7994D91E2D}"/>
          </ac:picMkLst>
        </pc:picChg>
      </pc:sldChg>
    </pc:docChg>
  </pc:docChgLst>
</pc:chgInfo>
</file>

<file path=ppt/charts/_rels/chart1.xml.rels><?xml version="1.0" encoding="UTF-8" standalone="yes"?>
<Relationships xmlns="http://schemas.openxmlformats.org/package/2006/relationships"><Relationship Id="rId3" Type="http://schemas.openxmlformats.org/officeDocument/2006/relationships/package" Target="../embeddings/Microsoft_Excel_Worksheet.xlsx"/><Relationship Id="rId2" Type="http://schemas.microsoft.com/office/2011/relationships/chartColorStyle" Target="colors1.xml"/><Relationship Id="rId1" Type="http://schemas.microsoft.com/office/2011/relationships/chartStyle" Target="style1.xml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0"/>
  <mc:AlternateContent xmlns:mc="http://schemas.openxmlformats.org/markup-compatibility/2006">
    <mc:Choice xmlns:c14="http://schemas.microsoft.com/office/drawing/2007/8/2/chart" Requires="c14">
      <c14:style val="103"/>
    </mc:Choice>
    <mc:Fallback>
      <c:style val="3"/>
    </mc:Fallback>
  </mc:AlternateContent>
  <c:chart>
    <c:autoTitleDeleted val="1"/>
    <c:plotArea>
      <c:layout/>
      <c:pieChart>
        <c:varyColors val="1"/>
        <c:ser>
          <c:idx val="0"/>
          <c:order val="0"/>
          <c:tx>
            <c:strRef>
              <c:f>Sheet1!$B$1</c:f>
              <c:strCache>
                <c:ptCount val="1"/>
                <c:pt idx="0">
                  <c:v>Patients DB</c:v>
                </c:pt>
              </c:strCache>
            </c:strRef>
          </c:tx>
          <c:dPt>
            <c:idx val="0"/>
            <c:bubble3D val="0"/>
            <c:spPr>
              <a:gradFill rotWithShape="1">
                <a:gsLst>
                  <a:gs pos="0">
                    <a:schemeClr val="accent1">
                      <a:shade val="76000"/>
                      <a:satMod val="103000"/>
                      <a:lumMod val="102000"/>
                      <a:tint val="94000"/>
                    </a:schemeClr>
                  </a:gs>
                  <a:gs pos="50000">
                    <a:schemeClr val="accent1">
                      <a:shade val="76000"/>
                      <a:satMod val="110000"/>
                      <a:lumMod val="100000"/>
                      <a:shade val="100000"/>
                    </a:schemeClr>
                  </a:gs>
                  <a:gs pos="100000">
                    <a:schemeClr val="accent1">
                      <a:shade val="76000"/>
                      <a:lumMod val="99000"/>
                      <a:satMod val="120000"/>
                      <a:shade val="78000"/>
                    </a:schemeClr>
                  </a:gs>
                </a:gsLst>
                <a:lin ang="5400000" scaled="0"/>
              </a:gradFill>
              <a:ln>
                <a:noFill/>
              </a:ln>
              <a:effectLst>
                <a:outerShdw blurRad="57150" dist="19050" dir="5400000" algn="ctr" rotWithShape="0">
                  <a:srgbClr val="000000">
                    <a:alpha val="63000"/>
                  </a:srgbClr>
                </a:outerShdw>
              </a:effectLst>
            </c:spPr>
            <c:extLst>
              <c:ext xmlns:c16="http://schemas.microsoft.com/office/drawing/2014/chart" uri="{C3380CC4-5D6E-409C-BE32-E72D297353CC}">
                <c16:uniqueId val="{00000001-278F-4D1A-B53E-33D64C00E425}"/>
              </c:ext>
            </c:extLst>
          </c:dPt>
          <c:dPt>
            <c:idx val="1"/>
            <c:bubble3D val="0"/>
            <c:spPr>
              <a:gradFill rotWithShape="1">
                <a:gsLst>
                  <a:gs pos="0">
                    <a:schemeClr val="accent1">
                      <a:tint val="77000"/>
                      <a:satMod val="103000"/>
                      <a:lumMod val="102000"/>
                      <a:tint val="94000"/>
                    </a:schemeClr>
                  </a:gs>
                  <a:gs pos="50000">
                    <a:schemeClr val="accent1">
                      <a:tint val="77000"/>
                      <a:satMod val="110000"/>
                      <a:lumMod val="100000"/>
                      <a:shade val="100000"/>
                    </a:schemeClr>
                  </a:gs>
                  <a:gs pos="100000">
                    <a:schemeClr val="accent1">
                      <a:tint val="77000"/>
                      <a:lumMod val="99000"/>
                      <a:satMod val="120000"/>
                      <a:shade val="78000"/>
                    </a:schemeClr>
                  </a:gs>
                </a:gsLst>
                <a:lin ang="5400000" scaled="0"/>
              </a:gradFill>
              <a:ln>
                <a:noFill/>
              </a:ln>
              <a:effectLst>
                <a:outerShdw blurRad="57150" dist="19050" dir="5400000" algn="ctr" rotWithShape="0">
                  <a:srgbClr val="000000">
                    <a:alpha val="63000"/>
                  </a:srgbClr>
                </a:outerShdw>
              </a:effectLst>
            </c:spPr>
            <c:extLst>
              <c:ext xmlns:c16="http://schemas.microsoft.com/office/drawing/2014/chart" uri="{C3380CC4-5D6E-409C-BE32-E72D297353CC}">
                <c16:uniqueId val="{00000003-278F-4D1A-B53E-33D64C00E425}"/>
              </c:ext>
            </c:extLst>
          </c:dPt>
          <c:dLbls>
            <c:spPr>
              <a:noFill/>
              <a:ln>
                <a:noFill/>
              </a:ln>
              <a:effectLst/>
            </c:spPr>
            <c:txPr>
              <a:bodyPr rot="0" spcFirstLastPara="1" vertOverflow="ellipsis" vert="horz" wrap="square" lIns="38100" tIns="19050" rIns="38100" bIns="19050" anchor="ctr" anchorCtr="1">
                <a:spAutoFit/>
              </a:bodyPr>
              <a:lstStyle/>
              <a:p>
                <a:pPr>
                  <a:defRPr sz="1197" b="0" i="0" u="none" strike="noStrike" kern="1200" baseline="0">
                    <a:solidFill>
                      <a:schemeClr val="bg1"/>
                    </a:solidFill>
                    <a:latin typeface="+mn-lt"/>
                    <a:ea typeface="+mn-ea"/>
                    <a:cs typeface="+mn-cs"/>
                  </a:defRPr>
                </a:pPr>
                <a:endParaRPr lang="en-150"/>
              </a:p>
            </c:txPr>
            <c:showLegendKey val="0"/>
            <c:showVal val="0"/>
            <c:showCatName val="0"/>
            <c:showSerName val="0"/>
            <c:showPercent val="1"/>
            <c:showBubbleSize val="0"/>
            <c:showLeaderLines val="1"/>
            <c:leaderLines>
              <c:spPr>
                <a:ln w="9525" cap="flat" cmpd="sng" algn="ctr">
                  <a:solidFill>
                    <a:schemeClr val="tx1">
                      <a:lumMod val="35000"/>
                      <a:lumOff val="65000"/>
                    </a:schemeClr>
                  </a:solidFill>
                  <a:round/>
                </a:ln>
                <a:effectLst/>
              </c:spPr>
            </c:leaderLines>
            <c:extLst>
              <c:ext xmlns:c15="http://schemas.microsoft.com/office/drawing/2012/chart" uri="{CE6537A1-D6FC-4f65-9D91-7224C49458BB}"/>
            </c:extLst>
          </c:dLbls>
          <c:cat>
            <c:strRef>
              <c:f>Sheet1!$A$2:$A$5</c:f>
              <c:strCache>
                <c:ptCount val="2"/>
                <c:pt idx="0">
                  <c:v>Eligible</c:v>
                </c:pt>
                <c:pt idx="1">
                  <c:v>Neligible</c:v>
                </c:pt>
              </c:strCache>
            </c:strRef>
          </c:cat>
          <c:val>
            <c:numRef>
              <c:f>Sheet1!$B$2:$B$5</c:f>
              <c:numCache>
                <c:formatCode>General</c:formatCode>
                <c:ptCount val="2"/>
                <c:pt idx="0">
                  <c:v>0.20328102710413695</c:v>
                </c:pt>
                <c:pt idx="1">
                  <c:v>0.79671897289586302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0-BC7F-49CF-93C6-9D708D3574D5}"/>
            </c:ext>
          </c:extLst>
        </c:ser>
        <c:dLbls>
          <c:showLegendKey val="0"/>
          <c:showVal val="0"/>
          <c:showCatName val="0"/>
          <c:showSerName val="0"/>
          <c:showPercent val="1"/>
          <c:showBubbleSize val="0"/>
          <c:showLeaderLines val="1"/>
        </c:dLbls>
        <c:firstSliceAng val="0"/>
      </c:pieChart>
      <c:spPr>
        <a:noFill/>
        <a:ln>
          <a:noFill/>
        </a:ln>
        <a:effectLst/>
      </c:spPr>
    </c:plotArea>
    <c:legend>
      <c:legendPos val="r"/>
      <c:overlay val="0"/>
      <c:spPr>
        <a:noFill/>
        <a:ln>
          <a:noFill/>
        </a:ln>
        <a:effectLst/>
      </c:spPr>
      <c:txPr>
        <a:bodyPr rot="0" spcFirstLastPara="1" vertOverflow="ellipsis" vert="horz" wrap="square" anchor="ctr" anchorCtr="1"/>
        <a:lstStyle/>
        <a:p>
          <a:pPr>
            <a:defRPr sz="1197" b="0" i="0" u="none" strike="noStrike" kern="1200" baseline="0">
              <a:solidFill>
                <a:schemeClr val="tx1">
                  <a:lumMod val="65000"/>
                  <a:lumOff val="35000"/>
                </a:schemeClr>
              </a:solidFill>
              <a:latin typeface="+mn-lt"/>
              <a:ea typeface="+mn-ea"/>
              <a:cs typeface="+mn-cs"/>
            </a:defRPr>
          </a:pPr>
          <a:endParaRPr lang="en-150"/>
        </a:p>
      </c:txPr>
    </c:legend>
    <c:plotVisOnly val="1"/>
    <c:dispBlanksAs val="gap"/>
    <c:extLst>
      <c:ext xmlns:c16r3="http://schemas.microsoft.com/office/drawing/2017/03/chart" uri="{56B9EC1D-385E-4148-901F-78D8002777C0}">
        <c16r3:dataDisplayOptions16>
          <c16r3:dispNaAsBlank val="1"/>
        </c16r3:dataDisplayOptions16>
      </c:ext>
    </c:extLst>
    <c:showDLblsOverMax val="0"/>
  </c:chart>
  <c:spPr>
    <a:noFill/>
    <a:ln>
      <a:noFill/>
    </a:ln>
    <a:effectLst/>
  </c:spPr>
  <c:txPr>
    <a:bodyPr/>
    <a:lstStyle/>
    <a:p>
      <a:pPr>
        <a:defRPr/>
      </a:pPr>
      <a:endParaRPr lang="en-150"/>
    </a:p>
  </c:txPr>
  <c:externalData r:id="rId3">
    <c:autoUpdate val="0"/>
  </c:externalData>
</c:chartSpace>
</file>

<file path=ppt/charts/colors1.xml><?xml version="1.0" encoding="utf-8"?>
<cs:colorStyle xmlns:cs="http://schemas.microsoft.com/office/drawing/2012/chartStyle" xmlns:a="http://schemas.openxmlformats.org/drawingml/2006/main" meth="withinLinear" id="14">
  <a:schemeClr val="accent1"/>
</cs:colorStyle>
</file>

<file path=ppt/charts/style1.xml><?xml version="1.0" encoding="utf-8"?>
<cs:chartStyle xmlns:cs="http://schemas.microsoft.com/office/drawing/2012/chartStyle" xmlns:a="http://schemas.openxmlformats.org/drawingml/2006/main" id="344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12700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categoryAxis>
  <cs:chartArea mods="allowNoFillOverride allowNoLineOverride">
    <cs:lnRef idx="0"/>
    <cs:fillRef idx="0"/>
    <cs:effectRef idx="0"/>
    <cs:fontRef idx="minor">
      <a:schemeClr val="tx2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1197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1197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3">
      <cs:styleClr val="auto"/>
    </cs:fillRef>
    <cs:effectRef idx="3"/>
    <cs:fontRef idx="minor">
      <a:schemeClr val="tx1"/>
    </cs:fontRef>
  </cs:dataPoint>
  <cs:dataPoint3D>
    <cs:lnRef idx="0"/>
    <cs:fillRef idx="3">
      <cs:styleClr val="auto"/>
    </cs:fillRef>
    <cs:effectRef idx="3"/>
    <cs:fontRef idx="minor">
      <a:schemeClr val="tx1"/>
    </cs:fontRef>
  </cs:dataPoint3D>
  <cs:dataPointLine>
    <cs:lnRef idx="0">
      <cs:styleClr val="auto"/>
    </cs:lnRef>
    <cs:fillRef idx="3"/>
    <cs:effectRef idx="3"/>
    <cs:fontRef idx="minor">
      <a:schemeClr val="tx1"/>
    </cs:fontRef>
    <cs:spPr>
      <a:ln w="3492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3">
      <cs:styleClr val="auto"/>
    </cs:fillRef>
    <cs:effectRef idx="3"/>
    <cs:fontRef idx="minor">
      <a:schemeClr val="tx1"/>
    </cs:fontRef>
    <cs:spPr>
      <a:ln w="9525">
        <a:solidFill>
          <a:schemeClr val="phClr"/>
        </a:solidFill>
        <a:round/>
      </a:ln>
    </cs:spPr>
  </cs:dataPointMarker>
  <cs:dataPointMarkerLayout symbol="circle" size="6"/>
  <cs:dataPointWireframe>
    <cs:lnRef idx="0">
      <cs:styleClr val="auto"/>
    </cs:lnRef>
    <cs:fillRef idx="3"/>
    <cs:effectRef idx="3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dataTable>
  <cs:downBar>
    <cs:lnRef idx="0"/>
    <cs:fillRef idx="0"/>
    <cs:effectRef idx="0"/>
    <cs:fontRef idx="minor">
      <a:schemeClr val="dk1"/>
    </cs:fontRef>
    <cs:spPr>
      <a:solidFill>
        <a:schemeClr val="dk1">
          <a:lumMod val="65000"/>
          <a:lumOff val="35000"/>
        </a:schemeClr>
      </a:solidFill>
      <a:ln w="9525">
        <a:solidFill>
          <a:schemeClr val="tx1">
            <a:lumMod val="65000"/>
            <a:lumOff val="35000"/>
          </a:schemeClr>
        </a:solidFill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lt1"/>
    </cs:fontRef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75000"/>
            <a:lumOff val="25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legend>
  <cs:plotArea>
    <cs:lnRef idx="0"/>
    <cs:fillRef idx="0"/>
    <cs:effectRef idx="0"/>
    <cs:fontRef idx="minor">
      <a:schemeClr val="lt1"/>
    </cs:fontRef>
  </cs:plotArea>
  <cs:plotArea3D>
    <cs:lnRef idx="0"/>
    <cs:fillRef idx="0"/>
    <cs:effectRef idx="0"/>
    <cs:fontRef idx="minor">
      <a:schemeClr val="lt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spPr>
      <a:ln w="12700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2128" b="1" kern="1200" baseline="0"/>
  </cs:title>
  <cs:trendline>
    <cs:lnRef idx="0">
      <cs:styleClr val="auto"/>
    </cs:lnRef>
    <cs:fillRef idx="0"/>
    <cs:effectRef idx="0"/>
    <cs:fontRef idx="minor">
      <a:schemeClr val="lt1"/>
    </cs:fontRef>
    <cs:spPr>
      <a:ln w="19050" cap="rnd">
        <a:solidFill>
          <a:schemeClr val="phClr"/>
        </a:solidFill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trendlineLabel>
  <cs:upBar>
    <cs:lnRef idx="0"/>
    <cs:fillRef idx="0"/>
    <cs:effectRef idx="0"/>
    <cs:fontRef idx="minor">
      <a:schemeClr val="dk1"/>
    </cs:fontRef>
    <cs:spPr>
      <a:solidFill>
        <a:schemeClr val="lt1"/>
      </a:solidFill>
      <a:ln w="9525">
        <a:solidFill>
          <a:schemeClr val="tx1">
            <a:lumMod val="15000"/>
            <a:lumOff val="85000"/>
          </a:schemeClr>
        </a:solidFill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valueAxis>
  <cs:wall>
    <cs:lnRef idx="0"/>
    <cs:fillRef idx="0"/>
    <cs:effectRef idx="0"/>
    <cs:fontRef idx="minor">
      <a:schemeClr val="lt1"/>
    </cs:fontRef>
  </cs:wall>
</cs:chartStyle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nl-NL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11A67EE-E303-4967-962F-9A28980F7F51}" type="datetimeFigureOut">
              <a:rPr lang="nl-NL" smtClean="0"/>
              <a:t>11-11-2024</a:t>
            </a:fld>
            <a:endParaRPr lang="nl-NL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nl-NL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nl-NL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nl-NL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3DC5567A-7AFB-4BD5-B29D-942703DBBD9B}" type="slidenum">
              <a:rPr lang="nl-NL" smtClean="0"/>
              <a:t>‹#›</a:t>
            </a:fld>
            <a:endParaRPr lang="nl-NL"/>
          </a:p>
        </p:txBody>
      </p:sp>
    </p:spTree>
    <p:extLst>
      <p:ext uri="{BB962C8B-B14F-4D97-AF65-F5344CB8AC3E}">
        <p14:creationId xmlns:p14="http://schemas.microsoft.com/office/powerpoint/2010/main" val="231062560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25948AC-B287-41CA-B47D-67A620FCF377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  <a:endParaRPr lang="nl-NL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C8CA617D-8CDC-4F65-9390-74CB821F9091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nl-NL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B478C5F7-6F60-4F27-9F59-7785DBA2F13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ED566F3-1D76-4AEC-ABE9-AFABCF495913}" type="datetime1">
              <a:rPr lang="nl-NL" smtClean="0"/>
              <a:t>11-11-2024</a:t>
            </a:fld>
            <a:endParaRPr lang="nl-NL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6BFDCB6A-D323-4354-B7D4-9467AF69B4D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nl-NL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26D901AE-19F8-4663-9CE5-05DDFF71634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1C3C21-509A-4348-9AB0-64B0840D3637}" type="slidenum">
              <a:rPr lang="nl-NL" smtClean="0"/>
              <a:t>‹#›</a:t>
            </a:fld>
            <a:endParaRPr lang="nl-NL"/>
          </a:p>
        </p:txBody>
      </p:sp>
    </p:spTree>
    <p:extLst>
      <p:ext uri="{BB962C8B-B14F-4D97-AF65-F5344CB8AC3E}">
        <p14:creationId xmlns:p14="http://schemas.microsoft.com/office/powerpoint/2010/main" val="825657825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spd="slow">
        <p159:morph option="byObject"/>
      </p:transition>
    </mc:Choice>
    <mc:Fallback xmlns="">
      <p:transition spd="slow">
        <p:fade/>
      </p:transition>
    </mc:Fallback>
  </mc:AlternateContent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59AB29B-76F2-435B-8F9B-E4A2D217007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nl-NL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0B97678-D29D-4E25-93FC-8B4938B3E7B7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nl-NL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62F8ED1-C23D-4429-BFB5-AD2DC235C0C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6DED964-D172-498F-BB83-2F7DE2692B37}" type="datetime1">
              <a:rPr lang="nl-NL" smtClean="0"/>
              <a:t>11-11-2024</a:t>
            </a:fld>
            <a:endParaRPr lang="nl-NL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E254C219-EA01-42FA-AC79-20C9BBBFFE1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nl-NL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5BE6E373-602B-42F2-9544-22BDA84AADB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1C3C21-509A-4348-9AB0-64B0840D3637}" type="slidenum">
              <a:rPr lang="nl-NL" smtClean="0"/>
              <a:t>‹#›</a:t>
            </a:fld>
            <a:endParaRPr lang="nl-NL"/>
          </a:p>
        </p:txBody>
      </p:sp>
    </p:spTree>
    <p:extLst>
      <p:ext uri="{BB962C8B-B14F-4D97-AF65-F5344CB8AC3E}">
        <p14:creationId xmlns:p14="http://schemas.microsoft.com/office/powerpoint/2010/main" val="4111517687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spd="slow">
        <p159:morph option="byObject"/>
      </p:transition>
    </mc:Choice>
    <mc:Fallback xmlns="">
      <p:transition spd="slow">
        <p:fade/>
      </p:transition>
    </mc:Fallback>
  </mc:AlternateContent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0E34D96-94D4-4752-B9E6-24AE8CA4B92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  <a:endParaRPr lang="nl-NL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16DFCD03-CFB3-41EE-966A-80E195415BE8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FDDE3FEE-6205-4B95-B947-1CD57C07902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30F72AC-D91D-48F5-81B4-4889AEA39D06}" type="datetime1">
              <a:rPr lang="nl-NL" smtClean="0"/>
              <a:t>11-11-2024</a:t>
            </a:fld>
            <a:endParaRPr lang="nl-NL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9CD5C6CB-9F43-4A9A-8BDF-5E361E3CF89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nl-NL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63ECE6F9-9336-435B-99C4-1B2C3760358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1C3C21-509A-4348-9AB0-64B0840D3637}" type="slidenum">
              <a:rPr lang="nl-NL" smtClean="0"/>
              <a:t>‹#›</a:t>
            </a:fld>
            <a:endParaRPr lang="nl-NL"/>
          </a:p>
        </p:txBody>
      </p:sp>
    </p:spTree>
    <p:extLst>
      <p:ext uri="{BB962C8B-B14F-4D97-AF65-F5344CB8AC3E}">
        <p14:creationId xmlns:p14="http://schemas.microsoft.com/office/powerpoint/2010/main" val="3087669995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spd="slow">
        <p159:morph option="byObject"/>
      </p:transition>
    </mc:Choice>
    <mc:Fallback xmlns="">
      <p:transition spd="slow">
        <p:fade/>
      </p:transition>
    </mc:Fallback>
  </mc:AlternateContent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63E04E1-BECD-4F8D-9AEA-3E1FBBF13D7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nl-NL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9F62AE8-0F1C-40A4-9933-C2C6445D6AC4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nl-NL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56CCC6A3-60D3-4F49-8134-9555DD8F7B73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nl-NL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DC423EEF-B2AF-4007-A0CC-6A04FCC6252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0669485-26A9-497C-AD22-BCEA88DF9055}" type="datetime1">
              <a:rPr lang="nl-NL" smtClean="0"/>
              <a:t>11-11-2024</a:t>
            </a:fld>
            <a:endParaRPr lang="nl-NL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7F3186E3-2EAF-45FC-9D3B-5DB8A77411E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nl-NL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74CA7C7D-5BF9-414E-A909-E02CE39DF74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1C3C21-509A-4348-9AB0-64B0840D3637}" type="slidenum">
              <a:rPr lang="nl-NL" smtClean="0"/>
              <a:t>‹#›</a:t>
            </a:fld>
            <a:endParaRPr lang="nl-NL"/>
          </a:p>
        </p:txBody>
      </p:sp>
    </p:spTree>
    <p:extLst>
      <p:ext uri="{BB962C8B-B14F-4D97-AF65-F5344CB8AC3E}">
        <p14:creationId xmlns:p14="http://schemas.microsoft.com/office/powerpoint/2010/main" val="2682773852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spd="slow">
        <p159:morph option="byObject"/>
      </p:transition>
    </mc:Choice>
    <mc:Fallback xmlns="">
      <p:transition spd="slow">
        <p:fade/>
      </p:transition>
    </mc:Fallback>
  </mc:AlternateContent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C47ED87-5DBC-4105-B8D2-62F6369D328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nl-NL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7DE12741-98B6-45BE-9238-3AB9286E6D95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FD008037-93F8-4100-8D8B-802899C17E18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nl-NL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B0B42F52-1159-4498-A10F-670837787CD8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F510DDDA-D0F2-46C1-9333-7C8A9ECFA5D5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nl-NL"/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2C5AE4ED-6327-4310-8F14-2B22668828E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216D00C-0C62-40DF-B6FF-B9A70701552F}" type="datetime1">
              <a:rPr lang="nl-NL" smtClean="0"/>
              <a:t>11-11-2024</a:t>
            </a:fld>
            <a:endParaRPr lang="nl-NL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A7F0153B-CC0F-48D1-83E4-C86DF6CA4E1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nl-NL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7A802443-BB47-4A86-990E-F2DAFE688A7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1C3C21-509A-4348-9AB0-64B0840D3637}" type="slidenum">
              <a:rPr lang="nl-NL" smtClean="0"/>
              <a:t>‹#›</a:t>
            </a:fld>
            <a:endParaRPr lang="nl-NL"/>
          </a:p>
        </p:txBody>
      </p:sp>
    </p:spTree>
    <p:extLst>
      <p:ext uri="{BB962C8B-B14F-4D97-AF65-F5344CB8AC3E}">
        <p14:creationId xmlns:p14="http://schemas.microsoft.com/office/powerpoint/2010/main" val="2050520465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spd="slow">
        <p159:morph option="byObject"/>
      </p:transition>
    </mc:Choice>
    <mc:Fallback xmlns="">
      <p:transition spd="slow">
        <p:fade/>
      </p:transition>
    </mc:Fallback>
  </mc:AlternateContent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AFD51E0-850D-45CE-80D0-E1526BC0320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nl-NL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01664787-DB4C-476C-9ABE-CBE11FC29C9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8FE9515-DD39-459B-B4EF-789D74C861A5}" type="datetime1">
              <a:rPr lang="nl-NL" smtClean="0"/>
              <a:t>11-11-2024</a:t>
            </a:fld>
            <a:endParaRPr lang="nl-NL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4870C689-1691-4A79-8F79-1765F66F1B3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nl-NL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FB6F9125-8AA4-4357-942F-E0D512E30C9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1C3C21-509A-4348-9AB0-64B0840D3637}" type="slidenum">
              <a:rPr lang="nl-NL" smtClean="0"/>
              <a:t>‹#›</a:t>
            </a:fld>
            <a:endParaRPr lang="nl-NL"/>
          </a:p>
        </p:txBody>
      </p:sp>
    </p:spTree>
    <p:extLst>
      <p:ext uri="{BB962C8B-B14F-4D97-AF65-F5344CB8AC3E}">
        <p14:creationId xmlns:p14="http://schemas.microsoft.com/office/powerpoint/2010/main" val="2645343803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spd="slow">
        <p159:morph option="byObject"/>
      </p:transition>
    </mc:Choice>
    <mc:Fallback xmlns="">
      <p:transition spd="slow">
        <p:fade/>
      </p:transition>
    </mc:Fallback>
  </mc:AlternateContent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5826473B-8E52-4970-8EFE-BB7A779532C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FA27954-A76F-4E23-8576-A7D9667CDBCC}" type="datetime1">
              <a:rPr lang="nl-NL" smtClean="0"/>
              <a:t>11-11-2024</a:t>
            </a:fld>
            <a:endParaRPr lang="nl-NL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24414C28-DA8C-41E4-99ED-CD4A4AB233F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nl-NL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C13173E-2575-432C-ADB6-4EE7AA579ED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1C3C21-509A-4348-9AB0-64B0840D3637}" type="slidenum">
              <a:rPr lang="nl-NL" smtClean="0"/>
              <a:t>‹#›</a:t>
            </a:fld>
            <a:endParaRPr lang="nl-NL"/>
          </a:p>
        </p:txBody>
      </p:sp>
    </p:spTree>
    <p:extLst>
      <p:ext uri="{BB962C8B-B14F-4D97-AF65-F5344CB8AC3E}">
        <p14:creationId xmlns:p14="http://schemas.microsoft.com/office/powerpoint/2010/main" val="3258428707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spd="slow">
        <p159:morph option="byObject"/>
      </p:transition>
    </mc:Choice>
    <mc:Fallback xmlns="">
      <p:transition spd="slow">
        <p:fade/>
      </p:transition>
    </mc:Fallback>
  </mc:AlternateContent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1D8016D-CA79-4B99-9DA5-91C8716E8F5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nl-NL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47F824F-7392-41A8-9386-EBABEA33255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nl-NL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75598C4A-C3D9-49EE-BEF4-44B0A171833E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FE4D8747-C1DE-4DAA-8C5A-D16BBDE2905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3C17D54-D850-41AA-94F6-0F7316E4F326}" type="datetime1">
              <a:rPr lang="nl-NL" smtClean="0"/>
              <a:t>11-11-2024</a:t>
            </a:fld>
            <a:endParaRPr lang="nl-NL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151386BB-D6D2-4031-9E57-70FB88EFF6D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nl-NL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80A8E8E8-9918-44B4-9FEF-4D7E7D5CB04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1C3C21-509A-4348-9AB0-64B0840D3637}" type="slidenum">
              <a:rPr lang="nl-NL" smtClean="0"/>
              <a:t>‹#›</a:t>
            </a:fld>
            <a:endParaRPr lang="nl-NL"/>
          </a:p>
        </p:txBody>
      </p:sp>
    </p:spTree>
    <p:extLst>
      <p:ext uri="{BB962C8B-B14F-4D97-AF65-F5344CB8AC3E}">
        <p14:creationId xmlns:p14="http://schemas.microsoft.com/office/powerpoint/2010/main" val="3449423250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spd="slow">
        <p159:morph option="byObject"/>
      </p:transition>
    </mc:Choice>
    <mc:Fallback xmlns="">
      <p:transition spd="slow">
        <p:fade/>
      </p:transition>
    </mc:Fallback>
  </mc:AlternateContent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FCA9765-CB30-4E25-86E7-F361531CBF5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nl-NL"/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2CD9B116-C0FF-4B02-AD1A-8A08E6CD645E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nl-NL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0C08BC79-9573-4E4A-91B1-F0B96BC08325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CBEE7554-64CA-41FE-90D3-147D0A7AAB8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596A96E-3739-43D3-93E5-DAA507EA7B79}" type="datetime1">
              <a:rPr lang="nl-NL" smtClean="0"/>
              <a:t>11-11-2024</a:t>
            </a:fld>
            <a:endParaRPr lang="nl-NL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91836275-3860-47B0-95E5-E47CE66A580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nl-NL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D64DFAFA-428F-4700-8922-3B8EF95F7D7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1C3C21-509A-4348-9AB0-64B0840D3637}" type="slidenum">
              <a:rPr lang="nl-NL" smtClean="0"/>
              <a:t>‹#›</a:t>
            </a:fld>
            <a:endParaRPr lang="nl-NL"/>
          </a:p>
        </p:txBody>
      </p:sp>
    </p:spTree>
    <p:extLst>
      <p:ext uri="{BB962C8B-B14F-4D97-AF65-F5344CB8AC3E}">
        <p14:creationId xmlns:p14="http://schemas.microsoft.com/office/powerpoint/2010/main" val="1657984320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spd="slow">
        <p159:morph option="byObject"/>
      </p:transition>
    </mc:Choice>
    <mc:Fallback xmlns="">
      <p:transition spd="slow">
        <p:fade/>
      </p:transition>
    </mc:Fallback>
  </mc:AlternateContent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E50A495-6C31-41FF-A4B0-020E8B28BF7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nl-NL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63C9B0F3-43F5-4FD4-8122-5CBA293A7EB6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nl-NL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B35225E-CE43-4540-AFFC-AAF04C8F8E8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C7E55A1-B228-4CF1-BFC3-6AC3B8574AC2}" type="datetime1">
              <a:rPr lang="nl-NL" smtClean="0"/>
              <a:t>11-11-2024</a:t>
            </a:fld>
            <a:endParaRPr lang="nl-NL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787C101D-B292-40F4-8464-2A879648D78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nl-NL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867D5A11-C444-49FD-B50B-F582B0FB4D6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1C3C21-509A-4348-9AB0-64B0840D3637}" type="slidenum">
              <a:rPr lang="nl-NL" smtClean="0"/>
              <a:t>‹#›</a:t>
            </a:fld>
            <a:endParaRPr lang="nl-NL"/>
          </a:p>
        </p:txBody>
      </p:sp>
    </p:spTree>
    <p:extLst>
      <p:ext uri="{BB962C8B-B14F-4D97-AF65-F5344CB8AC3E}">
        <p14:creationId xmlns:p14="http://schemas.microsoft.com/office/powerpoint/2010/main" val="3893210568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spd="slow">
        <p159:morph option="byObject"/>
      </p:transition>
    </mc:Choice>
    <mc:Fallback xmlns="">
      <p:transition spd="slow">
        <p:fade/>
      </p:transition>
    </mc:Fallback>
  </mc:AlternateContent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5201D48E-E891-4B7D-AFD4-9AAF8E626A99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nl-NL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98137D1B-0094-47DD-B9AD-31C8CA042A10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nl-NL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12D1E101-668E-4BC7-A4CA-5313C7DBBD0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1AEBC58-6519-439D-8982-F0178170B57B}" type="datetime1">
              <a:rPr lang="nl-NL" smtClean="0"/>
              <a:t>11-11-2024</a:t>
            </a:fld>
            <a:endParaRPr lang="nl-NL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8F66AB8E-FB2E-4D6E-8154-57D43887903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nl-NL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EAAA07D3-3567-41F1-8DAB-8F2C583DC3D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1C3C21-509A-4348-9AB0-64B0840D3637}" type="slidenum">
              <a:rPr lang="nl-NL" smtClean="0"/>
              <a:t>‹#›</a:t>
            </a:fld>
            <a:endParaRPr lang="nl-NL"/>
          </a:p>
        </p:txBody>
      </p:sp>
    </p:spTree>
    <p:extLst>
      <p:ext uri="{BB962C8B-B14F-4D97-AF65-F5344CB8AC3E}">
        <p14:creationId xmlns:p14="http://schemas.microsoft.com/office/powerpoint/2010/main" val="258175255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spd="slow">
        <p159:morph option="byObject"/>
      </p:transition>
    </mc:Choice>
    <mc:Fallback xmlns="">
      <p:transition spd="slow">
        <p:fade/>
      </p:transition>
    </mc:Fallback>
  </mc:AlternateContent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492EC7E0-AED4-42A9-B7C8-1C8A3036308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nl-NL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40EDD091-A0BD-4098-8CBF-4B3778A4826E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nl-NL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93BA2CE4-233C-4F57-A4A0-CBB695AC8ABB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FBB0748-A22F-4137-ADB1-6D5A09F7B1DF}" type="datetime1">
              <a:rPr lang="nl-NL" smtClean="0"/>
              <a:t>11-11-2024</a:t>
            </a:fld>
            <a:endParaRPr lang="nl-NL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3F7E4AEF-05F3-4A58-BDBD-A8927D09010F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nl-NL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56BEA39C-A23D-4EEC-9C8A-0F53C046525F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1C3C21-509A-4348-9AB0-64B0840D3637}" type="slidenum">
              <a:rPr lang="nl-NL" smtClean="0"/>
              <a:t>‹#›</a:t>
            </a:fld>
            <a:endParaRPr lang="nl-NL"/>
          </a:p>
        </p:txBody>
      </p:sp>
    </p:spTree>
    <p:extLst>
      <p:ext uri="{BB962C8B-B14F-4D97-AF65-F5344CB8AC3E}">
        <p14:creationId xmlns:p14="http://schemas.microsoft.com/office/powerpoint/2010/main" val="2074753732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mc:AlternateContent xmlns:mc="http://schemas.openxmlformats.org/markup-compatibility/2006" xmlns:p159="http://schemas.microsoft.com/office/powerpoint/2015/09/main">
    <mc:Choice Requires="p159">
      <p:transition spd="slow">
        <p159:morph option="byObject"/>
      </p:transition>
    </mc:Choice>
    <mc:Fallback xmlns="">
      <p:transition spd="slow">
        <p:fade/>
      </p:transition>
    </mc:Fallback>
  </mc:AlternateContent>
  <p:hf sldNum="0" hdr="0" ftr="0" dt="0"/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nl-NL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sv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Relationship Id="rId5" Type="http://schemas.openxmlformats.org/officeDocument/2006/relationships/image" Target="../media/image4.svg"/><Relationship Id="rId4" Type="http://schemas.openxmlformats.org/officeDocument/2006/relationships/image" Target="../media/image3.png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hyperlink" Target="file:///\\DS.UMCUTRECHT.NL\DATA\LAB\lab_research\RES-Folder-UPOD\ODIN-UC4\G_Output\3_OtherOutput\ha_8180v_user_manual.pdf" TargetMode="External"/><Relationship Id="rId1" Type="http://schemas.openxmlformats.org/officeDocument/2006/relationships/slideLayout" Target="../slideLayouts/slideLayout7.xml"/></Relationships>
</file>

<file path=ppt/slides/_rels/slide7.xml.rels><?xml version="1.0" encoding="UTF-8" standalone="yes"?>
<Relationships xmlns="http://schemas.openxmlformats.org/package/2006/relationships"><Relationship Id="rId8" Type="http://schemas.openxmlformats.org/officeDocument/2006/relationships/image" Target="../media/image11.png"/><Relationship Id="rId13" Type="http://schemas.openxmlformats.org/officeDocument/2006/relationships/image" Target="../media/image16.svg"/><Relationship Id="rId3" Type="http://schemas.openxmlformats.org/officeDocument/2006/relationships/image" Target="../media/image6.svg"/><Relationship Id="rId7" Type="http://schemas.openxmlformats.org/officeDocument/2006/relationships/image" Target="../media/image10.svg"/><Relationship Id="rId12" Type="http://schemas.openxmlformats.org/officeDocument/2006/relationships/image" Target="../media/image15.png"/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9.png"/><Relationship Id="rId11" Type="http://schemas.openxmlformats.org/officeDocument/2006/relationships/image" Target="../media/image14.svg"/><Relationship Id="rId5" Type="http://schemas.openxmlformats.org/officeDocument/2006/relationships/image" Target="../media/image8.svg"/><Relationship Id="rId10" Type="http://schemas.openxmlformats.org/officeDocument/2006/relationships/image" Target="../media/image13.png"/><Relationship Id="rId4" Type="http://schemas.openxmlformats.org/officeDocument/2006/relationships/image" Target="../media/image7.png"/><Relationship Id="rId9" Type="http://schemas.openxmlformats.org/officeDocument/2006/relationships/image" Target="../media/image12.svg"/></Relationships>
</file>

<file path=ppt/slides/_rels/slide8.xml.rels><?xml version="1.0" encoding="UTF-8" standalone="yes"?>
<Relationships xmlns="http://schemas.openxmlformats.org/package/2006/relationships"><Relationship Id="rId8" Type="http://schemas.openxmlformats.org/officeDocument/2006/relationships/image" Target="../media/image23.png"/><Relationship Id="rId13" Type="http://schemas.openxmlformats.org/officeDocument/2006/relationships/image" Target="../media/image28.svg"/><Relationship Id="rId3" Type="http://schemas.openxmlformats.org/officeDocument/2006/relationships/image" Target="../media/image18.svg"/><Relationship Id="rId7" Type="http://schemas.openxmlformats.org/officeDocument/2006/relationships/image" Target="../media/image22.svg"/><Relationship Id="rId12" Type="http://schemas.openxmlformats.org/officeDocument/2006/relationships/image" Target="../media/image27.png"/><Relationship Id="rId2" Type="http://schemas.openxmlformats.org/officeDocument/2006/relationships/image" Target="../media/image17.png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21.png"/><Relationship Id="rId11" Type="http://schemas.openxmlformats.org/officeDocument/2006/relationships/image" Target="../media/image26.svg"/><Relationship Id="rId5" Type="http://schemas.openxmlformats.org/officeDocument/2006/relationships/image" Target="../media/image20.svg"/><Relationship Id="rId10" Type="http://schemas.openxmlformats.org/officeDocument/2006/relationships/image" Target="../media/image25.png"/><Relationship Id="rId4" Type="http://schemas.openxmlformats.org/officeDocument/2006/relationships/image" Target="../media/image19.png"/><Relationship Id="rId9" Type="http://schemas.openxmlformats.org/officeDocument/2006/relationships/image" Target="../media/image24.svg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image" Target="../media/image29.png"/><Relationship Id="rId1" Type="http://schemas.openxmlformats.org/officeDocument/2006/relationships/slideLayout" Target="../slideLayouts/slideLayout7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30.png"/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31.png"/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32.png"/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32.png"/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image" Target="../media/image33.png"/><Relationship Id="rId1" Type="http://schemas.openxmlformats.org/officeDocument/2006/relationships/slideLayout" Target="../slideLayouts/slideLayout7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image" Target="../media/image34.png"/><Relationship Id="rId1" Type="http://schemas.openxmlformats.org/officeDocument/2006/relationships/slideLayout" Target="../slideLayouts/slideLayout7.xml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36.png"/><Relationship Id="rId2" Type="http://schemas.openxmlformats.org/officeDocument/2006/relationships/image" Target="../media/image35.png"/><Relationship Id="rId1" Type="http://schemas.openxmlformats.org/officeDocument/2006/relationships/slideLayout" Target="../slideLayouts/slideLayout7.xml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36.png"/><Relationship Id="rId2" Type="http://schemas.openxmlformats.org/officeDocument/2006/relationships/image" Target="../media/image35.png"/><Relationship Id="rId1" Type="http://schemas.openxmlformats.org/officeDocument/2006/relationships/slideLayout" Target="../slideLayouts/slideLayout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"1.0" encoding="UTF-8" standalone="yes"?>
<Relationships xmlns="http://schemas.openxmlformats.org/package/2006/relationships"><Relationship Id="rId8" Type="http://schemas.openxmlformats.org/officeDocument/2006/relationships/image" Target="../media/image43.png"/><Relationship Id="rId3" Type="http://schemas.openxmlformats.org/officeDocument/2006/relationships/image" Target="../media/image38.svg"/><Relationship Id="rId7" Type="http://schemas.openxmlformats.org/officeDocument/2006/relationships/image" Target="../media/image42.svg"/><Relationship Id="rId2" Type="http://schemas.openxmlformats.org/officeDocument/2006/relationships/image" Target="../media/image37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41.png"/><Relationship Id="rId11" Type="http://schemas.openxmlformats.org/officeDocument/2006/relationships/image" Target="../media/image46.svg"/><Relationship Id="rId5" Type="http://schemas.openxmlformats.org/officeDocument/2006/relationships/image" Target="../media/image40.svg"/><Relationship Id="rId10" Type="http://schemas.openxmlformats.org/officeDocument/2006/relationships/image" Target="../media/image45.png"/><Relationship Id="rId4" Type="http://schemas.openxmlformats.org/officeDocument/2006/relationships/image" Target="../media/image39.png"/><Relationship Id="rId9" Type="http://schemas.openxmlformats.org/officeDocument/2006/relationships/image" Target="../media/image44.svg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3.xml.rels><?xml version="1.0" encoding="UTF-8" standalone="yes"?>
<Relationships xmlns="http://schemas.openxmlformats.org/package/2006/relationships"><Relationship Id="rId3" Type="http://schemas.openxmlformats.org/officeDocument/2006/relationships/image" Target="../media/image38.svg"/><Relationship Id="rId2" Type="http://schemas.openxmlformats.org/officeDocument/2006/relationships/image" Target="../media/image37.png"/><Relationship Id="rId1" Type="http://schemas.openxmlformats.org/officeDocument/2006/relationships/slideLayout" Target="../slideLayouts/slideLayout7.xml"/></Relationships>
</file>

<file path=ppt/slides/_rels/slide24.xml.rels><?xml version="1.0" encoding="UTF-8" standalone="yes"?>
<Relationships xmlns="http://schemas.openxmlformats.org/package/2006/relationships"><Relationship Id="rId2" Type="http://schemas.openxmlformats.org/officeDocument/2006/relationships/image" Target="../media/image47.png"/><Relationship Id="rId1" Type="http://schemas.openxmlformats.org/officeDocument/2006/relationships/slideLayout" Target="../slideLayouts/slideLayout7.xml"/></Relationships>
</file>

<file path=ppt/slides/_rels/slide25.xml.rels><?xml version="1.0" encoding="UTF-8" standalone="yes"?>
<Relationships xmlns="http://schemas.openxmlformats.org/package/2006/relationships"><Relationship Id="rId2" Type="http://schemas.openxmlformats.org/officeDocument/2006/relationships/image" Target="../media/image47.png"/><Relationship Id="rId1" Type="http://schemas.openxmlformats.org/officeDocument/2006/relationships/slideLayout" Target="../slideLayouts/slideLayout7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7.xml.rels><?xml version="1.0" encoding="UTF-8" standalone="yes"?>
<Relationships xmlns="http://schemas.openxmlformats.org/package/2006/relationships"><Relationship Id="rId3" Type="http://schemas.openxmlformats.org/officeDocument/2006/relationships/image" Target="../media/image49.png"/><Relationship Id="rId2" Type="http://schemas.openxmlformats.org/officeDocument/2006/relationships/image" Target="../media/image48.png"/><Relationship Id="rId1" Type="http://schemas.openxmlformats.org/officeDocument/2006/relationships/slideLayout" Target="../slideLayouts/slideLayout7.xml"/></Relationships>
</file>

<file path=ppt/slides/_rels/slide28.xml.rels><?xml version="1.0" encoding="UTF-8" standalone="yes"?>
<Relationships xmlns="http://schemas.openxmlformats.org/package/2006/relationships"><Relationship Id="rId2" Type="http://schemas.openxmlformats.org/officeDocument/2006/relationships/image" Target="../media/image50.png"/><Relationship Id="rId1" Type="http://schemas.openxmlformats.org/officeDocument/2006/relationships/slideLayout" Target="../slideLayouts/slideLayout7.xml"/></Relationships>
</file>

<file path=ppt/slides/_rels/slide29.xml.rels><?xml version="1.0" encoding="UTF-8" standalone="yes"?>
<Relationships xmlns="http://schemas.openxmlformats.org/package/2006/relationships"><Relationship Id="rId2" Type="http://schemas.openxmlformats.org/officeDocument/2006/relationships/image" Target="../media/image51.png"/><Relationship Id="rId1" Type="http://schemas.openxmlformats.org/officeDocument/2006/relationships/slideLayout" Target="../slideLayouts/slideLayout7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1.xml.rels><?xml version="1.0" encoding="UTF-8" standalone="yes"?>
<Relationships xmlns="http://schemas.openxmlformats.org/package/2006/relationships"><Relationship Id="rId2" Type="http://schemas.openxmlformats.org/officeDocument/2006/relationships/image" Target="../media/image52.png"/><Relationship Id="rId1" Type="http://schemas.openxmlformats.org/officeDocument/2006/relationships/slideLayout" Target="../slideLayouts/slideLayout7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3.xml.rels><?xml version="1.0" encoding="UTF-8" standalone="yes"?>
<Relationships xmlns="http://schemas.openxmlformats.org/package/2006/relationships"><Relationship Id="rId8" Type="http://schemas.openxmlformats.org/officeDocument/2006/relationships/image" Target="../media/image57.png"/><Relationship Id="rId3" Type="http://schemas.openxmlformats.org/officeDocument/2006/relationships/image" Target="../media/image38.svg"/><Relationship Id="rId7" Type="http://schemas.openxmlformats.org/officeDocument/2006/relationships/image" Target="../media/image56.svg"/><Relationship Id="rId2" Type="http://schemas.openxmlformats.org/officeDocument/2006/relationships/image" Target="../media/image37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55.png"/><Relationship Id="rId5" Type="http://schemas.openxmlformats.org/officeDocument/2006/relationships/image" Target="../media/image54.svg"/><Relationship Id="rId4" Type="http://schemas.openxmlformats.org/officeDocument/2006/relationships/image" Target="../media/image53.png"/><Relationship Id="rId9" Type="http://schemas.openxmlformats.org/officeDocument/2006/relationships/image" Target="../media/image58.svg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5.xml.rels><?xml version="1.0" encoding="UTF-8" standalone="yes"?>
<Relationships xmlns="http://schemas.openxmlformats.org/package/2006/relationships"><Relationship Id="rId3" Type="http://schemas.openxmlformats.org/officeDocument/2006/relationships/image" Target="../media/image60.svg"/><Relationship Id="rId2" Type="http://schemas.openxmlformats.org/officeDocument/2006/relationships/image" Target="../media/image59.png"/><Relationship Id="rId1" Type="http://schemas.openxmlformats.org/officeDocument/2006/relationships/slideLayout" Target="../slideLayouts/slideLayout7.xml"/><Relationship Id="rId5" Type="http://schemas.openxmlformats.org/officeDocument/2006/relationships/image" Target="../media/image54.svg"/><Relationship Id="rId4" Type="http://schemas.openxmlformats.org/officeDocument/2006/relationships/image" Target="../media/image53.png"/></Relationships>
</file>

<file path=ppt/slides/_rels/slide36.xml.rels><?xml version="1.0" encoding="UTF-8" standalone="yes"?>
<Relationships xmlns="http://schemas.openxmlformats.org/package/2006/relationships"><Relationship Id="rId2" Type="http://schemas.openxmlformats.org/officeDocument/2006/relationships/image" Target="../media/image61.png"/><Relationship Id="rId1" Type="http://schemas.openxmlformats.org/officeDocument/2006/relationships/slideLayout" Target="../slideLayouts/slideLayout7.xml"/></Relationships>
</file>

<file path=ppt/slides/_rels/slide37.xml.rels><?xml version="1.0" encoding="UTF-8" standalone="yes"?>
<Relationships xmlns="http://schemas.openxmlformats.org/package/2006/relationships"><Relationship Id="rId3" Type="http://schemas.openxmlformats.org/officeDocument/2006/relationships/image" Target="../media/image540.png"/><Relationship Id="rId2" Type="http://schemas.openxmlformats.org/officeDocument/2006/relationships/image" Target="../media/image62.png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550.png"/></Relationships>
</file>

<file path=ppt/slides/_rels/slide38.xml.rels><?xml version="1.0" encoding="UTF-8" standalone="yes"?>
<Relationships xmlns="http://schemas.openxmlformats.org/package/2006/relationships"><Relationship Id="rId8" Type="http://schemas.openxmlformats.org/officeDocument/2006/relationships/image" Target="../media/image60.svg"/><Relationship Id="rId3" Type="http://schemas.openxmlformats.org/officeDocument/2006/relationships/image" Target="../media/image54.svg"/><Relationship Id="rId7" Type="http://schemas.openxmlformats.org/officeDocument/2006/relationships/image" Target="../media/image59.png"/><Relationship Id="rId2" Type="http://schemas.openxmlformats.org/officeDocument/2006/relationships/image" Target="../media/image53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580.png"/><Relationship Id="rId5" Type="http://schemas.openxmlformats.org/officeDocument/2006/relationships/image" Target="../media/image64.svg"/><Relationship Id="rId4" Type="http://schemas.openxmlformats.org/officeDocument/2006/relationships/image" Target="../media/image63.png"/><Relationship Id="rId9" Type="http://schemas.openxmlformats.org/officeDocument/2006/relationships/image" Target="../media/image550.png"/></Relationships>
</file>

<file path=ppt/slides/_rels/slide39.xml.rels><?xml version="1.0" encoding="UTF-8" standalone="yes"?>
<Relationships xmlns="http://schemas.openxmlformats.org/package/2006/relationships"><Relationship Id="rId3" Type="http://schemas.openxmlformats.org/officeDocument/2006/relationships/image" Target="../media/image66.png"/><Relationship Id="rId2" Type="http://schemas.openxmlformats.org/officeDocument/2006/relationships/image" Target="../media/image65.png"/><Relationship Id="rId1" Type="http://schemas.openxmlformats.org/officeDocument/2006/relationships/slideLayout" Target="../slideLayouts/slideLayout7.xml"/></Relationships>
</file>

<file path=ppt/slides/_rels/slide4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90.png"/><Relationship Id="rId2" Type="http://schemas.openxmlformats.org/officeDocument/2006/relationships/chart" Target="../charts/chart1.xml"/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17E23D3-032D-4C20-8F5B-1840BC892975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it-IT" dirty="0"/>
              <a:t>Patients</a:t>
            </a:r>
            <a:endParaRPr lang="nl-NL" dirty="0"/>
          </a:p>
        </p:txBody>
      </p:sp>
    </p:spTree>
    <p:extLst>
      <p:ext uri="{BB962C8B-B14F-4D97-AF65-F5344CB8AC3E}">
        <p14:creationId xmlns:p14="http://schemas.microsoft.com/office/powerpoint/2010/main" val="20170179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spd="slow">
        <p159:morph option="byObject"/>
      </p:transition>
    </mc:Choice>
    <mc:Fallback xmlns="">
      <p:transition spd="slow">
        <p:fade/>
      </p:transition>
    </mc:Fallback>
  </mc:AlternateContent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Graphic 2">
            <a:extLst>
              <a:ext uri="{FF2B5EF4-FFF2-40B4-BE49-F238E27FC236}">
                <a16:creationId xmlns:a16="http://schemas.microsoft.com/office/drawing/2014/main" id="{27A7B6BB-C9E7-42BB-9046-E7EF2AC5E8CA}"/>
              </a:ext>
            </a:extLst>
          </p:cNvPr>
          <p:cNvPicPr>
            <a:picLocks noChangeAspect="1"/>
          </p:cNvPicPr>
          <p:nvPr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3"/>
              </a:ext>
            </a:extLst>
          </a:blip>
          <a:srcRect l="4673" t="6127" r="2358" b="15388"/>
          <a:stretch/>
        </p:blipFill>
        <p:spPr>
          <a:xfrm>
            <a:off x="561472" y="894345"/>
            <a:ext cx="4427621" cy="3737807"/>
          </a:xfrm>
          <a:prstGeom prst="rect">
            <a:avLst/>
          </a:prstGeom>
        </p:spPr>
      </p:pic>
      <p:pic>
        <p:nvPicPr>
          <p:cNvPr id="5" name="Graphic 4">
            <a:extLst>
              <a:ext uri="{FF2B5EF4-FFF2-40B4-BE49-F238E27FC236}">
                <a16:creationId xmlns:a16="http://schemas.microsoft.com/office/drawing/2014/main" id="{37652BC0-FD39-45D2-8A89-277F3528032E}"/>
              </a:ext>
            </a:extLst>
          </p:cNvPr>
          <p:cNvPicPr>
            <a:picLocks noChangeAspect="1"/>
          </p:cNvPicPr>
          <p:nvPr/>
        </p:nvPicPr>
        <p:blipFill rotWithShape="1">
          <a:blip r:embed="rId4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5"/>
              </a:ext>
            </a:extLst>
          </a:blip>
          <a:srcRect l="2842" t="1790" r="19895" b="9508"/>
          <a:stretch/>
        </p:blipFill>
        <p:spPr>
          <a:xfrm>
            <a:off x="6096000" y="894345"/>
            <a:ext cx="5534528" cy="4765426"/>
          </a:xfrm>
          <a:prstGeom prst="rect">
            <a:avLst/>
          </a:prstGeom>
        </p:spPr>
      </p:pic>
      <p:sp>
        <p:nvSpPr>
          <p:cNvPr id="7" name="TextBox 6">
            <a:extLst>
              <a:ext uri="{FF2B5EF4-FFF2-40B4-BE49-F238E27FC236}">
                <a16:creationId xmlns:a16="http://schemas.microsoft.com/office/drawing/2014/main" id="{2E91A7E8-B31F-4EB2-A136-C957064F6D69}"/>
              </a:ext>
            </a:extLst>
          </p:cNvPr>
          <p:cNvSpPr txBox="1"/>
          <p:nvPr/>
        </p:nvSpPr>
        <p:spPr>
          <a:xfrm>
            <a:off x="0" y="0"/>
            <a:ext cx="2542674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it-IT" u="sng" dirty="0"/>
              <a:t>Patient ∩ Lab Meas</a:t>
            </a:r>
            <a:endParaRPr lang="nl-NL" u="sng" dirty="0"/>
          </a:p>
        </p:txBody>
      </p:sp>
    </p:spTree>
    <p:extLst>
      <p:ext uri="{BB962C8B-B14F-4D97-AF65-F5344CB8AC3E}">
        <p14:creationId xmlns:p14="http://schemas.microsoft.com/office/powerpoint/2010/main" val="2129715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spd="slow">
        <p159:morph option="byObject"/>
      </p:transition>
    </mc:Choice>
    <mc:Fallback xmlns="">
      <p:transition spd="slow">
        <p:fade/>
      </p:transition>
    </mc:Fallback>
  </mc:AlternateContent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17E23D3-032D-4C20-8F5B-1840BC892975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it-IT" dirty="0"/>
              <a:t>Afspraken</a:t>
            </a:r>
            <a:endParaRPr lang="nl-NL" dirty="0"/>
          </a:p>
        </p:txBody>
      </p:sp>
    </p:spTree>
    <p:extLst>
      <p:ext uri="{BB962C8B-B14F-4D97-AF65-F5344CB8AC3E}">
        <p14:creationId xmlns:p14="http://schemas.microsoft.com/office/powerpoint/2010/main" val="1242301480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spd="slow">
        <p159:morph option="byObject"/>
      </p:transition>
    </mc:Choice>
    <mc:Fallback xmlns="">
      <p:transition spd="slow">
        <p:fade/>
      </p:transition>
    </mc:Fallback>
  </mc:AlternateContent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Box 3">
            <a:extLst>
              <a:ext uri="{FF2B5EF4-FFF2-40B4-BE49-F238E27FC236}">
                <a16:creationId xmlns:a16="http://schemas.microsoft.com/office/drawing/2014/main" id="{D3C70155-7B24-4064-B0C3-5EEA6027BB53}"/>
              </a:ext>
            </a:extLst>
          </p:cNvPr>
          <p:cNvSpPr txBox="1"/>
          <p:nvPr/>
        </p:nvSpPr>
        <p:spPr>
          <a:xfrm>
            <a:off x="0" y="0"/>
            <a:ext cx="400250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it-IT" u="sng" dirty="0"/>
              <a:t>Appointment Code to be in the LHS</a:t>
            </a:r>
            <a:endParaRPr lang="nl-NL" u="sng" dirty="0"/>
          </a:p>
        </p:txBody>
      </p:sp>
      <p:graphicFrame>
        <p:nvGraphicFramePr>
          <p:cNvPr id="5" name="Table 4">
            <a:extLst>
              <a:ext uri="{FF2B5EF4-FFF2-40B4-BE49-F238E27FC236}">
                <a16:creationId xmlns:a16="http://schemas.microsoft.com/office/drawing/2014/main" id="{F826DC9C-B1EF-49B7-8DDB-0DD4D517C85F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357464091"/>
              </p:ext>
            </p:extLst>
          </p:nvPr>
        </p:nvGraphicFramePr>
        <p:xfrm>
          <a:off x="1141663" y="2493276"/>
          <a:ext cx="4064000" cy="1871445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32000">
                  <a:extLst>
                    <a:ext uri="{9D8B030D-6E8A-4147-A177-3AD203B41FA5}">
                      <a16:colId xmlns:a16="http://schemas.microsoft.com/office/drawing/2014/main" val="2918251336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2716798460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it-IT" dirty="0"/>
                        <a:t>CODE</a:t>
                      </a:r>
                      <a:endParaRPr lang="nl-NL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it-IT" dirty="0"/>
                        <a:t>OLD CODE</a:t>
                      </a:r>
                      <a:endParaRPr lang="nl-NL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824183703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it-IT" dirty="0"/>
                        <a:t>NALG</a:t>
                      </a:r>
                      <a:endParaRPr lang="nl-NL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it-IT" dirty="0"/>
                        <a:t>NFALG</a:t>
                      </a:r>
                      <a:endParaRPr lang="nl-NL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227185396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it-IT" dirty="0"/>
                        <a:t>NGEH</a:t>
                      </a:r>
                      <a:endParaRPr lang="nl-NL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it-IT" dirty="0"/>
                        <a:t>NFGEH</a:t>
                      </a:r>
                      <a:endParaRPr lang="nl-NL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417749231"/>
                  </a:ext>
                </a:extLst>
              </a:tr>
              <a:tr h="388085">
                <a:tc>
                  <a:txBody>
                    <a:bodyPr/>
                    <a:lstStyle/>
                    <a:p>
                      <a:r>
                        <a:rPr lang="it-IT" dirty="0"/>
                        <a:t>NVCMI+</a:t>
                      </a:r>
                      <a:endParaRPr lang="nl-NL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it-IT" dirty="0"/>
                        <a:t>NFVMI+</a:t>
                      </a:r>
                      <a:endParaRPr lang="nl-NL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94843178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it-IT" dirty="0"/>
                        <a:t>NVAL+</a:t>
                      </a:r>
                      <a:endParaRPr lang="nl-NL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it-IT" dirty="0"/>
                        <a:t>NFVAL+</a:t>
                      </a:r>
                      <a:endParaRPr lang="nl-NL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645656963"/>
                  </a:ext>
                </a:extLst>
              </a:tr>
            </a:tbl>
          </a:graphicData>
        </a:graphic>
      </p:graphicFrame>
      <p:sp>
        <p:nvSpPr>
          <p:cNvPr id="6" name="TextBox 5">
            <a:extLst>
              <a:ext uri="{FF2B5EF4-FFF2-40B4-BE49-F238E27FC236}">
                <a16:creationId xmlns:a16="http://schemas.microsoft.com/office/drawing/2014/main" id="{1E04C170-6B5B-4F31-8C8D-F2DB0D2EBAEF}"/>
              </a:ext>
            </a:extLst>
          </p:cNvPr>
          <p:cNvSpPr txBox="1"/>
          <p:nvPr/>
        </p:nvSpPr>
        <p:spPr>
          <a:xfrm>
            <a:off x="5791200" y="2828833"/>
            <a:ext cx="5550568" cy="120032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it-IT" dirty="0"/>
              <a:t>4 out of 26 codes are for eligible patients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it-IT" dirty="0"/>
              <a:t>Inclusion doesn’t take into account haematochemicals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it-IT" dirty="0"/>
              <a:t>Inclusion doesn’t take into account the text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it-IT" dirty="0"/>
              <a:t>Better clusterize?</a:t>
            </a:r>
            <a:endParaRPr lang="nl-NL" dirty="0"/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25249981-8A26-4A9C-9403-D321C871732D}"/>
              </a:ext>
            </a:extLst>
          </p:cNvPr>
          <p:cNvSpPr/>
          <p:nvPr/>
        </p:nvSpPr>
        <p:spPr>
          <a:xfrm>
            <a:off x="292768" y="685073"/>
            <a:ext cx="11606464" cy="646331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just"/>
            <a:r>
              <a:rPr lang="nl-NL" dirty="0">
                <a:latin typeface="Gintronic"/>
              </a:rPr>
              <a:t>'NFFRAC’,'NFPOS’,'NFALG’,'NONCO’,'NFVPVAL', 'NFVAL+', 'NFOST', 'NFNEF', 'NFGEHPSO', 'NFPSO', 'NF', 'NPOSK', 'NFVPGEH', 'NTC', 'NFGEH', 'NFPSOVMI', 'NTCPOS', 'NFVMI+', 'NFVPVMI', 'NFSP', 'TCN', 'NSPOS', 'NFSOGEH', 'NS', 'STSN', 'NSCREEN'</a:t>
            </a:r>
            <a:endParaRPr lang="nl-NL" dirty="0"/>
          </a:p>
        </p:txBody>
      </p:sp>
    </p:spTree>
    <p:extLst>
      <p:ext uri="{BB962C8B-B14F-4D97-AF65-F5344CB8AC3E}">
        <p14:creationId xmlns:p14="http://schemas.microsoft.com/office/powerpoint/2010/main" val="1651137104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spd="slow">
        <p159:morph option="byObject"/>
      </p:transition>
    </mc:Choice>
    <mc:Fallback xmlns="">
      <p:transition spd="slow">
        <p:fade/>
      </p:transition>
    </mc:Fallback>
  </mc:AlternateContent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17E23D3-032D-4C20-8F5B-1840BC892975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it-IT" dirty="0"/>
              <a:t>Lab Measurements</a:t>
            </a:r>
            <a:endParaRPr lang="nl-NL" dirty="0"/>
          </a:p>
        </p:txBody>
      </p:sp>
    </p:spTree>
    <p:extLst>
      <p:ext uri="{BB962C8B-B14F-4D97-AF65-F5344CB8AC3E}">
        <p14:creationId xmlns:p14="http://schemas.microsoft.com/office/powerpoint/2010/main" val="2687888787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spd="slow">
        <p159:morph option="byObject"/>
      </p:transition>
    </mc:Choice>
    <mc:Fallback xmlns="">
      <p:transition spd="slow">
        <p:fade/>
      </p:transition>
    </mc:Fallback>
  </mc:AlternateContent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A60B4FD1-F66A-46C8-A96B-C6DD32132922}"/>
              </a:ext>
            </a:extLst>
          </p:cNvPr>
          <p:cNvSpPr txBox="1"/>
          <p:nvPr/>
        </p:nvSpPr>
        <p:spPr>
          <a:xfrm>
            <a:off x="0" y="0"/>
            <a:ext cx="4708358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it-IT" u="sng" dirty="0"/>
              <a:t>Instrumental Resolutions</a:t>
            </a:r>
            <a:endParaRPr lang="nl-NL" u="sng" dirty="0"/>
          </a:p>
        </p:txBody>
      </p:sp>
      <p:graphicFrame>
        <p:nvGraphicFramePr>
          <p:cNvPr id="3" name="Table 2">
            <a:extLst>
              <a:ext uri="{FF2B5EF4-FFF2-40B4-BE49-F238E27FC236}">
                <a16:creationId xmlns:a16="http://schemas.microsoft.com/office/drawing/2014/main" id="{83FC426F-1024-4721-B560-E6BFB1CE0090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436792572"/>
              </p:ext>
            </p:extLst>
          </p:nvPr>
        </p:nvGraphicFramePr>
        <p:xfrm>
          <a:off x="1243262" y="903959"/>
          <a:ext cx="9464845" cy="4606498"/>
        </p:xfrm>
        <a:graphic>
          <a:graphicData uri="http://schemas.openxmlformats.org/drawingml/2006/table">
            <a:tbl>
              <a:tblPr firstRow="1">
                <a:tableStyleId>{9D7B26C5-4107-4FEC-AEDC-1716B250A1EF}</a:tableStyleId>
              </a:tblPr>
              <a:tblGrid>
                <a:gridCol w="1836214">
                  <a:extLst>
                    <a:ext uri="{9D8B030D-6E8A-4147-A177-3AD203B41FA5}">
                      <a16:colId xmlns:a16="http://schemas.microsoft.com/office/drawing/2014/main" val="2076889326"/>
                    </a:ext>
                  </a:extLst>
                </a:gridCol>
                <a:gridCol w="1418892">
                  <a:extLst>
                    <a:ext uri="{9D8B030D-6E8A-4147-A177-3AD203B41FA5}">
                      <a16:colId xmlns:a16="http://schemas.microsoft.com/office/drawing/2014/main" val="2767547104"/>
                    </a:ext>
                  </a:extLst>
                </a:gridCol>
                <a:gridCol w="1335428">
                  <a:extLst>
                    <a:ext uri="{9D8B030D-6E8A-4147-A177-3AD203B41FA5}">
                      <a16:colId xmlns:a16="http://schemas.microsoft.com/office/drawing/2014/main" val="4204682836"/>
                    </a:ext>
                  </a:extLst>
                </a:gridCol>
                <a:gridCol w="2420462">
                  <a:extLst>
                    <a:ext uri="{9D8B030D-6E8A-4147-A177-3AD203B41FA5}">
                      <a16:colId xmlns:a16="http://schemas.microsoft.com/office/drawing/2014/main" val="4008304797"/>
                    </a:ext>
                  </a:extLst>
                </a:gridCol>
                <a:gridCol w="2453849">
                  <a:extLst>
                    <a:ext uri="{9D8B030D-6E8A-4147-A177-3AD203B41FA5}">
                      <a16:colId xmlns:a16="http://schemas.microsoft.com/office/drawing/2014/main" val="2756115298"/>
                    </a:ext>
                  </a:extLst>
                </a:gridCol>
              </a:tblGrid>
              <a:tr h="354346">
                <a:tc>
                  <a:txBody>
                    <a:bodyPr/>
                    <a:lstStyle/>
                    <a:p>
                      <a:pPr algn="ctr" fontAlgn="ctr"/>
                      <a:endParaRPr lang="nl-NL" sz="1600" b="0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nl-NL" sz="1600" u="none" strike="noStrike">
                          <a:effectLst/>
                        </a:rPr>
                        <a:t>unit</a:t>
                      </a:r>
                      <a:endParaRPr lang="nl-NL" sz="1600" b="1" i="0" u="none" strike="noStrike">
                        <a:solidFill>
                          <a:srgbClr val="000000"/>
                        </a:solidFill>
                        <a:effectLst/>
                        <a:latin typeface="Segoe UI" panose="020B0502040204020203" pitchFamily="34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nl-NL" sz="1600" u="none" strike="noStrike">
                          <a:effectLst/>
                        </a:rPr>
                        <a:t>healthyRange</a:t>
                      </a:r>
                      <a:endParaRPr lang="nl-NL" sz="1600" b="1" i="0" u="none" strike="noStrike">
                        <a:solidFill>
                          <a:srgbClr val="000000"/>
                        </a:solidFill>
                        <a:effectLst/>
                        <a:latin typeface="Segoe UI" panose="020B0502040204020203" pitchFamily="34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nl-NL" sz="1600" u="none" strike="noStrike">
                          <a:effectLst/>
                        </a:rPr>
                        <a:t>instrumentResolutionMin</a:t>
                      </a:r>
                      <a:endParaRPr lang="nl-NL" sz="1600" b="1" i="0" u="none" strike="noStrike">
                        <a:solidFill>
                          <a:srgbClr val="000000"/>
                        </a:solidFill>
                        <a:effectLst/>
                        <a:latin typeface="Segoe UI" panose="020B0502040204020203" pitchFamily="34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nl-NL" sz="1600" u="none" strike="noStrike">
                          <a:effectLst/>
                        </a:rPr>
                        <a:t>instrumentResolutionMax</a:t>
                      </a:r>
                      <a:endParaRPr lang="nl-NL" sz="1600" b="1" i="0" u="none" strike="noStrike">
                        <a:solidFill>
                          <a:srgbClr val="000000"/>
                        </a:solidFill>
                        <a:effectLst/>
                        <a:latin typeface="Segoe UI" panose="020B0502040204020203" pitchFamily="34" charset="0"/>
                      </a:endParaRPr>
                    </a:p>
                  </a:txBody>
                  <a:tcPr marL="9525" marR="9525" marT="9525" marB="0" anchor="ctr"/>
                </a:tc>
                <a:extLst>
                  <a:ext uri="{0D108BD9-81ED-4DB2-BD59-A6C34878D82A}">
                    <a16:rowId xmlns:a16="http://schemas.microsoft.com/office/drawing/2014/main" val="1008125472"/>
                  </a:ext>
                </a:extLst>
              </a:tr>
              <a:tr h="354346">
                <a:tc>
                  <a:txBody>
                    <a:bodyPr/>
                    <a:lstStyle/>
                    <a:p>
                      <a:pPr algn="ctr" fontAlgn="ctr"/>
                      <a:r>
                        <a:rPr lang="nl-NL" sz="1600" u="none" strike="noStrike" dirty="0">
                          <a:effectLst/>
                        </a:rPr>
                        <a:t>CRP</a:t>
                      </a:r>
                      <a:endParaRPr lang="nl-NL" sz="1600" b="0" i="0" u="none" strike="noStrike" dirty="0">
                        <a:solidFill>
                          <a:srgbClr val="000000"/>
                        </a:solidFill>
                        <a:effectLst/>
                        <a:latin typeface="Segoe UI" panose="020B0502040204020203" pitchFamily="34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nl-NL" sz="1600" u="none" strike="noStrike">
                          <a:effectLst/>
                        </a:rPr>
                        <a:t>mg/L</a:t>
                      </a:r>
                      <a:endParaRPr lang="nl-NL" sz="1600" b="0" i="0" u="none" strike="noStrike">
                        <a:solidFill>
                          <a:srgbClr val="000000"/>
                        </a:solidFill>
                        <a:effectLst/>
                        <a:latin typeface="Segoe UI" panose="020B0502040204020203" pitchFamily="34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nl-NL" sz="1600" u="none" strike="noStrike">
                          <a:effectLst/>
                        </a:rPr>
                        <a:t>0 - 10</a:t>
                      </a:r>
                      <a:endParaRPr lang="nl-NL" sz="1600" b="0" i="0" u="none" strike="noStrike">
                        <a:solidFill>
                          <a:srgbClr val="000000"/>
                        </a:solidFill>
                        <a:effectLst/>
                        <a:latin typeface="Segoe UI" panose="020B0502040204020203" pitchFamily="34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nl-NL" sz="1600" u="none" strike="noStrike">
                          <a:effectLst/>
                        </a:rPr>
                        <a:t>0.5</a:t>
                      </a:r>
                      <a:endParaRPr lang="nl-NL" sz="1600" b="0" i="0" u="none" strike="noStrike">
                        <a:solidFill>
                          <a:srgbClr val="000000"/>
                        </a:solidFill>
                        <a:effectLst/>
                        <a:latin typeface="Segoe UI" panose="020B0502040204020203" pitchFamily="34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nl-NL" sz="1600" u="none" strike="noStrike">
                          <a:effectLst/>
                        </a:rPr>
                        <a:t>624</a:t>
                      </a:r>
                      <a:endParaRPr lang="nl-NL" sz="1600" b="0" i="0" u="none" strike="noStrike">
                        <a:solidFill>
                          <a:srgbClr val="000000"/>
                        </a:solidFill>
                        <a:effectLst/>
                        <a:latin typeface="Segoe UI" panose="020B0502040204020203" pitchFamily="34" charset="0"/>
                      </a:endParaRPr>
                    </a:p>
                  </a:txBody>
                  <a:tcPr marL="9525" marR="9525" marT="9525" marB="0" anchor="ctr"/>
                </a:tc>
                <a:extLst>
                  <a:ext uri="{0D108BD9-81ED-4DB2-BD59-A6C34878D82A}">
                    <a16:rowId xmlns:a16="http://schemas.microsoft.com/office/drawing/2014/main" val="612131383"/>
                  </a:ext>
                </a:extLst>
              </a:tr>
              <a:tr h="354346">
                <a:tc>
                  <a:txBody>
                    <a:bodyPr/>
                    <a:lstStyle/>
                    <a:p>
                      <a:pPr algn="ctr" fontAlgn="ctr"/>
                      <a:r>
                        <a:rPr lang="nl-NL" sz="1600" u="none" strike="noStrike" dirty="0">
                          <a:effectLst/>
                        </a:rPr>
                        <a:t>Cholesterol</a:t>
                      </a:r>
                      <a:endParaRPr lang="nl-NL" sz="1600" b="0" i="0" u="none" strike="noStrike" dirty="0">
                        <a:solidFill>
                          <a:srgbClr val="000000"/>
                        </a:solidFill>
                        <a:effectLst/>
                        <a:latin typeface="Segoe UI" panose="020B0502040204020203" pitchFamily="34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nl-NL" sz="1600" u="none" strike="noStrike">
                          <a:effectLst/>
                        </a:rPr>
                        <a:t>mmol/L</a:t>
                      </a:r>
                      <a:endParaRPr lang="nl-NL" sz="1600" b="0" i="0" u="none" strike="noStrike">
                        <a:solidFill>
                          <a:srgbClr val="000000"/>
                        </a:solidFill>
                        <a:effectLst/>
                        <a:latin typeface="Segoe UI" panose="020B0502040204020203" pitchFamily="34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nl-NL" sz="1600" u="none" strike="noStrike">
                          <a:effectLst/>
                        </a:rPr>
                        <a:t>3.5 - 6.5</a:t>
                      </a:r>
                      <a:endParaRPr lang="nl-NL" sz="1600" b="0" i="0" u="none" strike="noStrike">
                        <a:solidFill>
                          <a:srgbClr val="000000"/>
                        </a:solidFill>
                        <a:effectLst/>
                        <a:latin typeface="Segoe UI" panose="020B0502040204020203" pitchFamily="34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nl-NL" sz="1600" u="none" strike="noStrike">
                          <a:effectLst/>
                        </a:rPr>
                        <a:t>0.65</a:t>
                      </a:r>
                      <a:endParaRPr lang="nl-NL" sz="1600" b="0" i="0" u="none" strike="noStrike">
                        <a:solidFill>
                          <a:srgbClr val="000000"/>
                        </a:solidFill>
                        <a:effectLst/>
                        <a:latin typeface="Segoe UI" panose="020B0502040204020203" pitchFamily="34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nl-NL" sz="1600" u="none" strike="noStrike">
                          <a:effectLst/>
                        </a:rPr>
                        <a:t>32</a:t>
                      </a:r>
                      <a:endParaRPr lang="nl-NL" sz="1600" b="0" i="0" u="none" strike="noStrike">
                        <a:solidFill>
                          <a:srgbClr val="000000"/>
                        </a:solidFill>
                        <a:effectLst/>
                        <a:latin typeface="Segoe UI" panose="020B0502040204020203" pitchFamily="34" charset="0"/>
                      </a:endParaRPr>
                    </a:p>
                  </a:txBody>
                  <a:tcPr marL="9525" marR="9525" marT="9525" marB="0" anchor="ctr"/>
                </a:tc>
                <a:extLst>
                  <a:ext uri="{0D108BD9-81ED-4DB2-BD59-A6C34878D82A}">
                    <a16:rowId xmlns:a16="http://schemas.microsoft.com/office/drawing/2014/main" val="3942700797"/>
                  </a:ext>
                </a:extLst>
              </a:tr>
              <a:tr h="354346">
                <a:tc>
                  <a:txBody>
                    <a:bodyPr/>
                    <a:lstStyle/>
                    <a:p>
                      <a:pPr algn="ctr" fontAlgn="ctr"/>
                      <a:r>
                        <a:rPr lang="nl-NL" sz="1600" u="none" strike="noStrike" dirty="0">
                          <a:effectLst/>
                        </a:rPr>
                        <a:t>HDL Cholesterol</a:t>
                      </a:r>
                      <a:endParaRPr lang="nl-NL" sz="1600" b="0" i="0" u="none" strike="noStrike" dirty="0">
                        <a:solidFill>
                          <a:srgbClr val="000000"/>
                        </a:solidFill>
                        <a:effectLst/>
                        <a:latin typeface="Segoe UI" panose="020B0502040204020203" pitchFamily="34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nl-NL" sz="1600" u="none" strike="noStrike">
                          <a:effectLst/>
                        </a:rPr>
                        <a:t>mmol/L</a:t>
                      </a:r>
                      <a:endParaRPr lang="nl-NL" sz="1600" b="0" i="0" u="none" strike="noStrike">
                        <a:solidFill>
                          <a:srgbClr val="000000"/>
                        </a:solidFill>
                        <a:effectLst/>
                        <a:latin typeface="Segoe UI" panose="020B0502040204020203" pitchFamily="34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nl-NL" sz="1600" u="none" strike="noStrike">
                          <a:effectLst/>
                        </a:rPr>
                        <a:t>1.10 -</a:t>
                      </a:r>
                      <a:endParaRPr lang="nl-NL" sz="1600" b="0" i="0" u="none" strike="noStrike">
                        <a:solidFill>
                          <a:srgbClr val="000000"/>
                        </a:solidFill>
                        <a:effectLst/>
                        <a:latin typeface="Segoe UI" panose="020B0502040204020203" pitchFamily="34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nl-NL" sz="1600" u="none" strike="noStrike">
                          <a:effectLst/>
                        </a:rPr>
                        <a:t>0.1</a:t>
                      </a:r>
                      <a:endParaRPr lang="nl-NL" sz="1600" b="0" i="0" u="none" strike="noStrike">
                        <a:solidFill>
                          <a:srgbClr val="000000"/>
                        </a:solidFill>
                        <a:effectLst/>
                        <a:latin typeface="Segoe UI" panose="020B0502040204020203" pitchFamily="34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nl-NL" sz="1600" u="none" strike="noStrike">
                          <a:effectLst/>
                        </a:rPr>
                        <a:t>10</a:t>
                      </a:r>
                      <a:endParaRPr lang="nl-NL" sz="1600" b="0" i="0" u="none" strike="noStrike">
                        <a:solidFill>
                          <a:srgbClr val="000000"/>
                        </a:solidFill>
                        <a:effectLst/>
                        <a:latin typeface="Segoe UI" panose="020B0502040204020203" pitchFamily="34" charset="0"/>
                      </a:endParaRPr>
                    </a:p>
                  </a:txBody>
                  <a:tcPr marL="9525" marR="9525" marT="9525" marB="0" anchor="ctr"/>
                </a:tc>
                <a:extLst>
                  <a:ext uri="{0D108BD9-81ED-4DB2-BD59-A6C34878D82A}">
                    <a16:rowId xmlns:a16="http://schemas.microsoft.com/office/drawing/2014/main" val="2595646813"/>
                  </a:ext>
                </a:extLst>
              </a:tr>
              <a:tr h="354346">
                <a:tc>
                  <a:txBody>
                    <a:bodyPr/>
                    <a:lstStyle/>
                    <a:p>
                      <a:pPr algn="ctr" fontAlgn="ctr"/>
                      <a:r>
                        <a:rPr lang="nl-NL" sz="1600" u="none" strike="noStrike" dirty="0">
                          <a:effectLst/>
                        </a:rPr>
                        <a:t>HbA1c</a:t>
                      </a:r>
                      <a:endParaRPr lang="nl-NL" sz="1600" b="0" i="0" u="none" strike="noStrike" dirty="0">
                        <a:solidFill>
                          <a:srgbClr val="000000"/>
                        </a:solidFill>
                        <a:effectLst/>
                        <a:latin typeface="Segoe UI" panose="020B0502040204020203" pitchFamily="34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nl-NL" sz="1600" u="none" strike="noStrike">
                          <a:effectLst/>
                        </a:rPr>
                        <a:t>mmol/mol</a:t>
                      </a:r>
                      <a:endParaRPr lang="nl-NL" sz="1600" b="0" i="0" u="none" strike="noStrike">
                        <a:solidFill>
                          <a:srgbClr val="000000"/>
                        </a:solidFill>
                        <a:effectLst/>
                        <a:latin typeface="Segoe UI" panose="020B0502040204020203" pitchFamily="34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nl-NL" sz="1600" u="none" strike="noStrike">
                          <a:effectLst/>
                        </a:rPr>
                        <a:t>20 - 42</a:t>
                      </a:r>
                      <a:endParaRPr lang="nl-NL" sz="1600" b="0" i="0" u="none" strike="noStrike">
                        <a:solidFill>
                          <a:srgbClr val="000000"/>
                        </a:solidFill>
                        <a:effectLst/>
                        <a:latin typeface="Segoe UI" panose="020B0502040204020203" pitchFamily="34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nl-NL" sz="1600" u="none" strike="noStrike">
                          <a:effectLst/>
                        </a:rPr>
                        <a:t>9</a:t>
                      </a:r>
                      <a:endParaRPr lang="nl-NL" sz="1600" b="0" i="0" u="none" strike="noStrike">
                        <a:solidFill>
                          <a:srgbClr val="000000"/>
                        </a:solidFill>
                        <a:effectLst/>
                        <a:latin typeface="Segoe UI" panose="020B0502040204020203" pitchFamily="34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nl-NL" sz="1600" u="none" strike="noStrike" dirty="0">
                          <a:effectLst/>
                        </a:rPr>
                        <a:t>195*</a:t>
                      </a:r>
                      <a:endParaRPr lang="nl-NL" sz="1600" b="0" i="0" u="none" strike="noStrike" dirty="0">
                        <a:solidFill>
                          <a:srgbClr val="000000"/>
                        </a:solidFill>
                        <a:effectLst/>
                        <a:latin typeface="Segoe UI" panose="020B0502040204020203" pitchFamily="34" charset="0"/>
                      </a:endParaRPr>
                    </a:p>
                  </a:txBody>
                  <a:tcPr marL="9525" marR="9525" marT="9525" marB="0" anchor="ctr"/>
                </a:tc>
                <a:extLst>
                  <a:ext uri="{0D108BD9-81ED-4DB2-BD59-A6C34878D82A}">
                    <a16:rowId xmlns:a16="http://schemas.microsoft.com/office/drawing/2014/main" val="3875667427"/>
                  </a:ext>
                </a:extLst>
              </a:tr>
              <a:tr h="354346">
                <a:tc>
                  <a:txBody>
                    <a:bodyPr/>
                    <a:lstStyle/>
                    <a:p>
                      <a:pPr algn="ctr" fontAlgn="ctr"/>
                      <a:r>
                        <a:rPr lang="nl-NL" sz="1600" u="none" strike="noStrike" dirty="0">
                          <a:effectLst/>
                        </a:rPr>
                        <a:t>Hemoglobine</a:t>
                      </a:r>
                      <a:endParaRPr lang="nl-NL" sz="1600" b="0" i="0" u="none" strike="noStrike" dirty="0">
                        <a:solidFill>
                          <a:srgbClr val="000000"/>
                        </a:solidFill>
                        <a:effectLst/>
                        <a:latin typeface="Segoe UI" panose="020B0502040204020203" pitchFamily="34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nl-NL" sz="1600" u="none" strike="noStrike">
                          <a:effectLst/>
                        </a:rPr>
                        <a:t>mmol/L</a:t>
                      </a:r>
                      <a:endParaRPr lang="nl-NL" sz="1600" b="0" i="0" u="none" strike="noStrike">
                        <a:solidFill>
                          <a:srgbClr val="000000"/>
                        </a:solidFill>
                        <a:effectLst/>
                        <a:latin typeface="Segoe UI" panose="020B0502040204020203" pitchFamily="34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nl-NL" sz="1600" u="none" strike="noStrike">
                          <a:effectLst/>
                        </a:rPr>
                        <a:t>7.4 - 9.6</a:t>
                      </a:r>
                      <a:endParaRPr lang="nl-NL" sz="1600" b="0" i="0" u="none" strike="noStrike">
                        <a:solidFill>
                          <a:srgbClr val="000000"/>
                        </a:solidFill>
                        <a:effectLst/>
                        <a:latin typeface="Segoe UI" panose="020B0502040204020203" pitchFamily="34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nl-NL" sz="1600" u="none" strike="noStrike">
                          <a:effectLst/>
                        </a:rPr>
                        <a:t>0.6</a:t>
                      </a:r>
                      <a:endParaRPr lang="nl-NL" sz="1600" b="0" i="0" u="none" strike="noStrike">
                        <a:solidFill>
                          <a:srgbClr val="000000"/>
                        </a:solidFill>
                        <a:effectLst/>
                        <a:latin typeface="Segoe UI" panose="020B0502040204020203" pitchFamily="34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nl-NL" sz="1600" u="none" strike="noStrike">
                          <a:effectLst/>
                        </a:rPr>
                        <a:t>16</a:t>
                      </a:r>
                      <a:endParaRPr lang="nl-NL" sz="1600" b="0" i="0" u="none" strike="noStrike">
                        <a:solidFill>
                          <a:srgbClr val="000000"/>
                        </a:solidFill>
                        <a:effectLst/>
                        <a:latin typeface="Segoe UI" panose="020B0502040204020203" pitchFamily="34" charset="0"/>
                      </a:endParaRPr>
                    </a:p>
                  </a:txBody>
                  <a:tcPr marL="9525" marR="9525" marT="9525" marB="0" anchor="ctr"/>
                </a:tc>
                <a:extLst>
                  <a:ext uri="{0D108BD9-81ED-4DB2-BD59-A6C34878D82A}">
                    <a16:rowId xmlns:a16="http://schemas.microsoft.com/office/drawing/2014/main" val="2347721487"/>
                  </a:ext>
                </a:extLst>
              </a:tr>
              <a:tr h="354346">
                <a:tc>
                  <a:txBody>
                    <a:bodyPr/>
                    <a:lstStyle/>
                    <a:p>
                      <a:pPr algn="ctr" fontAlgn="ctr"/>
                      <a:r>
                        <a:rPr lang="nl-NL" sz="1600" u="none" strike="noStrike" dirty="0">
                          <a:effectLst/>
                        </a:rPr>
                        <a:t>Kalium</a:t>
                      </a:r>
                      <a:endParaRPr lang="nl-NL" sz="1600" b="0" i="0" u="none" strike="noStrike" dirty="0">
                        <a:solidFill>
                          <a:srgbClr val="000000"/>
                        </a:solidFill>
                        <a:effectLst/>
                        <a:latin typeface="Segoe UI" panose="020B0502040204020203" pitchFamily="34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nl-NL" sz="1600" u="none" strike="noStrike">
                          <a:effectLst/>
                        </a:rPr>
                        <a:t>mmol/L</a:t>
                      </a:r>
                      <a:endParaRPr lang="nl-NL" sz="1600" b="0" i="0" u="none" strike="noStrike">
                        <a:solidFill>
                          <a:srgbClr val="000000"/>
                        </a:solidFill>
                        <a:effectLst/>
                        <a:latin typeface="Segoe UI" panose="020B0502040204020203" pitchFamily="34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nl-NL" sz="1600" u="none" strike="noStrike">
                          <a:effectLst/>
                        </a:rPr>
                        <a:t>3.8 - 5.0</a:t>
                      </a:r>
                      <a:endParaRPr lang="nl-NL" sz="1600" b="0" i="0" u="none" strike="noStrike">
                        <a:solidFill>
                          <a:srgbClr val="000000"/>
                        </a:solidFill>
                        <a:effectLst/>
                        <a:latin typeface="Segoe UI" panose="020B0502040204020203" pitchFamily="34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nl-NL" sz="1600" u="none" strike="noStrike">
                          <a:effectLst/>
                        </a:rPr>
                        <a:t>1</a:t>
                      </a:r>
                      <a:endParaRPr lang="nl-NL" sz="1600" b="0" i="0" u="none" strike="noStrike">
                        <a:solidFill>
                          <a:srgbClr val="000000"/>
                        </a:solidFill>
                        <a:effectLst/>
                        <a:latin typeface="Segoe UI" panose="020B0502040204020203" pitchFamily="34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nl-NL" sz="1600" u="none" strike="noStrike">
                          <a:effectLst/>
                        </a:rPr>
                        <a:t>10</a:t>
                      </a:r>
                      <a:endParaRPr lang="nl-NL" sz="1600" b="0" i="0" u="none" strike="noStrike">
                        <a:solidFill>
                          <a:srgbClr val="000000"/>
                        </a:solidFill>
                        <a:effectLst/>
                        <a:latin typeface="Segoe UI" panose="020B0502040204020203" pitchFamily="34" charset="0"/>
                      </a:endParaRPr>
                    </a:p>
                  </a:txBody>
                  <a:tcPr marL="9525" marR="9525" marT="9525" marB="0" anchor="ctr"/>
                </a:tc>
                <a:extLst>
                  <a:ext uri="{0D108BD9-81ED-4DB2-BD59-A6C34878D82A}">
                    <a16:rowId xmlns:a16="http://schemas.microsoft.com/office/drawing/2014/main" val="3982828422"/>
                  </a:ext>
                </a:extLst>
              </a:tr>
              <a:tr h="354346">
                <a:tc>
                  <a:txBody>
                    <a:bodyPr/>
                    <a:lstStyle/>
                    <a:p>
                      <a:pPr algn="ctr" fontAlgn="ctr"/>
                      <a:r>
                        <a:rPr lang="nl-NL" sz="1600" u="none" strike="noStrike" dirty="0" err="1">
                          <a:effectLst/>
                        </a:rPr>
                        <a:t>Kreatinine</a:t>
                      </a:r>
                      <a:endParaRPr lang="nl-NL" sz="1600" b="0" i="0" u="none" strike="noStrike" dirty="0">
                        <a:solidFill>
                          <a:srgbClr val="000000"/>
                        </a:solidFill>
                        <a:effectLst/>
                        <a:latin typeface="Segoe UI" panose="020B0502040204020203" pitchFamily="34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nl-NL" sz="1600" u="none" strike="noStrike">
                          <a:effectLst/>
                        </a:rPr>
                        <a:t>µmol/L</a:t>
                      </a:r>
                      <a:endParaRPr lang="nl-NL" sz="1600" b="0" i="0" u="none" strike="noStrike">
                        <a:solidFill>
                          <a:srgbClr val="000000"/>
                        </a:solidFill>
                        <a:effectLst/>
                        <a:latin typeface="Segoe UI" panose="020B0502040204020203" pitchFamily="34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nl-NL" sz="1600" u="none" strike="noStrike">
                          <a:effectLst/>
                        </a:rPr>
                        <a:t>49 - 90</a:t>
                      </a:r>
                      <a:endParaRPr lang="nl-NL" sz="1600" b="0" i="0" u="none" strike="noStrike">
                        <a:solidFill>
                          <a:srgbClr val="000000"/>
                        </a:solidFill>
                        <a:effectLst/>
                        <a:latin typeface="Segoe UI" panose="020B0502040204020203" pitchFamily="34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nl-NL" sz="1600" u="none" strike="noStrike">
                          <a:effectLst/>
                        </a:rPr>
                        <a:t>13</a:t>
                      </a:r>
                      <a:endParaRPr lang="nl-NL" sz="1600" b="0" i="0" u="none" strike="noStrike">
                        <a:solidFill>
                          <a:srgbClr val="000000"/>
                        </a:solidFill>
                        <a:effectLst/>
                        <a:latin typeface="Segoe UI" panose="020B0502040204020203" pitchFamily="34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nl-NL" sz="1600" u="none" strike="noStrike">
                          <a:effectLst/>
                        </a:rPr>
                        <a:t>13000</a:t>
                      </a:r>
                      <a:endParaRPr lang="nl-NL" sz="1600" b="0" i="0" u="none" strike="noStrike">
                        <a:solidFill>
                          <a:srgbClr val="000000"/>
                        </a:solidFill>
                        <a:effectLst/>
                        <a:latin typeface="Segoe UI" panose="020B0502040204020203" pitchFamily="34" charset="0"/>
                      </a:endParaRPr>
                    </a:p>
                  </a:txBody>
                  <a:tcPr marL="9525" marR="9525" marT="9525" marB="0" anchor="ctr"/>
                </a:tc>
                <a:extLst>
                  <a:ext uri="{0D108BD9-81ED-4DB2-BD59-A6C34878D82A}">
                    <a16:rowId xmlns:a16="http://schemas.microsoft.com/office/drawing/2014/main" val="3837466841"/>
                  </a:ext>
                </a:extLst>
              </a:tr>
              <a:tr h="354346">
                <a:tc>
                  <a:txBody>
                    <a:bodyPr/>
                    <a:lstStyle/>
                    <a:p>
                      <a:pPr algn="ctr" fontAlgn="ctr"/>
                      <a:r>
                        <a:rPr lang="nl-NL" sz="1600" u="none" strike="noStrike" dirty="0">
                          <a:effectLst/>
                        </a:rPr>
                        <a:t>LDL Cholesterol</a:t>
                      </a:r>
                      <a:endParaRPr lang="nl-NL" sz="1600" b="0" i="0" u="none" strike="noStrike" dirty="0">
                        <a:solidFill>
                          <a:srgbClr val="000000"/>
                        </a:solidFill>
                        <a:effectLst/>
                        <a:latin typeface="Segoe UI" panose="020B0502040204020203" pitchFamily="34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nl-NL" sz="1600" u="none" strike="noStrike">
                          <a:effectLst/>
                        </a:rPr>
                        <a:t>mmol/L</a:t>
                      </a:r>
                      <a:endParaRPr lang="nl-NL" sz="1600" b="0" i="0" u="none" strike="noStrike">
                        <a:solidFill>
                          <a:srgbClr val="000000"/>
                        </a:solidFill>
                        <a:effectLst/>
                        <a:latin typeface="Segoe UI" panose="020B0502040204020203" pitchFamily="34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nl-NL" sz="1600" u="none" strike="noStrike">
                          <a:effectLst/>
                        </a:rPr>
                        <a:t>0.0 - 3.0</a:t>
                      </a:r>
                      <a:endParaRPr lang="nl-NL" sz="1600" b="0" i="0" u="none" strike="noStrike">
                        <a:solidFill>
                          <a:srgbClr val="000000"/>
                        </a:solidFill>
                        <a:effectLst/>
                        <a:latin typeface="Segoe UI" panose="020B0502040204020203" pitchFamily="34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nl-NL" sz="1600" u="none" strike="noStrike" dirty="0">
                          <a:effectLst/>
                        </a:rPr>
                        <a:t>0.5</a:t>
                      </a:r>
                      <a:endParaRPr lang="nl-NL" sz="1600" b="0" i="0" u="none" strike="noStrike" dirty="0">
                        <a:solidFill>
                          <a:srgbClr val="000000"/>
                        </a:solidFill>
                        <a:effectLst/>
                        <a:latin typeface="Segoe UI" panose="020B0502040204020203" pitchFamily="34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nl-NL" sz="1600" u="none" strike="noStrike">
                          <a:effectLst/>
                        </a:rPr>
                        <a:t> </a:t>
                      </a:r>
                      <a:endParaRPr lang="nl-NL" sz="1600" b="0" i="0" u="none" strike="noStrike">
                        <a:solidFill>
                          <a:srgbClr val="000000"/>
                        </a:solidFill>
                        <a:effectLst/>
                        <a:latin typeface="Segoe UI" panose="020B0502040204020203" pitchFamily="34" charset="0"/>
                      </a:endParaRPr>
                    </a:p>
                  </a:txBody>
                  <a:tcPr marL="9525" marR="9525" marT="9525" marB="0" anchor="ctr"/>
                </a:tc>
                <a:extLst>
                  <a:ext uri="{0D108BD9-81ED-4DB2-BD59-A6C34878D82A}">
                    <a16:rowId xmlns:a16="http://schemas.microsoft.com/office/drawing/2014/main" val="3793110228"/>
                  </a:ext>
                </a:extLst>
              </a:tr>
              <a:tr h="354346">
                <a:tc>
                  <a:txBody>
                    <a:bodyPr/>
                    <a:lstStyle/>
                    <a:p>
                      <a:pPr algn="ctr" fontAlgn="ctr"/>
                      <a:r>
                        <a:rPr lang="nl-NL" sz="1600" u="none" strike="noStrike" dirty="0">
                          <a:effectLst/>
                        </a:rPr>
                        <a:t>Natrium</a:t>
                      </a:r>
                      <a:endParaRPr lang="nl-NL" sz="1600" b="0" i="0" u="none" strike="noStrike" dirty="0">
                        <a:solidFill>
                          <a:srgbClr val="000000"/>
                        </a:solidFill>
                        <a:effectLst/>
                        <a:latin typeface="Segoe UI" panose="020B0502040204020203" pitchFamily="34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nl-NL" sz="1600" u="none" strike="noStrike">
                          <a:effectLst/>
                        </a:rPr>
                        <a:t>mmol/L</a:t>
                      </a:r>
                      <a:endParaRPr lang="nl-NL" sz="1600" b="0" i="0" u="none" strike="noStrike">
                        <a:solidFill>
                          <a:srgbClr val="000000"/>
                        </a:solidFill>
                        <a:effectLst/>
                        <a:latin typeface="Segoe UI" panose="020B0502040204020203" pitchFamily="34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nl-NL" sz="1600" u="none" strike="noStrike">
                          <a:effectLst/>
                        </a:rPr>
                        <a:t>136 - 146</a:t>
                      </a:r>
                      <a:endParaRPr lang="nl-NL" sz="1600" b="0" i="0" u="none" strike="noStrike">
                        <a:solidFill>
                          <a:srgbClr val="000000"/>
                        </a:solidFill>
                        <a:effectLst/>
                        <a:latin typeface="Segoe UI" panose="020B0502040204020203" pitchFamily="34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nl-NL" sz="1600" u="none" strike="noStrike">
                          <a:effectLst/>
                        </a:rPr>
                        <a:t>50</a:t>
                      </a:r>
                      <a:endParaRPr lang="nl-NL" sz="1600" b="0" i="0" u="none" strike="noStrike">
                        <a:solidFill>
                          <a:srgbClr val="000000"/>
                        </a:solidFill>
                        <a:effectLst/>
                        <a:latin typeface="Segoe UI" panose="020B0502040204020203" pitchFamily="34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nl-NL" sz="1600" u="none" strike="noStrike">
                          <a:effectLst/>
                        </a:rPr>
                        <a:t>200</a:t>
                      </a:r>
                      <a:endParaRPr lang="nl-NL" sz="1600" b="0" i="0" u="none" strike="noStrike">
                        <a:solidFill>
                          <a:srgbClr val="000000"/>
                        </a:solidFill>
                        <a:effectLst/>
                        <a:latin typeface="Segoe UI" panose="020B0502040204020203" pitchFamily="34" charset="0"/>
                      </a:endParaRPr>
                    </a:p>
                  </a:txBody>
                  <a:tcPr marL="9525" marR="9525" marT="9525" marB="0" anchor="ctr"/>
                </a:tc>
                <a:extLst>
                  <a:ext uri="{0D108BD9-81ED-4DB2-BD59-A6C34878D82A}">
                    <a16:rowId xmlns:a16="http://schemas.microsoft.com/office/drawing/2014/main" val="3301654229"/>
                  </a:ext>
                </a:extLst>
              </a:tr>
              <a:tr h="354346">
                <a:tc>
                  <a:txBody>
                    <a:bodyPr/>
                    <a:lstStyle/>
                    <a:p>
                      <a:pPr algn="ctr" fontAlgn="ctr"/>
                      <a:r>
                        <a:rPr lang="nl-NL" sz="1600" u="none" strike="noStrike" dirty="0">
                          <a:effectLst/>
                        </a:rPr>
                        <a:t>Triglyceriden</a:t>
                      </a:r>
                      <a:endParaRPr lang="nl-NL" sz="1600" b="0" i="0" u="none" strike="noStrike" dirty="0">
                        <a:solidFill>
                          <a:srgbClr val="000000"/>
                        </a:solidFill>
                        <a:effectLst/>
                        <a:latin typeface="Segoe UI" panose="020B0502040204020203" pitchFamily="34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nl-NL" sz="1600" u="none" strike="noStrike">
                          <a:effectLst/>
                        </a:rPr>
                        <a:t>mmol/L</a:t>
                      </a:r>
                      <a:endParaRPr lang="nl-NL" sz="1600" b="0" i="0" u="none" strike="noStrike">
                        <a:solidFill>
                          <a:srgbClr val="000000"/>
                        </a:solidFill>
                        <a:effectLst/>
                        <a:latin typeface="Segoe UI" panose="020B0502040204020203" pitchFamily="34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nl-NL" sz="1600" u="none" strike="noStrike">
                          <a:effectLst/>
                        </a:rPr>
                        <a:t>0.0 - 2.0</a:t>
                      </a:r>
                      <a:endParaRPr lang="nl-NL" sz="1600" b="0" i="0" u="none" strike="noStrike">
                        <a:solidFill>
                          <a:srgbClr val="000000"/>
                        </a:solidFill>
                        <a:effectLst/>
                        <a:latin typeface="Segoe UI" panose="020B0502040204020203" pitchFamily="34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nl-NL" sz="1600" u="none" strike="noStrike">
                          <a:effectLst/>
                        </a:rPr>
                        <a:t>0.17</a:t>
                      </a:r>
                      <a:endParaRPr lang="nl-NL" sz="1600" b="0" i="0" u="none" strike="noStrike">
                        <a:solidFill>
                          <a:srgbClr val="000000"/>
                        </a:solidFill>
                        <a:effectLst/>
                        <a:latin typeface="Segoe UI" panose="020B0502040204020203" pitchFamily="34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nl-NL" sz="1600" u="none" strike="noStrike">
                          <a:effectLst/>
                        </a:rPr>
                        <a:t>113</a:t>
                      </a:r>
                      <a:endParaRPr lang="nl-NL" sz="1600" b="0" i="0" u="none" strike="noStrike">
                        <a:solidFill>
                          <a:srgbClr val="000000"/>
                        </a:solidFill>
                        <a:effectLst/>
                        <a:latin typeface="Segoe UI" panose="020B0502040204020203" pitchFamily="34" charset="0"/>
                      </a:endParaRPr>
                    </a:p>
                  </a:txBody>
                  <a:tcPr marL="9525" marR="9525" marT="9525" marB="0" anchor="ctr"/>
                </a:tc>
                <a:extLst>
                  <a:ext uri="{0D108BD9-81ED-4DB2-BD59-A6C34878D82A}">
                    <a16:rowId xmlns:a16="http://schemas.microsoft.com/office/drawing/2014/main" val="513305178"/>
                  </a:ext>
                </a:extLst>
              </a:tr>
              <a:tr h="354346">
                <a:tc>
                  <a:txBody>
                    <a:bodyPr/>
                    <a:lstStyle/>
                    <a:p>
                      <a:pPr algn="ctr" fontAlgn="ctr"/>
                      <a:r>
                        <a:rPr lang="nl-NL" sz="1600" u="none" strike="noStrike" dirty="0" err="1">
                          <a:effectLst/>
                        </a:rPr>
                        <a:t>eGFR</a:t>
                      </a:r>
                      <a:r>
                        <a:rPr lang="nl-NL" sz="1600" u="none" strike="noStrike" dirty="0">
                          <a:effectLst/>
                        </a:rPr>
                        <a:t> (CKD-EPI)</a:t>
                      </a:r>
                      <a:endParaRPr lang="nl-NL" sz="1600" b="0" i="0" u="none" strike="noStrike" dirty="0">
                        <a:solidFill>
                          <a:srgbClr val="000000"/>
                        </a:solidFill>
                        <a:effectLst/>
                        <a:latin typeface="Segoe UI" panose="020B0502040204020203" pitchFamily="34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nl-NL" sz="1600" u="none" strike="noStrike">
                          <a:effectLst/>
                        </a:rPr>
                        <a:t>mL/min/1.73m2</a:t>
                      </a:r>
                      <a:endParaRPr lang="nl-NL" sz="1600" b="0" i="0" u="none" strike="noStrike">
                        <a:solidFill>
                          <a:srgbClr val="000000"/>
                        </a:solidFill>
                        <a:effectLst/>
                        <a:latin typeface="Segoe UI" panose="020B0502040204020203" pitchFamily="34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nl-NL" sz="1600" u="none" strike="noStrike">
                          <a:effectLst/>
                        </a:rPr>
                        <a:t>80 -</a:t>
                      </a:r>
                      <a:endParaRPr lang="nl-NL" sz="1600" b="0" i="0" u="none" strike="noStrike">
                        <a:solidFill>
                          <a:srgbClr val="000000"/>
                        </a:solidFill>
                        <a:effectLst/>
                        <a:latin typeface="Segoe UI" panose="020B0502040204020203" pitchFamily="34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nl-NL" sz="1600" u="none" strike="noStrike">
                          <a:effectLst/>
                        </a:rPr>
                        <a:t> </a:t>
                      </a:r>
                      <a:endParaRPr lang="nl-NL" sz="1600" b="0" i="0" u="none" strike="noStrike">
                        <a:solidFill>
                          <a:srgbClr val="000000"/>
                        </a:solidFill>
                        <a:effectLst/>
                        <a:latin typeface="Segoe UI" panose="020B0502040204020203" pitchFamily="34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nl-NL" sz="1600" u="none" strike="noStrike">
                          <a:effectLst/>
                        </a:rPr>
                        <a:t> </a:t>
                      </a:r>
                      <a:endParaRPr lang="nl-NL" sz="1600" b="0" i="0" u="none" strike="noStrike">
                        <a:solidFill>
                          <a:srgbClr val="000000"/>
                        </a:solidFill>
                        <a:effectLst/>
                        <a:latin typeface="Segoe UI" panose="020B0502040204020203" pitchFamily="34" charset="0"/>
                      </a:endParaRPr>
                    </a:p>
                  </a:txBody>
                  <a:tcPr marL="9525" marR="9525" marT="9525" marB="0" anchor="ctr"/>
                </a:tc>
                <a:extLst>
                  <a:ext uri="{0D108BD9-81ED-4DB2-BD59-A6C34878D82A}">
                    <a16:rowId xmlns:a16="http://schemas.microsoft.com/office/drawing/2014/main" val="3931202181"/>
                  </a:ext>
                </a:extLst>
              </a:tr>
              <a:tr h="354346">
                <a:tc>
                  <a:txBody>
                    <a:bodyPr/>
                    <a:lstStyle/>
                    <a:p>
                      <a:pPr algn="ctr" fontAlgn="ctr"/>
                      <a:r>
                        <a:rPr lang="nl-NL" sz="1600" u="none" strike="noStrike" dirty="0">
                          <a:effectLst/>
                        </a:rPr>
                        <a:t>non-HDL cholesterol</a:t>
                      </a:r>
                      <a:endParaRPr lang="nl-NL" sz="1600" b="0" i="0" u="none" strike="noStrike" dirty="0">
                        <a:solidFill>
                          <a:srgbClr val="000000"/>
                        </a:solidFill>
                        <a:effectLst/>
                        <a:latin typeface="Segoe UI" panose="020B0502040204020203" pitchFamily="34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nl-NL" sz="1600" u="none" strike="noStrike">
                          <a:effectLst/>
                        </a:rPr>
                        <a:t>mmol/L</a:t>
                      </a:r>
                      <a:endParaRPr lang="nl-NL" sz="1600" b="0" i="0" u="none" strike="noStrike">
                        <a:solidFill>
                          <a:srgbClr val="000000"/>
                        </a:solidFill>
                        <a:effectLst/>
                        <a:latin typeface="Segoe UI" panose="020B0502040204020203" pitchFamily="34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nl-NL" sz="1600" u="none" strike="noStrike">
                          <a:effectLst/>
                        </a:rPr>
                        <a:t>0.0 - 3.8</a:t>
                      </a:r>
                      <a:endParaRPr lang="nl-NL" sz="1600" b="0" i="0" u="none" strike="noStrike">
                        <a:solidFill>
                          <a:srgbClr val="000000"/>
                        </a:solidFill>
                        <a:effectLst/>
                        <a:latin typeface="Segoe UI" panose="020B0502040204020203" pitchFamily="34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nl-NL" sz="1600" u="none" strike="noStrike">
                          <a:effectLst/>
                        </a:rPr>
                        <a:t> </a:t>
                      </a:r>
                      <a:endParaRPr lang="nl-NL" sz="1600" b="0" i="0" u="none" strike="noStrike">
                        <a:solidFill>
                          <a:srgbClr val="000000"/>
                        </a:solidFill>
                        <a:effectLst/>
                        <a:latin typeface="Segoe UI" panose="020B0502040204020203" pitchFamily="34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nl-NL" sz="1600" u="none" strike="noStrike" dirty="0">
                          <a:effectLst/>
                        </a:rPr>
                        <a:t> </a:t>
                      </a:r>
                      <a:endParaRPr lang="nl-NL" sz="1600" b="0" i="0" u="none" strike="noStrike" dirty="0">
                        <a:solidFill>
                          <a:srgbClr val="000000"/>
                        </a:solidFill>
                        <a:effectLst/>
                        <a:latin typeface="Segoe UI" panose="020B0502040204020203" pitchFamily="34" charset="0"/>
                      </a:endParaRPr>
                    </a:p>
                  </a:txBody>
                  <a:tcPr marL="9525" marR="9525" marT="9525" marB="0" anchor="ctr"/>
                </a:tc>
                <a:extLst>
                  <a:ext uri="{0D108BD9-81ED-4DB2-BD59-A6C34878D82A}">
                    <a16:rowId xmlns:a16="http://schemas.microsoft.com/office/drawing/2014/main" val="1699768233"/>
                  </a:ext>
                </a:extLst>
              </a:tr>
            </a:tbl>
          </a:graphicData>
        </a:graphic>
      </p:graphicFrame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B340C6C2-8A25-4732-ADD4-BBD79F7C8AB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8600" y="6225545"/>
            <a:ext cx="4114800" cy="365125"/>
          </a:xfrm>
        </p:spPr>
        <p:txBody>
          <a:bodyPr/>
          <a:lstStyle/>
          <a:p>
            <a:r>
              <a:rPr lang="nl-NL"/>
              <a:t>Ref: https://www.umcutrecht.nl/bepalingenwijzer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06F0FF0B-34D3-4B7E-B257-2C2107C39FA2}"/>
              </a:ext>
            </a:extLst>
          </p:cNvPr>
          <p:cNvSpPr txBox="1"/>
          <p:nvPr/>
        </p:nvSpPr>
        <p:spPr>
          <a:xfrm>
            <a:off x="5081336" y="6590670"/>
            <a:ext cx="1788695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it-IT" sz="1050" dirty="0"/>
              <a:t>*</a:t>
            </a:r>
            <a:r>
              <a:rPr lang="it-IT" sz="1050" dirty="0">
                <a:hlinkClick r:id="rId2" action="ppaction://hlinkfile"/>
              </a:rPr>
              <a:t>Machine Reference Manual</a:t>
            </a:r>
            <a:endParaRPr lang="nl-NL" sz="1050" dirty="0"/>
          </a:p>
        </p:txBody>
      </p:sp>
    </p:spTree>
    <p:extLst>
      <p:ext uri="{BB962C8B-B14F-4D97-AF65-F5344CB8AC3E}">
        <p14:creationId xmlns:p14="http://schemas.microsoft.com/office/powerpoint/2010/main" val="976102967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spd="slow">
        <p159:morph option="byObject"/>
      </p:transition>
    </mc:Choice>
    <mc:Fallback xmlns="">
      <p:transition spd="slow">
        <p:fade/>
      </p:transition>
    </mc:Fallback>
  </mc:AlternateContent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6" name="Graphic 55">
            <a:extLst>
              <a:ext uri="{FF2B5EF4-FFF2-40B4-BE49-F238E27FC236}">
                <a16:creationId xmlns:a16="http://schemas.microsoft.com/office/drawing/2014/main" id="{52414F87-F631-4D89-AA4B-5432D50060F8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6935099" y="3299436"/>
            <a:ext cx="4394477" cy="3299436"/>
          </a:xfrm>
          <a:prstGeom prst="rect">
            <a:avLst/>
          </a:prstGeom>
        </p:spPr>
      </p:pic>
      <p:pic>
        <p:nvPicPr>
          <p:cNvPr id="58" name="Graphic 57">
            <a:extLst>
              <a:ext uri="{FF2B5EF4-FFF2-40B4-BE49-F238E27FC236}">
                <a16:creationId xmlns:a16="http://schemas.microsoft.com/office/drawing/2014/main" id="{68FD5771-5A2A-484D-A31C-D9D6B471123F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862424" y="3299436"/>
            <a:ext cx="4394477" cy="3299436"/>
          </a:xfrm>
          <a:prstGeom prst="rect">
            <a:avLst/>
          </a:prstGeom>
        </p:spPr>
      </p:pic>
      <p:pic>
        <p:nvPicPr>
          <p:cNvPr id="60" name="Graphic 59">
            <a:extLst>
              <a:ext uri="{FF2B5EF4-FFF2-40B4-BE49-F238E27FC236}">
                <a16:creationId xmlns:a16="http://schemas.microsoft.com/office/drawing/2014/main" id="{A666AFF7-F3EA-45A7-9012-B02B8CF613E5}"/>
              </a:ext>
            </a:extLst>
          </p:cNvPr>
          <p:cNvPicPr>
            <a:picLocks noChangeAspect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7"/>
              </a:ext>
            </a:extLst>
          </a:blip>
          <a:stretch>
            <a:fillRect/>
          </a:stretch>
        </p:blipFill>
        <p:spPr>
          <a:xfrm>
            <a:off x="8214104" y="0"/>
            <a:ext cx="4394477" cy="3299436"/>
          </a:xfrm>
          <a:prstGeom prst="rect">
            <a:avLst/>
          </a:prstGeom>
        </p:spPr>
      </p:pic>
      <p:pic>
        <p:nvPicPr>
          <p:cNvPr id="62" name="Graphic 61">
            <a:extLst>
              <a:ext uri="{FF2B5EF4-FFF2-40B4-BE49-F238E27FC236}">
                <a16:creationId xmlns:a16="http://schemas.microsoft.com/office/drawing/2014/main" id="{BC051BED-6050-4585-8170-AF9657F7F502}"/>
              </a:ext>
            </a:extLst>
          </p:cNvPr>
          <p:cNvPicPr>
            <a:picLocks noChangeAspect="1"/>
          </p:cNvPicPr>
          <p:nvPr/>
        </p:nvPicPr>
        <p:blipFill>
          <a:blip r:embed="rId8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9"/>
              </a:ext>
            </a:extLst>
          </a:blip>
          <a:stretch>
            <a:fillRect/>
          </a:stretch>
        </p:blipFill>
        <p:spPr>
          <a:xfrm>
            <a:off x="5256901" y="0"/>
            <a:ext cx="4394477" cy="3299436"/>
          </a:xfrm>
          <a:prstGeom prst="rect">
            <a:avLst/>
          </a:prstGeom>
        </p:spPr>
      </p:pic>
      <p:pic>
        <p:nvPicPr>
          <p:cNvPr id="64" name="Graphic 63">
            <a:extLst>
              <a:ext uri="{FF2B5EF4-FFF2-40B4-BE49-F238E27FC236}">
                <a16:creationId xmlns:a16="http://schemas.microsoft.com/office/drawing/2014/main" id="{FC29D5F6-41B5-4C6C-A664-E5758A41131A}"/>
              </a:ext>
            </a:extLst>
          </p:cNvPr>
          <p:cNvPicPr>
            <a:picLocks noChangeAspect="1"/>
          </p:cNvPicPr>
          <p:nvPr/>
        </p:nvPicPr>
        <p:blipFill>
          <a:blip r:embed="rId10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11"/>
              </a:ext>
            </a:extLst>
          </a:blip>
          <a:stretch>
            <a:fillRect/>
          </a:stretch>
        </p:blipFill>
        <p:spPr>
          <a:xfrm>
            <a:off x="2299699" y="0"/>
            <a:ext cx="4394477" cy="3299436"/>
          </a:xfrm>
          <a:prstGeom prst="rect">
            <a:avLst/>
          </a:prstGeom>
        </p:spPr>
      </p:pic>
      <p:pic>
        <p:nvPicPr>
          <p:cNvPr id="66" name="Graphic 65">
            <a:extLst>
              <a:ext uri="{FF2B5EF4-FFF2-40B4-BE49-F238E27FC236}">
                <a16:creationId xmlns:a16="http://schemas.microsoft.com/office/drawing/2014/main" id="{E40859BE-F25B-48B1-B7CF-10C7F1E45D9A}"/>
              </a:ext>
            </a:extLst>
          </p:cNvPr>
          <p:cNvPicPr>
            <a:picLocks noChangeAspect="1"/>
          </p:cNvPicPr>
          <p:nvPr/>
        </p:nvPicPr>
        <p:blipFill>
          <a:blip r:embed="rId12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13"/>
              </a:ext>
            </a:extLst>
          </a:blip>
          <a:stretch>
            <a:fillRect/>
          </a:stretch>
        </p:blipFill>
        <p:spPr>
          <a:xfrm>
            <a:off x="-657503" y="0"/>
            <a:ext cx="4394477" cy="329943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692764115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spd="slow">
        <p159:morph option="byObject"/>
      </p:transition>
    </mc:Choice>
    <mc:Fallback xmlns="">
      <p:transition spd="slow">
        <p:fade/>
      </p:transition>
    </mc:Fallback>
  </mc:AlternateContent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Graphic 2">
            <a:extLst>
              <a:ext uri="{FF2B5EF4-FFF2-40B4-BE49-F238E27FC236}">
                <a16:creationId xmlns:a16="http://schemas.microsoft.com/office/drawing/2014/main" id="{5104F63A-8305-48CC-A7C8-38D27F499ADB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6955860" y="3300410"/>
            <a:ext cx="4471895" cy="3357563"/>
          </a:xfrm>
          <a:prstGeom prst="rect">
            <a:avLst/>
          </a:prstGeom>
        </p:spPr>
      </p:pic>
      <p:pic>
        <p:nvPicPr>
          <p:cNvPr id="5" name="Graphic 4">
            <a:extLst>
              <a:ext uri="{FF2B5EF4-FFF2-40B4-BE49-F238E27FC236}">
                <a16:creationId xmlns:a16="http://schemas.microsoft.com/office/drawing/2014/main" id="{B68B9AC6-63AF-4D04-8412-F617E4BD1E25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915392" y="3300411"/>
            <a:ext cx="4471895" cy="3357563"/>
          </a:xfrm>
          <a:prstGeom prst="rect">
            <a:avLst/>
          </a:prstGeom>
        </p:spPr>
      </p:pic>
      <p:pic>
        <p:nvPicPr>
          <p:cNvPr id="7" name="Graphic 6">
            <a:extLst>
              <a:ext uri="{FF2B5EF4-FFF2-40B4-BE49-F238E27FC236}">
                <a16:creationId xmlns:a16="http://schemas.microsoft.com/office/drawing/2014/main" id="{A67BD1E4-1078-48C8-A0CC-A8F92079F4D0}"/>
              </a:ext>
            </a:extLst>
          </p:cNvPr>
          <p:cNvPicPr>
            <a:picLocks noChangeAspect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7"/>
              </a:ext>
            </a:extLst>
          </a:blip>
          <a:stretch>
            <a:fillRect/>
          </a:stretch>
        </p:blipFill>
        <p:spPr>
          <a:xfrm>
            <a:off x="8416461" y="0"/>
            <a:ext cx="4471895" cy="3357563"/>
          </a:xfrm>
          <a:prstGeom prst="rect">
            <a:avLst/>
          </a:prstGeom>
        </p:spPr>
      </p:pic>
      <p:pic>
        <p:nvPicPr>
          <p:cNvPr id="9" name="Graphic 8">
            <a:extLst>
              <a:ext uri="{FF2B5EF4-FFF2-40B4-BE49-F238E27FC236}">
                <a16:creationId xmlns:a16="http://schemas.microsoft.com/office/drawing/2014/main" id="{9FBB4D53-4F61-4420-B2EA-5DBB2190FBDD}"/>
              </a:ext>
            </a:extLst>
          </p:cNvPr>
          <p:cNvPicPr>
            <a:picLocks noChangeAspect="1"/>
          </p:cNvPicPr>
          <p:nvPr/>
        </p:nvPicPr>
        <p:blipFill>
          <a:blip r:embed="rId8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9"/>
              </a:ext>
            </a:extLst>
          </a:blip>
          <a:stretch>
            <a:fillRect/>
          </a:stretch>
        </p:blipFill>
        <p:spPr>
          <a:xfrm>
            <a:off x="5405166" y="0"/>
            <a:ext cx="4471895" cy="3357563"/>
          </a:xfrm>
          <a:prstGeom prst="rect">
            <a:avLst/>
          </a:prstGeom>
        </p:spPr>
      </p:pic>
      <p:pic>
        <p:nvPicPr>
          <p:cNvPr id="11" name="Graphic 10">
            <a:extLst>
              <a:ext uri="{FF2B5EF4-FFF2-40B4-BE49-F238E27FC236}">
                <a16:creationId xmlns:a16="http://schemas.microsoft.com/office/drawing/2014/main" id="{9947BBB5-44C5-48CF-969E-441FAF4420ED}"/>
              </a:ext>
            </a:extLst>
          </p:cNvPr>
          <p:cNvPicPr>
            <a:picLocks noChangeAspect="1"/>
          </p:cNvPicPr>
          <p:nvPr/>
        </p:nvPicPr>
        <p:blipFill>
          <a:blip r:embed="rId10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11"/>
              </a:ext>
            </a:extLst>
          </a:blip>
          <a:stretch>
            <a:fillRect/>
          </a:stretch>
        </p:blipFill>
        <p:spPr>
          <a:xfrm>
            <a:off x="2314940" y="0"/>
            <a:ext cx="4471895" cy="3357563"/>
          </a:xfrm>
          <a:prstGeom prst="rect">
            <a:avLst/>
          </a:prstGeom>
        </p:spPr>
      </p:pic>
      <p:pic>
        <p:nvPicPr>
          <p:cNvPr id="13" name="Graphic 12">
            <a:extLst>
              <a:ext uri="{FF2B5EF4-FFF2-40B4-BE49-F238E27FC236}">
                <a16:creationId xmlns:a16="http://schemas.microsoft.com/office/drawing/2014/main" id="{FC69359F-A5B2-4EC6-BD2E-74DFBA522CFC}"/>
              </a:ext>
            </a:extLst>
          </p:cNvPr>
          <p:cNvPicPr>
            <a:picLocks noChangeAspect="1"/>
          </p:cNvPicPr>
          <p:nvPr/>
        </p:nvPicPr>
        <p:blipFill>
          <a:blip r:embed="rId12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13"/>
              </a:ext>
            </a:extLst>
          </a:blip>
          <a:stretch>
            <a:fillRect/>
          </a:stretch>
        </p:blipFill>
        <p:spPr>
          <a:xfrm>
            <a:off x="-859675" y="-28577"/>
            <a:ext cx="4471895" cy="335756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926366783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spd="slow">
        <p159:morph option="byObject"/>
      </p:transition>
    </mc:Choice>
    <mc:Fallback xmlns="">
      <p:transition spd="slow">
        <p:fade/>
      </p:transition>
    </mc:Fallback>
  </mc:AlternateContent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Box 3">
            <a:extLst>
              <a:ext uri="{FF2B5EF4-FFF2-40B4-BE49-F238E27FC236}">
                <a16:creationId xmlns:a16="http://schemas.microsoft.com/office/drawing/2014/main" id="{B40CC955-9822-4C97-8EA5-CCA925BF2200}"/>
              </a:ext>
            </a:extLst>
          </p:cNvPr>
          <p:cNvSpPr txBox="1"/>
          <p:nvPr/>
        </p:nvSpPr>
        <p:spPr>
          <a:xfrm>
            <a:off x="0" y="2009"/>
            <a:ext cx="3430954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it-IT" u="sng" dirty="0"/>
              <a:t>Missing Values</a:t>
            </a:r>
            <a:endParaRPr lang="nl-NL" u="sng" dirty="0"/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6C52EDD9-3028-4E42-A5D9-F1DB5004F6CA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715477" y="0"/>
            <a:ext cx="6455405" cy="6858000"/>
          </a:xfrm>
          <a:prstGeom prst="rect">
            <a:avLst/>
          </a:prstGeom>
        </p:spPr>
      </p:pic>
      <p:cxnSp>
        <p:nvCxnSpPr>
          <p:cNvPr id="5" name="Straight Arrow Connector 4">
            <a:extLst>
              <a:ext uri="{FF2B5EF4-FFF2-40B4-BE49-F238E27FC236}">
                <a16:creationId xmlns:a16="http://schemas.microsoft.com/office/drawing/2014/main" id="{4DE2BBFA-3EDF-4661-8183-33CEFA6D6234}"/>
              </a:ext>
            </a:extLst>
          </p:cNvPr>
          <p:cNvCxnSpPr>
            <a:cxnSpLocks/>
            <a:stCxn id="6" idx="1"/>
          </p:cNvCxnSpPr>
          <p:nvPr/>
        </p:nvCxnSpPr>
        <p:spPr>
          <a:xfrm flipH="1">
            <a:off x="7868654" y="1198693"/>
            <a:ext cx="1066798" cy="469686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" name="TextBox 5">
            <a:extLst>
              <a:ext uri="{FF2B5EF4-FFF2-40B4-BE49-F238E27FC236}">
                <a16:creationId xmlns:a16="http://schemas.microsoft.com/office/drawing/2014/main" id="{C5D9A5AB-1C42-4603-9CC8-4255D3AD50A2}"/>
              </a:ext>
            </a:extLst>
          </p:cNvPr>
          <p:cNvSpPr txBox="1"/>
          <p:nvPr/>
        </p:nvSpPr>
        <p:spPr>
          <a:xfrm>
            <a:off x="8935452" y="737028"/>
            <a:ext cx="2622884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it-IT" dirty="0"/>
              <a:t>This is the Pivoted table, that can increase the scarcity of the data</a:t>
            </a:r>
            <a:endParaRPr lang="nl-NL" dirty="0"/>
          </a:p>
        </p:txBody>
      </p:sp>
    </p:spTree>
    <p:extLst>
      <p:ext uri="{BB962C8B-B14F-4D97-AF65-F5344CB8AC3E}">
        <p14:creationId xmlns:p14="http://schemas.microsoft.com/office/powerpoint/2010/main" val="2771455475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spd="slow">
        <p159:morph option="byObject"/>
      </p:transition>
    </mc:Choice>
    <mc:Fallback xmlns="">
      <p:transition spd="slow">
        <p:fade/>
      </p:transition>
    </mc:Fallback>
  </mc:AlternateContent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>
            <a:extLst>
              <a:ext uri="{FF2B5EF4-FFF2-40B4-BE49-F238E27FC236}">
                <a16:creationId xmlns:a16="http://schemas.microsoft.com/office/drawing/2014/main" id="{50D4D3CB-2C2F-4524-B868-41FAEA9F06E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14497" y="2219156"/>
            <a:ext cx="4163006" cy="2419688"/>
          </a:xfrm>
          <a:prstGeom prst="rect">
            <a:avLst/>
          </a:prstGeom>
        </p:spPr>
      </p:pic>
      <p:sp>
        <p:nvSpPr>
          <p:cNvPr id="5" name="TextBox 4">
            <a:extLst>
              <a:ext uri="{FF2B5EF4-FFF2-40B4-BE49-F238E27FC236}">
                <a16:creationId xmlns:a16="http://schemas.microsoft.com/office/drawing/2014/main" id="{D514EC3D-B477-4A30-911C-BD0F244670E3}"/>
              </a:ext>
            </a:extLst>
          </p:cNvPr>
          <p:cNvSpPr txBox="1"/>
          <p:nvPr/>
        </p:nvSpPr>
        <p:spPr>
          <a:xfrm>
            <a:off x="0" y="0"/>
            <a:ext cx="2289908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it-IT" u="sng" dirty="0"/>
              <a:t>MICE Forest</a:t>
            </a:r>
            <a:endParaRPr lang="nl-NL" u="sng" dirty="0"/>
          </a:p>
        </p:txBody>
      </p:sp>
      <p:sp>
        <p:nvSpPr>
          <p:cNvPr id="7" name="Arrow: Down 6">
            <a:extLst>
              <a:ext uri="{FF2B5EF4-FFF2-40B4-BE49-F238E27FC236}">
                <a16:creationId xmlns:a16="http://schemas.microsoft.com/office/drawing/2014/main" id="{A2FC79F2-6630-4E33-A4C3-8D9A42B46FEF}"/>
              </a:ext>
            </a:extLst>
          </p:cNvPr>
          <p:cNvSpPr/>
          <p:nvPr/>
        </p:nvSpPr>
        <p:spPr>
          <a:xfrm rot="4638552">
            <a:off x="7604369" y="3141785"/>
            <a:ext cx="140677" cy="1742831"/>
          </a:xfrm>
          <a:prstGeom prst="downArrow">
            <a:avLst/>
          </a:prstGeom>
        </p:spPr>
        <p:style>
          <a:lnRef idx="0">
            <a:schemeClr val="accent1"/>
          </a:lnRef>
          <a:fillRef idx="3">
            <a:schemeClr val="accent1"/>
          </a:fillRef>
          <a:effectRef idx="3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nl-NL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F80A6ACB-2D2C-4E4F-96F1-0D3837C836FC}"/>
              </a:ext>
            </a:extLst>
          </p:cNvPr>
          <p:cNvSpPr txBox="1"/>
          <p:nvPr/>
        </p:nvSpPr>
        <p:spPr>
          <a:xfrm>
            <a:off x="8519452" y="3476396"/>
            <a:ext cx="2360246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it-IT" dirty="0"/>
              <a:t>Gradient Boosting</a:t>
            </a:r>
          </a:p>
          <a:p>
            <a:r>
              <a:rPr lang="it-IT" dirty="0"/>
              <a:t>Decision Trees</a:t>
            </a:r>
            <a:endParaRPr lang="nl-NL" dirty="0"/>
          </a:p>
        </p:txBody>
      </p:sp>
    </p:spTree>
    <p:extLst>
      <p:ext uri="{BB962C8B-B14F-4D97-AF65-F5344CB8AC3E}">
        <p14:creationId xmlns:p14="http://schemas.microsoft.com/office/powerpoint/2010/main" val="3620443842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spd="slow">
        <p159:morph option="byObject"/>
      </p:transition>
    </mc:Choice>
    <mc:Fallback xmlns="">
      <p:transition spd="slow">
        <p:fade/>
      </p:transition>
    </mc:Fallback>
  </mc:AlternateContent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>
            <a:extLst>
              <a:ext uri="{FF2B5EF4-FFF2-40B4-BE49-F238E27FC236}">
                <a16:creationId xmlns:a16="http://schemas.microsoft.com/office/drawing/2014/main" id="{959EC944-F65A-4355-9EE4-D17542B2E581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552432"/>
            <a:ext cx="12192000" cy="5753136"/>
          </a:xfrm>
          <a:prstGeom prst="rect">
            <a:avLst/>
          </a:prstGeom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49B55110-826E-47CF-A5A8-A85A55A8AEE0}"/>
              </a:ext>
            </a:extLst>
          </p:cNvPr>
          <p:cNvSpPr txBox="1"/>
          <p:nvPr/>
        </p:nvSpPr>
        <p:spPr>
          <a:xfrm>
            <a:off x="0" y="-5807"/>
            <a:ext cx="2524369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it-IT" u="sng" dirty="0"/>
              <a:t>Imputed Values</a:t>
            </a:r>
            <a:endParaRPr lang="nl-NL" u="sng" dirty="0"/>
          </a:p>
        </p:txBody>
      </p:sp>
    </p:spTree>
    <p:extLst>
      <p:ext uri="{BB962C8B-B14F-4D97-AF65-F5344CB8AC3E}">
        <p14:creationId xmlns:p14="http://schemas.microsoft.com/office/powerpoint/2010/main" val="1759352546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spd="slow">
        <p159:morph option="byObject"/>
      </p:transition>
    </mc:Choice>
    <mc:Fallback xmlns="">
      <p:transition spd="slow">
        <p:fade/>
      </p:transition>
    </mc:Fallback>
  </mc:AlternateContent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>
            <a:extLst>
              <a:ext uri="{FF2B5EF4-FFF2-40B4-BE49-F238E27FC236}">
                <a16:creationId xmlns:a16="http://schemas.microsoft.com/office/drawing/2014/main" id="{70962B23-E15F-4BCF-9983-5A40DD11EB79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810565" y="214923"/>
            <a:ext cx="8570870" cy="6428153"/>
          </a:xfrm>
          <a:prstGeom prst="rect">
            <a:avLst/>
          </a:prstGeom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4BE0656D-44CA-4A22-BC1D-23F23E963B16}"/>
              </a:ext>
            </a:extLst>
          </p:cNvPr>
          <p:cNvSpPr txBox="1"/>
          <p:nvPr/>
        </p:nvSpPr>
        <p:spPr>
          <a:xfrm>
            <a:off x="0" y="0"/>
            <a:ext cx="2289908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it-IT" u="sng" dirty="0"/>
              <a:t>MICE Forest</a:t>
            </a:r>
            <a:endParaRPr lang="nl-NL" u="sng" dirty="0"/>
          </a:p>
        </p:txBody>
      </p:sp>
    </p:spTree>
    <p:extLst>
      <p:ext uri="{BB962C8B-B14F-4D97-AF65-F5344CB8AC3E}">
        <p14:creationId xmlns:p14="http://schemas.microsoft.com/office/powerpoint/2010/main" val="1608275626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spd="slow">
        <p159:morph option="byObject"/>
      </p:transition>
    </mc:Choice>
    <mc:Fallback xmlns="">
      <p:transition spd="slow">
        <p:fade/>
      </p:transition>
    </mc:Fallback>
  </mc:AlternateContent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>
            <a:extLst>
              <a:ext uri="{FF2B5EF4-FFF2-40B4-BE49-F238E27FC236}">
                <a16:creationId xmlns:a16="http://schemas.microsoft.com/office/drawing/2014/main" id="{70962B23-E15F-4BCF-9983-5A40DD11EB79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14902" y="214923"/>
            <a:ext cx="8570870" cy="6428153"/>
          </a:xfrm>
          <a:prstGeom prst="rect">
            <a:avLst/>
          </a:prstGeom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4BE0656D-44CA-4A22-BC1D-23F23E963B16}"/>
              </a:ext>
            </a:extLst>
          </p:cNvPr>
          <p:cNvSpPr txBox="1"/>
          <p:nvPr/>
        </p:nvSpPr>
        <p:spPr>
          <a:xfrm>
            <a:off x="0" y="0"/>
            <a:ext cx="2289908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it-IT" u="sng" dirty="0"/>
              <a:t>MICE Forest</a:t>
            </a:r>
            <a:endParaRPr lang="nl-NL" u="sng" dirty="0"/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7EE12EBB-0F27-451D-A1C2-B974EDB76742}"/>
              </a:ext>
            </a:extLst>
          </p:cNvPr>
          <p:cNvSpPr txBox="1"/>
          <p:nvPr/>
        </p:nvSpPr>
        <p:spPr>
          <a:xfrm>
            <a:off x="9681410" y="3244333"/>
            <a:ext cx="1949116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it-IT" dirty="0"/>
              <a:t>Seems good uh?</a:t>
            </a:r>
            <a:endParaRPr lang="nl-NL" dirty="0"/>
          </a:p>
        </p:txBody>
      </p:sp>
    </p:spTree>
    <p:extLst>
      <p:ext uri="{BB962C8B-B14F-4D97-AF65-F5344CB8AC3E}">
        <p14:creationId xmlns:p14="http://schemas.microsoft.com/office/powerpoint/2010/main" val="3874891276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spd="slow">
        <p159:morph option="byObject"/>
      </p:transition>
    </mc:Choice>
    <mc:Fallback xmlns="">
      <p:transition spd="slow">
        <p:fade/>
      </p:transition>
    </mc:Fallback>
  </mc:AlternateContent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Box 3">
            <a:extLst>
              <a:ext uri="{FF2B5EF4-FFF2-40B4-BE49-F238E27FC236}">
                <a16:creationId xmlns:a16="http://schemas.microsoft.com/office/drawing/2014/main" id="{99122CDA-8054-4F30-AA24-7864527ED42D}"/>
              </a:ext>
            </a:extLst>
          </p:cNvPr>
          <p:cNvSpPr txBox="1"/>
          <p:nvPr/>
        </p:nvSpPr>
        <p:spPr>
          <a:xfrm>
            <a:off x="0" y="0"/>
            <a:ext cx="4708358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it-IT" u="sng" dirty="0"/>
              <a:t>Original Chemical Subs distributions</a:t>
            </a:r>
            <a:endParaRPr lang="nl-NL" u="sng" dirty="0"/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62B614DA-B9E5-44DA-9D9F-C33D5F9B5334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52400" y="538130"/>
            <a:ext cx="11887200" cy="595820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013586166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spd="slow">
        <p159:morph option="byObject"/>
      </p:transition>
    </mc:Choice>
    <mc:Fallback xmlns="">
      <p:transition spd="slow">
        <p:fade/>
      </p:transition>
    </mc:Fallback>
  </mc:AlternateContent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D9EDA138-723D-402C-81C9-FBE5F72D6622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509869"/>
            <a:ext cx="12192000" cy="6110978"/>
          </a:xfrm>
          <a:prstGeom prst="rect">
            <a:avLst/>
          </a:prstGeom>
        </p:spPr>
      </p:pic>
      <p:sp>
        <p:nvSpPr>
          <p:cNvPr id="4" name="TextBox 3">
            <a:extLst>
              <a:ext uri="{FF2B5EF4-FFF2-40B4-BE49-F238E27FC236}">
                <a16:creationId xmlns:a16="http://schemas.microsoft.com/office/drawing/2014/main" id="{C89BEB55-6184-4AF3-A7C2-E99DE34DA79B}"/>
              </a:ext>
            </a:extLst>
          </p:cNvPr>
          <p:cNvSpPr txBox="1"/>
          <p:nvPr/>
        </p:nvSpPr>
        <p:spPr>
          <a:xfrm>
            <a:off x="0" y="0"/>
            <a:ext cx="4708358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it-IT" u="sng" dirty="0"/>
              <a:t>After Imputation Chemical Subs distributions</a:t>
            </a:r>
            <a:endParaRPr lang="nl-NL" u="sng" dirty="0"/>
          </a:p>
        </p:txBody>
      </p:sp>
    </p:spTree>
    <p:extLst>
      <p:ext uri="{BB962C8B-B14F-4D97-AF65-F5344CB8AC3E}">
        <p14:creationId xmlns:p14="http://schemas.microsoft.com/office/powerpoint/2010/main" val="1817773863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spd="slow">
        <p159:morph option="byObject"/>
      </p:transition>
    </mc:Choice>
    <mc:Fallback xmlns="">
      <p:transition spd="slow">
        <p:fade/>
      </p:transition>
    </mc:Fallback>
  </mc:AlternateContent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0C597A2D-637D-4700-8FE8-8DCBE5A562CE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1109671"/>
            <a:ext cx="12192000" cy="2132828"/>
          </a:xfrm>
          <a:prstGeom prst="rect">
            <a:avLst/>
          </a:prstGeom>
        </p:spPr>
      </p:pic>
      <p:pic>
        <p:nvPicPr>
          <p:cNvPr id="5" name="Picture 4">
            <a:extLst>
              <a:ext uri="{FF2B5EF4-FFF2-40B4-BE49-F238E27FC236}">
                <a16:creationId xmlns:a16="http://schemas.microsoft.com/office/drawing/2014/main" id="{D14A686D-085E-4768-98CF-61F1F9D8071A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4231492"/>
            <a:ext cx="12192000" cy="2132828"/>
          </a:xfrm>
          <a:prstGeom prst="rect">
            <a:avLst/>
          </a:prstGeom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82F73233-438F-4E0E-9D21-5EF1E8E223FC}"/>
              </a:ext>
            </a:extLst>
          </p:cNvPr>
          <p:cNvSpPr txBox="1"/>
          <p:nvPr/>
        </p:nvSpPr>
        <p:spPr>
          <a:xfrm>
            <a:off x="0" y="0"/>
            <a:ext cx="3400926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it-IT" dirty="0"/>
              <a:t>Kreatinine Data over time</a:t>
            </a:r>
            <a:endParaRPr lang="nl-NL" dirty="0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44205ADD-760A-43D7-9E5C-1CA26946C863}"/>
              </a:ext>
            </a:extLst>
          </p:cNvPr>
          <p:cNvSpPr txBox="1"/>
          <p:nvPr/>
        </p:nvSpPr>
        <p:spPr>
          <a:xfrm>
            <a:off x="4395537" y="742333"/>
            <a:ext cx="3400926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it-IT" dirty="0"/>
              <a:t>Kreatinine Registered</a:t>
            </a:r>
            <a:endParaRPr lang="nl-NL" dirty="0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A39CDD73-B873-496C-A709-535F4F828307}"/>
              </a:ext>
            </a:extLst>
          </p:cNvPr>
          <p:cNvSpPr txBox="1"/>
          <p:nvPr/>
        </p:nvSpPr>
        <p:spPr>
          <a:xfrm>
            <a:off x="4395537" y="3798172"/>
            <a:ext cx="3400926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it-IT" dirty="0"/>
              <a:t>Kreatinine Registered + Imputed</a:t>
            </a:r>
            <a:endParaRPr lang="nl-NL" dirty="0"/>
          </a:p>
        </p:txBody>
      </p:sp>
    </p:spTree>
    <p:extLst>
      <p:ext uri="{BB962C8B-B14F-4D97-AF65-F5344CB8AC3E}">
        <p14:creationId xmlns:p14="http://schemas.microsoft.com/office/powerpoint/2010/main" val="3977303332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spd="slow">
        <p159:morph option="byObject"/>
      </p:transition>
    </mc:Choice>
    <mc:Fallback xmlns="">
      <p:transition spd="slow">
        <p:fade/>
      </p:transition>
    </mc:Fallback>
  </mc:AlternateContent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0C597A2D-637D-4700-8FE8-8DCBE5A562CE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22421" y="1238007"/>
            <a:ext cx="5919537" cy="2132828"/>
          </a:xfrm>
          <a:prstGeom prst="rect">
            <a:avLst/>
          </a:prstGeom>
        </p:spPr>
      </p:pic>
      <p:pic>
        <p:nvPicPr>
          <p:cNvPr id="5" name="Picture 4">
            <a:extLst>
              <a:ext uri="{FF2B5EF4-FFF2-40B4-BE49-F238E27FC236}">
                <a16:creationId xmlns:a16="http://schemas.microsoft.com/office/drawing/2014/main" id="{D14A686D-085E-4768-98CF-61F1F9D8071A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22421" y="4359828"/>
            <a:ext cx="5919537" cy="2132828"/>
          </a:xfrm>
          <a:prstGeom prst="rect">
            <a:avLst/>
          </a:prstGeom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82F73233-438F-4E0E-9D21-5EF1E8E223FC}"/>
              </a:ext>
            </a:extLst>
          </p:cNvPr>
          <p:cNvSpPr txBox="1"/>
          <p:nvPr/>
        </p:nvSpPr>
        <p:spPr>
          <a:xfrm>
            <a:off x="0" y="0"/>
            <a:ext cx="3400926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it-IT" dirty="0"/>
              <a:t>Kreatinine Data over time</a:t>
            </a:r>
            <a:endParaRPr lang="nl-NL" dirty="0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44205ADD-760A-43D7-9E5C-1CA26946C863}"/>
              </a:ext>
            </a:extLst>
          </p:cNvPr>
          <p:cNvSpPr txBox="1"/>
          <p:nvPr/>
        </p:nvSpPr>
        <p:spPr>
          <a:xfrm>
            <a:off x="2583053" y="865483"/>
            <a:ext cx="259827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it-IT" dirty="0"/>
              <a:t>Kreatinine Registered</a:t>
            </a:r>
            <a:endParaRPr lang="nl-NL" dirty="0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A39CDD73-B873-496C-A709-535F4F828307}"/>
              </a:ext>
            </a:extLst>
          </p:cNvPr>
          <p:cNvSpPr txBox="1"/>
          <p:nvPr/>
        </p:nvSpPr>
        <p:spPr>
          <a:xfrm>
            <a:off x="1937083" y="3990496"/>
            <a:ext cx="3890211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it-IT" dirty="0"/>
              <a:t>Kreatinine Registered + Imputed</a:t>
            </a:r>
            <a:endParaRPr lang="nl-NL" dirty="0"/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484F6C92-4554-46AB-A52E-5085F8CBD941}"/>
              </a:ext>
            </a:extLst>
          </p:cNvPr>
          <p:cNvSpPr txBox="1"/>
          <p:nvPr/>
        </p:nvSpPr>
        <p:spPr>
          <a:xfrm>
            <a:off x="8229601" y="3370835"/>
            <a:ext cx="2959768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it-IT" dirty="0"/>
              <a:t>We need to change strategy...</a:t>
            </a:r>
            <a:endParaRPr lang="nl-NL" dirty="0"/>
          </a:p>
        </p:txBody>
      </p:sp>
      <p:cxnSp>
        <p:nvCxnSpPr>
          <p:cNvPr id="9" name="Straight Arrow Connector 8">
            <a:extLst>
              <a:ext uri="{FF2B5EF4-FFF2-40B4-BE49-F238E27FC236}">
                <a16:creationId xmlns:a16="http://schemas.microsoft.com/office/drawing/2014/main" id="{BF062F9B-75EE-45F0-9939-679479C24314}"/>
              </a:ext>
            </a:extLst>
          </p:cNvPr>
          <p:cNvCxnSpPr>
            <a:stCxn id="2" idx="1"/>
            <a:endCxn id="3" idx="3"/>
          </p:cNvCxnSpPr>
          <p:nvPr/>
        </p:nvCxnSpPr>
        <p:spPr>
          <a:xfrm flipH="1" flipV="1">
            <a:off x="6841958" y="2304421"/>
            <a:ext cx="1387643" cy="125108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" name="Straight Arrow Connector 10">
            <a:extLst>
              <a:ext uri="{FF2B5EF4-FFF2-40B4-BE49-F238E27FC236}">
                <a16:creationId xmlns:a16="http://schemas.microsoft.com/office/drawing/2014/main" id="{3B8C72A0-5C06-4603-82F0-D06B5C07D601}"/>
              </a:ext>
            </a:extLst>
          </p:cNvPr>
          <p:cNvCxnSpPr>
            <a:stCxn id="2" idx="1"/>
            <a:endCxn id="5" idx="3"/>
          </p:cNvCxnSpPr>
          <p:nvPr/>
        </p:nvCxnSpPr>
        <p:spPr>
          <a:xfrm flipH="1">
            <a:off x="6841958" y="3555501"/>
            <a:ext cx="1387643" cy="1870741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960712583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spd="slow">
        <p159:morph option="byObject"/>
      </p:transition>
    </mc:Choice>
    <mc:Fallback xmlns="">
      <p:transition spd="slow">
        <p:fade/>
      </p:transition>
    </mc:Fallback>
  </mc:AlternateContent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5ACEB4A5-7556-45C7-AF61-C9952B09F07C}"/>
              </a:ext>
            </a:extLst>
          </p:cNvPr>
          <p:cNvSpPr txBox="1"/>
          <p:nvPr/>
        </p:nvSpPr>
        <p:spPr>
          <a:xfrm>
            <a:off x="3709737" y="3136612"/>
            <a:ext cx="4772526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it-IT" sz="3200" dirty="0"/>
              <a:t>Strategy 2</a:t>
            </a:r>
            <a:endParaRPr lang="nl-NL" sz="3200" dirty="0"/>
          </a:p>
        </p:txBody>
      </p:sp>
    </p:spTree>
    <p:extLst>
      <p:ext uri="{BB962C8B-B14F-4D97-AF65-F5344CB8AC3E}">
        <p14:creationId xmlns:p14="http://schemas.microsoft.com/office/powerpoint/2010/main" val="3596063474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spd="slow">
        <p159:morph option="byObject"/>
      </p:transition>
    </mc:Choice>
    <mc:Fallback xmlns="">
      <p:transition spd="slow">
        <p:fade/>
      </p:transition>
    </mc:Fallback>
  </mc:AlternateContent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Graphic 4" descr="Database">
            <a:extLst>
              <a:ext uri="{FF2B5EF4-FFF2-40B4-BE49-F238E27FC236}">
                <a16:creationId xmlns:a16="http://schemas.microsoft.com/office/drawing/2014/main" id="{0D465E5E-71B4-4CAA-80E1-ADC707F0E799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729916" y="2993858"/>
            <a:ext cx="914400" cy="914400"/>
          </a:xfrm>
          <a:prstGeom prst="rect">
            <a:avLst/>
          </a:prstGeom>
        </p:spPr>
      </p:pic>
      <p:pic>
        <p:nvPicPr>
          <p:cNvPr id="6" name="Graphic 5" descr="Database">
            <a:extLst>
              <a:ext uri="{FF2B5EF4-FFF2-40B4-BE49-F238E27FC236}">
                <a16:creationId xmlns:a16="http://schemas.microsoft.com/office/drawing/2014/main" id="{E81DF561-3B38-4BE3-974A-FE9B9C865346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2919663" y="1439778"/>
            <a:ext cx="914400" cy="914400"/>
          </a:xfrm>
          <a:prstGeom prst="rect">
            <a:avLst/>
          </a:prstGeom>
        </p:spPr>
      </p:pic>
      <p:pic>
        <p:nvPicPr>
          <p:cNvPr id="7" name="Graphic 6" descr="Database">
            <a:extLst>
              <a:ext uri="{FF2B5EF4-FFF2-40B4-BE49-F238E27FC236}">
                <a16:creationId xmlns:a16="http://schemas.microsoft.com/office/drawing/2014/main" id="{6FE9CA92-798F-4967-8D7B-6A1E2BF3A9CF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2919663" y="4503822"/>
            <a:ext cx="914400" cy="914400"/>
          </a:xfrm>
          <a:prstGeom prst="rect">
            <a:avLst/>
          </a:prstGeom>
        </p:spPr>
      </p:pic>
      <p:cxnSp>
        <p:nvCxnSpPr>
          <p:cNvPr id="9" name="Connector: Elbow 8">
            <a:extLst>
              <a:ext uri="{FF2B5EF4-FFF2-40B4-BE49-F238E27FC236}">
                <a16:creationId xmlns:a16="http://schemas.microsoft.com/office/drawing/2014/main" id="{2D7E791C-D6D1-49D9-A9B9-CA8B32688F1D}"/>
              </a:ext>
            </a:extLst>
          </p:cNvPr>
          <p:cNvCxnSpPr>
            <a:stCxn id="5" idx="3"/>
            <a:endCxn id="6" idx="1"/>
          </p:cNvCxnSpPr>
          <p:nvPr/>
        </p:nvCxnSpPr>
        <p:spPr>
          <a:xfrm flipV="1">
            <a:off x="1644316" y="1896978"/>
            <a:ext cx="1275347" cy="1554080"/>
          </a:xfrm>
          <a:prstGeom prst="bentConnector3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1" name="Connector: Elbow 10">
            <a:extLst>
              <a:ext uri="{FF2B5EF4-FFF2-40B4-BE49-F238E27FC236}">
                <a16:creationId xmlns:a16="http://schemas.microsoft.com/office/drawing/2014/main" id="{D06B5001-B912-4762-8E80-96E82E1A01EB}"/>
              </a:ext>
            </a:extLst>
          </p:cNvPr>
          <p:cNvCxnSpPr>
            <a:stCxn id="5" idx="3"/>
            <a:endCxn id="7" idx="1"/>
          </p:cNvCxnSpPr>
          <p:nvPr/>
        </p:nvCxnSpPr>
        <p:spPr>
          <a:xfrm>
            <a:off x="1644316" y="3451058"/>
            <a:ext cx="1275347" cy="1509964"/>
          </a:xfrm>
          <a:prstGeom prst="bentConnector3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pic>
        <p:nvPicPr>
          <p:cNvPr id="14" name="Graphic 13" descr="Braille">
            <a:extLst>
              <a:ext uri="{FF2B5EF4-FFF2-40B4-BE49-F238E27FC236}">
                <a16:creationId xmlns:a16="http://schemas.microsoft.com/office/drawing/2014/main" id="{CFE3DD75-4FF4-4EFC-94BD-D9BF548E1C0C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7154779" y="1439778"/>
            <a:ext cx="914400" cy="914400"/>
          </a:xfrm>
          <a:prstGeom prst="rect">
            <a:avLst/>
          </a:prstGeom>
        </p:spPr>
      </p:pic>
      <p:pic>
        <p:nvPicPr>
          <p:cNvPr id="16" name="Graphic 15" descr="Head with gears">
            <a:extLst>
              <a:ext uri="{FF2B5EF4-FFF2-40B4-BE49-F238E27FC236}">
                <a16:creationId xmlns:a16="http://schemas.microsoft.com/office/drawing/2014/main" id="{53E289C0-C6F1-4870-99BC-B4F0CD2B59ED}"/>
              </a:ext>
            </a:extLst>
          </p:cNvPr>
          <p:cNvPicPr>
            <a:picLocks noChangeAspect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7"/>
              </a:ext>
            </a:extLst>
          </a:blip>
          <a:stretch>
            <a:fillRect/>
          </a:stretch>
        </p:blipFill>
        <p:spPr>
          <a:xfrm>
            <a:off x="5037221" y="4503822"/>
            <a:ext cx="914400" cy="914400"/>
          </a:xfrm>
          <a:prstGeom prst="rect">
            <a:avLst/>
          </a:prstGeom>
        </p:spPr>
      </p:pic>
      <p:pic>
        <p:nvPicPr>
          <p:cNvPr id="18" name="Graphic 17" descr="Network diagram">
            <a:extLst>
              <a:ext uri="{FF2B5EF4-FFF2-40B4-BE49-F238E27FC236}">
                <a16:creationId xmlns:a16="http://schemas.microsoft.com/office/drawing/2014/main" id="{F4F2FF9D-9F35-4D8F-ADFB-D0FC4B573764}"/>
              </a:ext>
            </a:extLst>
          </p:cNvPr>
          <p:cNvPicPr>
            <a:picLocks noChangeAspect="1"/>
          </p:cNvPicPr>
          <p:nvPr/>
        </p:nvPicPr>
        <p:blipFill>
          <a:blip r:embed="rId8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9"/>
              </a:ext>
            </a:extLst>
          </a:blip>
          <a:stretch>
            <a:fillRect/>
          </a:stretch>
        </p:blipFill>
        <p:spPr>
          <a:xfrm>
            <a:off x="8686800" y="2993858"/>
            <a:ext cx="914400" cy="914400"/>
          </a:xfrm>
          <a:prstGeom prst="rect">
            <a:avLst/>
          </a:prstGeom>
        </p:spPr>
      </p:pic>
      <p:pic>
        <p:nvPicPr>
          <p:cNvPr id="20" name="Graphic 19" descr="Statistics">
            <a:extLst>
              <a:ext uri="{FF2B5EF4-FFF2-40B4-BE49-F238E27FC236}">
                <a16:creationId xmlns:a16="http://schemas.microsoft.com/office/drawing/2014/main" id="{FFCFB770-836A-4E84-8798-0AB8A5F21F3B}"/>
              </a:ext>
            </a:extLst>
          </p:cNvPr>
          <p:cNvPicPr>
            <a:picLocks noChangeAspect="1"/>
          </p:cNvPicPr>
          <p:nvPr/>
        </p:nvPicPr>
        <p:blipFill>
          <a:blip r:embed="rId10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11"/>
              </a:ext>
            </a:extLst>
          </a:blip>
          <a:stretch>
            <a:fillRect/>
          </a:stretch>
        </p:blipFill>
        <p:spPr>
          <a:xfrm>
            <a:off x="5037221" y="1439778"/>
            <a:ext cx="914400" cy="914400"/>
          </a:xfrm>
          <a:prstGeom prst="rect">
            <a:avLst/>
          </a:prstGeom>
        </p:spPr>
      </p:pic>
      <p:pic>
        <p:nvPicPr>
          <p:cNvPr id="21" name="Graphic 20" descr="Braille">
            <a:extLst>
              <a:ext uri="{FF2B5EF4-FFF2-40B4-BE49-F238E27FC236}">
                <a16:creationId xmlns:a16="http://schemas.microsoft.com/office/drawing/2014/main" id="{8AC4798F-98EB-4F3F-92C9-6C7F638058ED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7154779" y="4503822"/>
            <a:ext cx="914400" cy="914400"/>
          </a:xfrm>
          <a:prstGeom prst="rect">
            <a:avLst/>
          </a:prstGeom>
        </p:spPr>
      </p:pic>
      <p:cxnSp>
        <p:nvCxnSpPr>
          <p:cNvPr id="23" name="Straight Arrow Connector 22">
            <a:extLst>
              <a:ext uri="{FF2B5EF4-FFF2-40B4-BE49-F238E27FC236}">
                <a16:creationId xmlns:a16="http://schemas.microsoft.com/office/drawing/2014/main" id="{073D8E2E-A8A1-4A4F-B04B-888FE81ECC83}"/>
              </a:ext>
            </a:extLst>
          </p:cNvPr>
          <p:cNvCxnSpPr>
            <a:stCxn id="6" idx="3"/>
            <a:endCxn id="20" idx="1"/>
          </p:cNvCxnSpPr>
          <p:nvPr/>
        </p:nvCxnSpPr>
        <p:spPr>
          <a:xfrm>
            <a:off x="3834063" y="1896978"/>
            <a:ext cx="1203158" cy="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5" name="Straight Arrow Connector 24">
            <a:extLst>
              <a:ext uri="{FF2B5EF4-FFF2-40B4-BE49-F238E27FC236}">
                <a16:creationId xmlns:a16="http://schemas.microsoft.com/office/drawing/2014/main" id="{9B43F149-E4E7-4783-8884-9E977B5D78BF}"/>
              </a:ext>
            </a:extLst>
          </p:cNvPr>
          <p:cNvCxnSpPr>
            <a:stCxn id="20" idx="3"/>
            <a:endCxn id="14" idx="1"/>
          </p:cNvCxnSpPr>
          <p:nvPr/>
        </p:nvCxnSpPr>
        <p:spPr>
          <a:xfrm>
            <a:off x="5951621" y="1896978"/>
            <a:ext cx="1203158" cy="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7" name="Straight Arrow Connector 26">
            <a:extLst>
              <a:ext uri="{FF2B5EF4-FFF2-40B4-BE49-F238E27FC236}">
                <a16:creationId xmlns:a16="http://schemas.microsoft.com/office/drawing/2014/main" id="{37EAEDDD-7130-4679-AED7-6303C1A57890}"/>
              </a:ext>
            </a:extLst>
          </p:cNvPr>
          <p:cNvCxnSpPr>
            <a:stCxn id="14" idx="3"/>
            <a:endCxn id="18" idx="1"/>
          </p:cNvCxnSpPr>
          <p:nvPr/>
        </p:nvCxnSpPr>
        <p:spPr>
          <a:xfrm>
            <a:off x="8069179" y="1896978"/>
            <a:ext cx="617621" cy="155408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9" name="Straight Arrow Connector 28">
            <a:extLst>
              <a:ext uri="{FF2B5EF4-FFF2-40B4-BE49-F238E27FC236}">
                <a16:creationId xmlns:a16="http://schemas.microsoft.com/office/drawing/2014/main" id="{51349B75-AD95-4C06-B895-E3C404052A54}"/>
              </a:ext>
            </a:extLst>
          </p:cNvPr>
          <p:cNvCxnSpPr>
            <a:stCxn id="7" idx="3"/>
            <a:endCxn id="16" idx="1"/>
          </p:cNvCxnSpPr>
          <p:nvPr/>
        </p:nvCxnSpPr>
        <p:spPr>
          <a:xfrm>
            <a:off x="3834063" y="4961022"/>
            <a:ext cx="1203158" cy="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31" name="Straight Arrow Connector 30">
            <a:extLst>
              <a:ext uri="{FF2B5EF4-FFF2-40B4-BE49-F238E27FC236}">
                <a16:creationId xmlns:a16="http://schemas.microsoft.com/office/drawing/2014/main" id="{939122D0-529A-4924-9F25-179DD8CDEF6E}"/>
              </a:ext>
            </a:extLst>
          </p:cNvPr>
          <p:cNvCxnSpPr>
            <a:stCxn id="16" idx="3"/>
            <a:endCxn id="21" idx="1"/>
          </p:cNvCxnSpPr>
          <p:nvPr/>
        </p:nvCxnSpPr>
        <p:spPr>
          <a:xfrm>
            <a:off x="5951621" y="4961022"/>
            <a:ext cx="1203158" cy="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33" name="Straight Arrow Connector 32">
            <a:extLst>
              <a:ext uri="{FF2B5EF4-FFF2-40B4-BE49-F238E27FC236}">
                <a16:creationId xmlns:a16="http://schemas.microsoft.com/office/drawing/2014/main" id="{FA79EF34-8C9A-46B0-A0C8-281492399F29}"/>
              </a:ext>
            </a:extLst>
          </p:cNvPr>
          <p:cNvCxnSpPr>
            <a:stCxn id="21" idx="3"/>
            <a:endCxn id="18" idx="1"/>
          </p:cNvCxnSpPr>
          <p:nvPr/>
        </p:nvCxnSpPr>
        <p:spPr>
          <a:xfrm flipV="1">
            <a:off x="8069179" y="3451058"/>
            <a:ext cx="617621" cy="1509964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36" name="TextBox 35">
            <a:extLst>
              <a:ext uri="{FF2B5EF4-FFF2-40B4-BE49-F238E27FC236}">
                <a16:creationId xmlns:a16="http://schemas.microsoft.com/office/drawing/2014/main" id="{B92C21B9-73DF-4A50-8732-70B04DB91BB2}"/>
              </a:ext>
            </a:extLst>
          </p:cNvPr>
          <p:cNvSpPr txBox="1"/>
          <p:nvPr/>
        </p:nvSpPr>
        <p:spPr>
          <a:xfrm>
            <a:off x="729916" y="2674018"/>
            <a:ext cx="91440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it-IT" dirty="0"/>
              <a:t>Data</a:t>
            </a:r>
            <a:endParaRPr lang="nl-NL" dirty="0"/>
          </a:p>
        </p:txBody>
      </p:sp>
      <p:sp>
        <p:nvSpPr>
          <p:cNvPr id="37" name="TextBox 36">
            <a:extLst>
              <a:ext uri="{FF2B5EF4-FFF2-40B4-BE49-F238E27FC236}">
                <a16:creationId xmlns:a16="http://schemas.microsoft.com/office/drawing/2014/main" id="{F92AB112-5266-4EE3-8175-5625F3CC0148}"/>
              </a:ext>
            </a:extLst>
          </p:cNvPr>
          <p:cNvSpPr txBox="1"/>
          <p:nvPr/>
        </p:nvSpPr>
        <p:spPr>
          <a:xfrm>
            <a:off x="2410326" y="1040458"/>
            <a:ext cx="1933074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it-IT" dirty="0"/>
              <a:t>To be interpolated</a:t>
            </a:r>
            <a:endParaRPr lang="nl-NL" dirty="0"/>
          </a:p>
        </p:txBody>
      </p:sp>
      <p:sp>
        <p:nvSpPr>
          <p:cNvPr id="38" name="TextBox 37">
            <a:extLst>
              <a:ext uri="{FF2B5EF4-FFF2-40B4-BE49-F238E27FC236}">
                <a16:creationId xmlns:a16="http://schemas.microsoft.com/office/drawing/2014/main" id="{21DB563F-66D7-4806-B713-02249C6E6939}"/>
              </a:ext>
            </a:extLst>
          </p:cNvPr>
          <p:cNvSpPr txBox="1"/>
          <p:nvPr/>
        </p:nvSpPr>
        <p:spPr>
          <a:xfrm>
            <a:off x="2486526" y="4206040"/>
            <a:ext cx="1933074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it-IT" dirty="0"/>
              <a:t>To be imputed</a:t>
            </a:r>
            <a:endParaRPr lang="nl-NL" dirty="0"/>
          </a:p>
        </p:txBody>
      </p:sp>
      <p:sp>
        <p:nvSpPr>
          <p:cNvPr id="39" name="TextBox 38">
            <a:extLst>
              <a:ext uri="{FF2B5EF4-FFF2-40B4-BE49-F238E27FC236}">
                <a16:creationId xmlns:a16="http://schemas.microsoft.com/office/drawing/2014/main" id="{7D19FC32-97A8-4104-B28A-CF6DA7AD830C}"/>
              </a:ext>
            </a:extLst>
          </p:cNvPr>
          <p:cNvSpPr txBox="1"/>
          <p:nvPr/>
        </p:nvSpPr>
        <p:spPr>
          <a:xfrm>
            <a:off x="6777789" y="4076383"/>
            <a:ext cx="1668379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it-IT" dirty="0"/>
              <a:t>Agg Imputed Data</a:t>
            </a:r>
            <a:endParaRPr lang="nl-NL" dirty="0"/>
          </a:p>
        </p:txBody>
      </p:sp>
      <p:sp>
        <p:nvSpPr>
          <p:cNvPr id="40" name="TextBox 39">
            <a:extLst>
              <a:ext uri="{FF2B5EF4-FFF2-40B4-BE49-F238E27FC236}">
                <a16:creationId xmlns:a16="http://schemas.microsoft.com/office/drawing/2014/main" id="{D511C0EE-145E-4892-AAC3-2ACC6A2D1834}"/>
              </a:ext>
            </a:extLst>
          </p:cNvPr>
          <p:cNvSpPr txBox="1"/>
          <p:nvPr/>
        </p:nvSpPr>
        <p:spPr>
          <a:xfrm>
            <a:off x="4527884" y="4178424"/>
            <a:ext cx="1933074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it-IT" dirty="0"/>
              <a:t>Imputer</a:t>
            </a:r>
            <a:endParaRPr lang="nl-NL" dirty="0"/>
          </a:p>
        </p:txBody>
      </p:sp>
      <p:sp>
        <p:nvSpPr>
          <p:cNvPr id="41" name="TextBox 40">
            <a:extLst>
              <a:ext uri="{FF2B5EF4-FFF2-40B4-BE49-F238E27FC236}">
                <a16:creationId xmlns:a16="http://schemas.microsoft.com/office/drawing/2014/main" id="{66FA8274-CF09-4053-A202-9FD34F0AD1D7}"/>
              </a:ext>
            </a:extLst>
          </p:cNvPr>
          <p:cNvSpPr txBox="1"/>
          <p:nvPr/>
        </p:nvSpPr>
        <p:spPr>
          <a:xfrm>
            <a:off x="4578016" y="1040458"/>
            <a:ext cx="179270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it-IT" dirty="0"/>
              <a:t>Interpolate&amp;Agg</a:t>
            </a:r>
            <a:endParaRPr lang="nl-NL" dirty="0"/>
          </a:p>
        </p:txBody>
      </p:sp>
      <p:sp>
        <p:nvSpPr>
          <p:cNvPr id="42" name="TextBox 41">
            <a:extLst>
              <a:ext uri="{FF2B5EF4-FFF2-40B4-BE49-F238E27FC236}">
                <a16:creationId xmlns:a16="http://schemas.microsoft.com/office/drawing/2014/main" id="{4F3F9F64-9CB2-4C49-B464-95ADFA07E271}"/>
              </a:ext>
            </a:extLst>
          </p:cNvPr>
          <p:cNvSpPr txBox="1"/>
          <p:nvPr/>
        </p:nvSpPr>
        <p:spPr>
          <a:xfrm>
            <a:off x="6605337" y="939326"/>
            <a:ext cx="1973179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it-IT" dirty="0"/>
              <a:t>Weighted Avg based on time</a:t>
            </a:r>
            <a:endParaRPr lang="nl-NL" dirty="0"/>
          </a:p>
        </p:txBody>
      </p:sp>
      <p:sp>
        <p:nvSpPr>
          <p:cNvPr id="47" name="TextBox 46">
            <a:extLst>
              <a:ext uri="{FF2B5EF4-FFF2-40B4-BE49-F238E27FC236}">
                <a16:creationId xmlns:a16="http://schemas.microsoft.com/office/drawing/2014/main" id="{70D1AA15-024B-4A22-9E5B-6FCA5290E1CE}"/>
              </a:ext>
            </a:extLst>
          </p:cNvPr>
          <p:cNvSpPr txBox="1"/>
          <p:nvPr/>
        </p:nvSpPr>
        <p:spPr>
          <a:xfrm>
            <a:off x="9436768" y="3244334"/>
            <a:ext cx="1532021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it-IT" dirty="0"/>
              <a:t>Data Fusion</a:t>
            </a:r>
            <a:endParaRPr lang="nl-NL" dirty="0"/>
          </a:p>
        </p:txBody>
      </p:sp>
      <p:sp>
        <p:nvSpPr>
          <p:cNvPr id="48" name="TextBox 47">
            <a:extLst>
              <a:ext uri="{FF2B5EF4-FFF2-40B4-BE49-F238E27FC236}">
                <a16:creationId xmlns:a16="http://schemas.microsoft.com/office/drawing/2014/main" id="{339AB1E6-67B6-4B4E-97CC-380898C45A3E}"/>
              </a:ext>
            </a:extLst>
          </p:cNvPr>
          <p:cNvSpPr txBox="1"/>
          <p:nvPr/>
        </p:nvSpPr>
        <p:spPr>
          <a:xfrm>
            <a:off x="0" y="0"/>
            <a:ext cx="3457074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it-IT" u="sng" dirty="0"/>
              <a:t>Data processing - Pipeline</a:t>
            </a:r>
            <a:endParaRPr lang="nl-NL" u="sng" dirty="0"/>
          </a:p>
        </p:txBody>
      </p:sp>
    </p:spTree>
    <p:extLst>
      <p:ext uri="{BB962C8B-B14F-4D97-AF65-F5344CB8AC3E}">
        <p14:creationId xmlns:p14="http://schemas.microsoft.com/office/powerpoint/2010/main" val="1783811437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spd="slow">
        <p159:morph option="byObject"/>
      </p:transition>
    </mc:Choice>
    <mc:Fallback xmlns="">
      <p:transition spd="slow">
        <p:fade/>
      </p:transition>
    </mc:Fallback>
  </mc:AlternateContent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3" name="Table 2">
            <a:extLst>
              <a:ext uri="{FF2B5EF4-FFF2-40B4-BE49-F238E27FC236}">
                <a16:creationId xmlns:a16="http://schemas.microsoft.com/office/drawing/2014/main" id="{841EFDCE-6A3A-4FC2-878E-0096095E24B7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044074226"/>
              </p:ext>
            </p:extLst>
          </p:nvPr>
        </p:nvGraphicFramePr>
        <p:xfrm>
          <a:off x="1048081" y="1018540"/>
          <a:ext cx="5874084" cy="4820920"/>
        </p:xfrm>
        <a:graphic>
          <a:graphicData uri="http://schemas.openxmlformats.org/drawingml/2006/table">
            <a:tbl>
              <a:tblPr firstRow="1" bandRow="1">
                <a:tableStyleId>{9D7B26C5-4107-4FEC-AEDC-1716B250A1EF}</a:tableStyleId>
              </a:tblPr>
              <a:tblGrid>
                <a:gridCol w="3609474">
                  <a:extLst>
                    <a:ext uri="{9D8B030D-6E8A-4147-A177-3AD203B41FA5}">
                      <a16:colId xmlns:a16="http://schemas.microsoft.com/office/drawing/2014/main" val="2857705795"/>
                    </a:ext>
                  </a:extLst>
                </a:gridCol>
                <a:gridCol w="2264610">
                  <a:extLst>
                    <a:ext uri="{9D8B030D-6E8A-4147-A177-3AD203B41FA5}">
                      <a16:colId xmlns:a16="http://schemas.microsoft.com/office/drawing/2014/main" val="3255647997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it-IT" dirty="0"/>
                        <a:t>Substance</a:t>
                      </a:r>
                      <a:endParaRPr lang="nl-NL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it-IT" dirty="0"/>
                        <a:t>Present values count</a:t>
                      </a:r>
                      <a:endParaRPr lang="nl-NL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180812779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nl-NL" dirty="0"/>
                        <a:t>CRP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nl-NL" dirty="0"/>
                        <a:t>11669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9603985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nl-NL" dirty="0"/>
                        <a:t>Cholesterol 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nl-NL" dirty="0"/>
                        <a:t>2525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972583283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nl-NL" dirty="0"/>
                        <a:t>HDL Cholesterol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nl-NL" dirty="0"/>
                        <a:t>2493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510479191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nl-NL" dirty="0"/>
                        <a:t>HbA1c 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nl-NL" dirty="0"/>
                        <a:t>2803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209619607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nl-NL" dirty="0"/>
                        <a:t>Hemoglobine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nl-NL" dirty="0"/>
                        <a:t>23126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345326245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nl-NL" dirty="0"/>
                        <a:t>Kalium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nl-NL" dirty="0"/>
                        <a:t>23488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03106008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nl-NL" dirty="0" err="1"/>
                        <a:t>Kreatinine</a:t>
                      </a:r>
                      <a:r>
                        <a:rPr lang="nl-NL" dirty="0"/>
                        <a:t> 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nl-NL" dirty="0"/>
                        <a:t>21205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127138018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nl-NL" dirty="0"/>
                        <a:t>LDL Cholesterol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nl-NL" dirty="0"/>
                        <a:t>2147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952752006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nl-NL" dirty="0"/>
                        <a:t>Natrium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nl-NL" dirty="0"/>
                        <a:t>20724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351056571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nl-NL" dirty="0"/>
                        <a:t>Triglyceriden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nl-NL" dirty="0"/>
                        <a:t>2626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643239166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nl-NL" dirty="0" err="1"/>
                        <a:t>eGFR</a:t>
                      </a:r>
                      <a:r>
                        <a:rPr lang="nl-NL" dirty="0"/>
                        <a:t> (CKD-EPI) 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nl-NL" dirty="0"/>
                        <a:t>21181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424592230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nl-NL" dirty="0"/>
                        <a:t>non-HDL cholesterol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nl-NL" dirty="0"/>
                        <a:t>2481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598904815"/>
                  </a:ext>
                </a:extLst>
              </a:tr>
            </a:tbl>
          </a:graphicData>
        </a:graphic>
      </p:graphicFrame>
      <p:sp>
        <p:nvSpPr>
          <p:cNvPr id="5" name="Rectangle 4">
            <a:extLst>
              <a:ext uri="{FF2B5EF4-FFF2-40B4-BE49-F238E27FC236}">
                <a16:creationId xmlns:a16="http://schemas.microsoft.com/office/drawing/2014/main" id="{FFDBA18B-D1D7-4CFF-A12B-7FB9E004DF79}"/>
              </a:ext>
            </a:extLst>
          </p:cNvPr>
          <p:cNvSpPr/>
          <p:nvPr/>
        </p:nvSpPr>
        <p:spPr>
          <a:xfrm>
            <a:off x="1048081" y="2863516"/>
            <a:ext cx="5874084" cy="368968"/>
          </a:xfrm>
          <a:prstGeom prst="rect">
            <a:avLst/>
          </a:prstGeom>
          <a:solidFill>
            <a:schemeClr val="accent6">
              <a:alpha val="50000"/>
            </a:schemeClr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nl-NL"/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AAC61424-BD8E-4EEF-BF4D-2D8BA8FB26AE}"/>
              </a:ext>
            </a:extLst>
          </p:cNvPr>
          <p:cNvSpPr/>
          <p:nvPr/>
        </p:nvSpPr>
        <p:spPr>
          <a:xfrm>
            <a:off x="1048081" y="3625517"/>
            <a:ext cx="5874084" cy="368968"/>
          </a:xfrm>
          <a:prstGeom prst="rect">
            <a:avLst/>
          </a:prstGeom>
          <a:solidFill>
            <a:schemeClr val="accent6">
              <a:alpha val="50000"/>
            </a:schemeClr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nl-NL"/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764DEB25-96EA-4DFC-989E-80095B8F2316}"/>
              </a:ext>
            </a:extLst>
          </p:cNvPr>
          <p:cNvSpPr/>
          <p:nvPr/>
        </p:nvSpPr>
        <p:spPr>
          <a:xfrm>
            <a:off x="1048081" y="4363520"/>
            <a:ext cx="5874084" cy="368968"/>
          </a:xfrm>
          <a:prstGeom prst="rect">
            <a:avLst/>
          </a:prstGeom>
          <a:solidFill>
            <a:schemeClr val="accent6">
              <a:alpha val="50000"/>
            </a:schemeClr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nl-NL"/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31EEE006-C5B8-43F0-8A57-0163A12D0E93}"/>
              </a:ext>
            </a:extLst>
          </p:cNvPr>
          <p:cNvSpPr/>
          <p:nvPr/>
        </p:nvSpPr>
        <p:spPr>
          <a:xfrm>
            <a:off x="1048081" y="5101490"/>
            <a:ext cx="5874084" cy="368968"/>
          </a:xfrm>
          <a:prstGeom prst="rect">
            <a:avLst/>
          </a:prstGeom>
          <a:solidFill>
            <a:schemeClr val="accent6">
              <a:alpha val="50000"/>
            </a:schemeClr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nl-NL"/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782961CC-91D0-4961-BB42-58A23F6CF0DA}"/>
              </a:ext>
            </a:extLst>
          </p:cNvPr>
          <p:cNvSpPr/>
          <p:nvPr/>
        </p:nvSpPr>
        <p:spPr>
          <a:xfrm>
            <a:off x="1048081" y="1387542"/>
            <a:ext cx="5874084" cy="368968"/>
          </a:xfrm>
          <a:prstGeom prst="rect">
            <a:avLst/>
          </a:prstGeom>
          <a:solidFill>
            <a:schemeClr val="accent1">
              <a:alpha val="50000"/>
            </a:schemeClr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nl-NL"/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27307ECC-0C19-49E1-AAE5-B528C69F84A2}"/>
              </a:ext>
            </a:extLst>
          </p:cNvPr>
          <p:cNvSpPr/>
          <p:nvPr/>
        </p:nvSpPr>
        <p:spPr>
          <a:xfrm>
            <a:off x="1048081" y="1756510"/>
            <a:ext cx="5874084" cy="368968"/>
          </a:xfrm>
          <a:prstGeom prst="rect">
            <a:avLst/>
          </a:prstGeom>
          <a:solidFill>
            <a:schemeClr val="accent1">
              <a:alpha val="50000"/>
            </a:schemeClr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nl-NL"/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24C1DF77-2156-41BA-B371-314FDAF17CB5}"/>
              </a:ext>
            </a:extLst>
          </p:cNvPr>
          <p:cNvSpPr/>
          <p:nvPr/>
        </p:nvSpPr>
        <p:spPr>
          <a:xfrm>
            <a:off x="1048081" y="2125529"/>
            <a:ext cx="5874084" cy="368968"/>
          </a:xfrm>
          <a:prstGeom prst="rect">
            <a:avLst/>
          </a:prstGeom>
          <a:solidFill>
            <a:schemeClr val="accent1">
              <a:alpha val="50000"/>
            </a:schemeClr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nl-NL"/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89DCDDD4-1795-4D71-AAA2-7FCACA5AA2B7}"/>
              </a:ext>
            </a:extLst>
          </p:cNvPr>
          <p:cNvSpPr/>
          <p:nvPr/>
        </p:nvSpPr>
        <p:spPr>
          <a:xfrm>
            <a:off x="1048081" y="2494531"/>
            <a:ext cx="5874084" cy="368968"/>
          </a:xfrm>
          <a:prstGeom prst="rect">
            <a:avLst/>
          </a:prstGeom>
          <a:solidFill>
            <a:schemeClr val="accent1">
              <a:alpha val="50000"/>
            </a:schemeClr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nl-NL"/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8E5593BE-D5E6-43BC-AC69-B5F0C659BFB0}"/>
              </a:ext>
            </a:extLst>
          </p:cNvPr>
          <p:cNvSpPr/>
          <p:nvPr/>
        </p:nvSpPr>
        <p:spPr>
          <a:xfrm>
            <a:off x="1048081" y="3232483"/>
            <a:ext cx="5874084" cy="393034"/>
          </a:xfrm>
          <a:prstGeom prst="rect">
            <a:avLst/>
          </a:prstGeom>
          <a:solidFill>
            <a:schemeClr val="accent1">
              <a:alpha val="50000"/>
            </a:schemeClr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nl-NL"/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6D521C61-66F1-497B-AE24-312DF4DA282D}"/>
              </a:ext>
            </a:extLst>
          </p:cNvPr>
          <p:cNvSpPr/>
          <p:nvPr/>
        </p:nvSpPr>
        <p:spPr>
          <a:xfrm>
            <a:off x="1048081" y="3982469"/>
            <a:ext cx="5874084" cy="393034"/>
          </a:xfrm>
          <a:prstGeom prst="rect">
            <a:avLst/>
          </a:prstGeom>
          <a:solidFill>
            <a:schemeClr val="accent1">
              <a:alpha val="50000"/>
            </a:schemeClr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nl-NL"/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749AD5D4-C117-4800-A408-D2DFD4CA907D}"/>
              </a:ext>
            </a:extLst>
          </p:cNvPr>
          <p:cNvSpPr/>
          <p:nvPr/>
        </p:nvSpPr>
        <p:spPr>
          <a:xfrm>
            <a:off x="1048081" y="4708456"/>
            <a:ext cx="5874084" cy="393034"/>
          </a:xfrm>
          <a:prstGeom prst="rect">
            <a:avLst/>
          </a:prstGeom>
          <a:solidFill>
            <a:schemeClr val="accent1">
              <a:alpha val="50000"/>
            </a:schemeClr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nl-NL"/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6F265051-3DEC-4E0B-AD6E-61CD5452612F}"/>
              </a:ext>
            </a:extLst>
          </p:cNvPr>
          <p:cNvSpPr/>
          <p:nvPr/>
        </p:nvSpPr>
        <p:spPr>
          <a:xfrm>
            <a:off x="1048081" y="5446426"/>
            <a:ext cx="5874084" cy="393034"/>
          </a:xfrm>
          <a:prstGeom prst="rect">
            <a:avLst/>
          </a:prstGeom>
          <a:solidFill>
            <a:schemeClr val="accent1">
              <a:alpha val="50000"/>
            </a:schemeClr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nl-NL"/>
          </a:p>
        </p:txBody>
      </p:sp>
      <p:cxnSp>
        <p:nvCxnSpPr>
          <p:cNvPr id="4" name="Straight Arrow Connector 3">
            <a:extLst>
              <a:ext uri="{FF2B5EF4-FFF2-40B4-BE49-F238E27FC236}">
                <a16:creationId xmlns:a16="http://schemas.microsoft.com/office/drawing/2014/main" id="{4E0FF940-39AD-4449-8ABF-111815A5CB45}"/>
              </a:ext>
            </a:extLst>
          </p:cNvPr>
          <p:cNvCxnSpPr>
            <a:cxnSpLocks/>
            <a:stCxn id="17" idx="1"/>
            <a:endCxn id="5" idx="3"/>
          </p:cNvCxnSpPr>
          <p:nvPr/>
        </p:nvCxnSpPr>
        <p:spPr>
          <a:xfrm flipH="1">
            <a:off x="6922165" y="3047817"/>
            <a:ext cx="2021304" cy="183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6"/>
          </a:lnRef>
          <a:fillRef idx="0">
            <a:schemeClr val="accent6"/>
          </a:fillRef>
          <a:effectRef idx="0">
            <a:schemeClr val="accent6"/>
          </a:effectRef>
          <a:fontRef idx="minor">
            <a:schemeClr val="tx1"/>
          </a:fontRef>
        </p:style>
      </p:cxnSp>
      <p:sp>
        <p:nvSpPr>
          <p:cNvPr id="17" name="TextBox 16">
            <a:extLst>
              <a:ext uri="{FF2B5EF4-FFF2-40B4-BE49-F238E27FC236}">
                <a16:creationId xmlns:a16="http://schemas.microsoft.com/office/drawing/2014/main" id="{29DC9BDA-F7D8-4B2C-8431-93525FA96F49}"/>
              </a:ext>
            </a:extLst>
          </p:cNvPr>
          <p:cNvSpPr txBox="1"/>
          <p:nvPr/>
        </p:nvSpPr>
        <p:spPr>
          <a:xfrm>
            <a:off x="8943469" y="2863151"/>
            <a:ext cx="2181727" cy="369332"/>
          </a:xfrm>
          <a:prstGeom prst="rect">
            <a:avLst/>
          </a:prstGeom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r>
              <a:rPr lang="it-IT" dirty="0"/>
              <a:t>Interpolate the data</a:t>
            </a:r>
            <a:endParaRPr lang="nl-NL" dirty="0"/>
          </a:p>
        </p:txBody>
      </p:sp>
      <p:cxnSp>
        <p:nvCxnSpPr>
          <p:cNvPr id="25" name="Connector: Elbow 24">
            <a:extLst>
              <a:ext uri="{FF2B5EF4-FFF2-40B4-BE49-F238E27FC236}">
                <a16:creationId xmlns:a16="http://schemas.microsoft.com/office/drawing/2014/main" id="{E3452580-DECD-4053-A95B-2985B8A7F98D}"/>
              </a:ext>
            </a:extLst>
          </p:cNvPr>
          <p:cNvCxnSpPr>
            <a:stCxn id="17" idx="1"/>
            <a:endCxn id="6" idx="3"/>
          </p:cNvCxnSpPr>
          <p:nvPr/>
        </p:nvCxnSpPr>
        <p:spPr>
          <a:xfrm rot="10800000" flipV="1">
            <a:off x="6922165" y="3047817"/>
            <a:ext cx="2021304" cy="762184"/>
          </a:xfrm>
          <a:prstGeom prst="bentConnector3">
            <a:avLst/>
          </a:prstGeom>
          <a:ln>
            <a:tailEnd type="triangle"/>
          </a:ln>
        </p:spPr>
        <p:style>
          <a:lnRef idx="1">
            <a:schemeClr val="accent6"/>
          </a:lnRef>
          <a:fillRef idx="0">
            <a:schemeClr val="accent6"/>
          </a:fillRef>
          <a:effectRef idx="0">
            <a:schemeClr val="accent6"/>
          </a:effectRef>
          <a:fontRef idx="minor">
            <a:schemeClr val="tx1"/>
          </a:fontRef>
        </p:style>
      </p:cxnSp>
      <p:cxnSp>
        <p:nvCxnSpPr>
          <p:cNvPr id="27" name="Connector: Elbow 26">
            <a:extLst>
              <a:ext uri="{FF2B5EF4-FFF2-40B4-BE49-F238E27FC236}">
                <a16:creationId xmlns:a16="http://schemas.microsoft.com/office/drawing/2014/main" id="{3BC5F390-5870-4620-A2E1-8216FECE4532}"/>
              </a:ext>
            </a:extLst>
          </p:cNvPr>
          <p:cNvCxnSpPr>
            <a:stCxn id="17" idx="1"/>
            <a:endCxn id="7" idx="3"/>
          </p:cNvCxnSpPr>
          <p:nvPr/>
        </p:nvCxnSpPr>
        <p:spPr>
          <a:xfrm rot="10800000" flipV="1">
            <a:off x="6922165" y="3047816"/>
            <a:ext cx="2021304" cy="1500187"/>
          </a:xfrm>
          <a:prstGeom prst="bentConnector3">
            <a:avLst/>
          </a:prstGeom>
          <a:ln>
            <a:tailEnd type="triangle"/>
          </a:ln>
        </p:spPr>
        <p:style>
          <a:lnRef idx="1">
            <a:schemeClr val="accent6"/>
          </a:lnRef>
          <a:fillRef idx="0">
            <a:schemeClr val="accent6"/>
          </a:fillRef>
          <a:effectRef idx="0">
            <a:schemeClr val="accent6"/>
          </a:effectRef>
          <a:fontRef idx="minor">
            <a:schemeClr val="tx1"/>
          </a:fontRef>
        </p:style>
      </p:cxnSp>
      <p:cxnSp>
        <p:nvCxnSpPr>
          <p:cNvPr id="29" name="Connector: Elbow 28">
            <a:extLst>
              <a:ext uri="{FF2B5EF4-FFF2-40B4-BE49-F238E27FC236}">
                <a16:creationId xmlns:a16="http://schemas.microsoft.com/office/drawing/2014/main" id="{F71A9B99-C402-402F-B6D6-1175DC078108}"/>
              </a:ext>
            </a:extLst>
          </p:cNvPr>
          <p:cNvCxnSpPr>
            <a:stCxn id="17" idx="1"/>
            <a:endCxn id="8" idx="3"/>
          </p:cNvCxnSpPr>
          <p:nvPr/>
        </p:nvCxnSpPr>
        <p:spPr>
          <a:xfrm rot="10800000" flipV="1">
            <a:off x="6922165" y="3047816"/>
            <a:ext cx="2021304" cy="2238157"/>
          </a:xfrm>
          <a:prstGeom prst="bentConnector3">
            <a:avLst/>
          </a:prstGeom>
          <a:ln>
            <a:tailEnd type="triangle"/>
          </a:ln>
        </p:spPr>
        <p:style>
          <a:lnRef idx="1">
            <a:schemeClr val="accent6"/>
          </a:lnRef>
          <a:fillRef idx="0">
            <a:schemeClr val="accent6"/>
          </a:fillRef>
          <a:effectRef idx="0">
            <a:schemeClr val="accent6"/>
          </a:effectRef>
          <a:fontRef idx="minor">
            <a:schemeClr val="tx1"/>
          </a:fontRef>
        </p:style>
      </p:cxnSp>
      <p:sp>
        <p:nvSpPr>
          <p:cNvPr id="30" name="TextBox 29">
            <a:extLst>
              <a:ext uri="{FF2B5EF4-FFF2-40B4-BE49-F238E27FC236}">
                <a16:creationId xmlns:a16="http://schemas.microsoft.com/office/drawing/2014/main" id="{5B2C1735-87A1-42A0-94CD-065D6E3DB48C}"/>
              </a:ext>
            </a:extLst>
          </p:cNvPr>
          <p:cNvSpPr txBox="1"/>
          <p:nvPr/>
        </p:nvSpPr>
        <p:spPr>
          <a:xfrm>
            <a:off x="8943468" y="1391423"/>
            <a:ext cx="2181727" cy="369332"/>
          </a:xfrm>
          <a:prstGeom prst="rect">
            <a:avLst/>
          </a:prstGeom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r>
              <a:rPr lang="it-IT" dirty="0"/>
              <a:t>Impute the data</a:t>
            </a:r>
            <a:endParaRPr lang="nl-NL" dirty="0"/>
          </a:p>
        </p:txBody>
      </p:sp>
      <p:cxnSp>
        <p:nvCxnSpPr>
          <p:cNvPr id="34" name="Straight Arrow Connector 33">
            <a:extLst>
              <a:ext uri="{FF2B5EF4-FFF2-40B4-BE49-F238E27FC236}">
                <a16:creationId xmlns:a16="http://schemas.microsoft.com/office/drawing/2014/main" id="{58FD28A1-1CAB-4C27-B1AC-01D86CA0C541}"/>
              </a:ext>
            </a:extLst>
          </p:cNvPr>
          <p:cNvCxnSpPr>
            <a:stCxn id="30" idx="1"/>
            <a:endCxn id="9" idx="3"/>
          </p:cNvCxnSpPr>
          <p:nvPr/>
        </p:nvCxnSpPr>
        <p:spPr>
          <a:xfrm flipH="1" flipV="1">
            <a:off x="6922165" y="1572026"/>
            <a:ext cx="2021303" cy="4063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7" name="Connector: Elbow 36">
            <a:extLst>
              <a:ext uri="{FF2B5EF4-FFF2-40B4-BE49-F238E27FC236}">
                <a16:creationId xmlns:a16="http://schemas.microsoft.com/office/drawing/2014/main" id="{5E72941C-A0AA-4D4A-9704-784B74E19054}"/>
              </a:ext>
            </a:extLst>
          </p:cNvPr>
          <p:cNvCxnSpPr>
            <a:stCxn id="30" idx="1"/>
            <a:endCxn id="10" idx="3"/>
          </p:cNvCxnSpPr>
          <p:nvPr/>
        </p:nvCxnSpPr>
        <p:spPr>
          <a:xfrm rot="10800000" flipV="1">
            <a:off x="6922166" y="1576088"/>
            <a:ext cx="2021303" cy="364905"/>
          </a:xfrm>
          <a:prstGeom prst="bentConnector3">
            <a:avLst>
              <a:gd name="adj1" fmla="val 27381"/>
            </a:avLst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9" name="Connector: Elbow 38">
            <a:extLst>
              <a:ext uri="{FF2B5EF4-FFF2-40B4-BE49-F238E27FC236}">
                <a16:creationId xmlns:a16="http://schemas.microsoft.com/office/drawing/2014/main" id="{F2EEA8B7-446B-492D-B283-2719BDC4699E}"/>
              </a:ext>
            </a:extLst>
          </p:cNvPr>
          <p:cNvCxnSpPr>
            <a:stCxn id="30" idx="1"/>
            <a:endCxn id="11" idx="3"/>
          </p:cNvCxnSpPr>
          <p:nvPr/>
        </p:nvCxnSpPr>
        <p:spPr>
          <a:xfrm rot="10800000" flipV="1">
            <a:off x="6922166" y="1576089"/>
            <a:ext cx="2021303" cy="733924"/>
          </a:xfrm>
          <a:prstGeom prst="bentConnector3">
            <a:avLst>
              <a:gd name="adj1" fmla="val 27381"/>
            </a:avLst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1" name="Connector: Elbow 40">
            <a:extLst>
              <a:ext uri="{FF2B5EF4-FFF2-40B4-BE49-F238E27FC236}">
                <a16:creationId xmlns:a16="http://schemas.microsoft.com/office/drawing/2014/main" id="{AAA49802-CCEE-401A-A67A-DCAB21AD479F}"/>
              </a:ext>
            </a:extLst>
          </p:cNvPr>
          <p:cNvCxnSpPr>
            <a:stCxn id="30" idx="1"/>
            <a:endCxn id="12" idx="3"/>
          </p:cNvCxnSpPr>
          <p:nvPr/>
        </p:nvCxnSpPr>
        <p:spPr>
          <a:xfrm rot="10800000" flipV="1">
            <a:off x="6922166" y="1576089"/>
            <a:ext cx="2021303" cy="1102926"/>
          </a:xfrm>
          <a:prstGeom prst="bentConnector3">
            <a:avLst>
              <a:gd name="adj1" fmla="val 27381"/>
            </a:avLst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3" name="Connector: Elbow 42">
            <a:extLst>
              <a:ext uri="{FF2B5EF4-FFF2-40B4-BE49-F238E27FC236}">
                <a16:creationId xmlns:a16="http://schemas.microsoft.com/office/drawing/2014/main" id="{BAD846E9-613C-4D64-9871-751D24F7FCB9}"/>
              </a:ext>
            </a:extLst>
          </p:cNvPr>
          <p:cNvCxnSpPr>
            <a:stCxn id="30" idx="1"/>
            <a:endCxn id="3" idx="3"/>
          </p:cNvCxnSpPr>
          <p:nvPr/>
        </p:nvCxnSpPr>
        <p:spPr>
          <a:xfrm rot="10800000" flipV="1">
            <a:off x="6922166" y="1576088"/>
            <a:ext cx="2021303" cy="1852911"/>
          </a:xfrm>
          <a:prstGeom prst="bentConnector3">
            <a:avLst>
              <a:gd name="adj1" fmla="val 27381"/>
            </a:avLst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5" name="Connector: Elbow 44">
            <a:extLst>
              <a:ext uri="{FF2B5EF4-FFF2-40B4-BE49-F238E27FC236}">
                <a16:creationId xmlns:a16="http://schemas.microsoft.com/office/drawing/2014/main" id="{D41878C0-C417-42EF-937F-5D8EAC946940}"/>
              </a:ext>
            </a:extLst>
          </p:cNvPr>
          <p:cNvCxnSpPr>
            <a:stCxn id="30" idx="1"/>
            <a:endCxn id="14" idx="3"/>
          </p:cNvCxnSpPr>
          <p:nvPr/>
        </p:nvCxnSpPr>
        <p:spPr>
          <a:xfrm rot="10800000" flipV="1">
            <a:off x="6922166" y="1576088"/>
            <a:ext cx="2021303" cy="2602897"/>
          </a:xfrm>
          <a:prstGeom prst="bentConnector3">
            <a:avLst>
              <a:gd name="adj1" fmla="val 27381"/>
            </a:avLst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2" name="Connector: Elbow 51">
            <a:extLst>
              <a:ext uri="{FF2B5EF4-FFF2-40B4-BE49-F238E27FC236}">
                <a16:creationId xmlns:a16="http://schemas.microsoft.com/office/drawing/2014/main" id="{E5E577A5-5C4E-4314-B94E-C692A7C075E7}"/>
              </a:ext>
            </a:extLst>
          </p:cNvPr>
          <p:cNvCxnSpPr>
            <a:stCxn id="30" idx="1"/>
            <a:endCxn id="15" idx="3"/>
          </p:cNvCxnSpPr>
          <p:nvPr/>
        </p:nvCxnSpPr>
        <p:spPr>
          <a:xfrm rot="10800000" flipV="1">
            <a:off x="6922166" y="1576089"/>
            <a:ext cx="2021303" cy="3328884"/>
          </a:xfrm>
          <a:prstGeom prst="bentConnector3">
            <a:avLst>
              <a:gd name="adj1" fmla="val 27381"/>
            </a:avLst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5" name="Connector: Elbow 54">
            <a:extLst>
              <a:ext uri="{FF2B5EF4-FFF2-40B4-BE49-F238E27FC236}">
                <a16:creationId xmlns:a16="http://schemas.microsoft.com/office/drawing/2014/main" id="{AAE5AA8C-C949-4CBF-BBC4-FC9FB991F2B3}"/>
              </a:ext>
            </a:extLst>
          </p:cNvPr>
          <p:cNvCxnSpPr>
            <a:stCxn id="30" idx="1"/>
            <a:endCxn id="16" idx="3"/>
          </p:cNvCxnSpPr>
          <p:nvPr/>
        </p:nvCxnSpPr>
        <p:spPr>
          <a:xfrm rot="10800000" flipV="1">
            <a:off x="6922166" y="1576089"/>
            <a:ext cx="2021303" cy="4066854"/>
          </a:xfrm>
          <a:prstGeom prst="bentConnector3">
            <a:avLst>
              <a:gd name="adj1" fmla="val 27381"/>
            </a:avLst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0" name="TextBox 59">
            <a:extLst>
              <a:ext uri="{FF2B5EF4-FFF2-40B4-BE49-F238E27FC236}">
                <a16:creationId xmlns:a16="http://schemas.microsoft.com/office/drawing/2014/main" id="{7908D600-ADD3-4A71-8FD9-84F68F862A78}"/>
              </a:ext>
            </a:extLst>
          </p:cNvPr>
          <p:cNvSpPr txBox="1"/>
          <p:nvPr/>
        </p:nvSpPr>
        <p:spPr>
          <a:xfrm>
            <a:off x="0" y="0"/>
            <a:ext cx="4251158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it-IT" u="sng" dirty="0"/>
              <a:t>Data processing – Selection values-based</a:t>
            </a:r>
            <a:endParaRPr lang="nl-NL" u="sng" dirty="0"/>
          </a:p>
        </p:txBody>
      </p:sp>
    </p:spTree>
    <p:extLst>
      <p:ext uri="{BB962C8B-B14F-4D97-AF65-F5344CB8AC3E}">
        <p14:creationId xmlns:p14="http://schemas.microsoft.com/office/powerpoint/2010/main" val="3961398468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spd="slow">
        <p159:morph option="byObject"/>
      </p:transition>
    </mc:Choice>
    <mc:Fallback xmlns="">
      <p:transition spd="slow">
        <p:fade/>
      </p:transition>
    </mc:Fallback>
  </mc:AlternateContent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6E0A7A84-3B9F-4444-9267-CAFBABDBBBA3}"/>
              </a:ext>
            </a:extLst>
          </p:cNvPr>
          <p:cNvSpPr txBox="1"/>
          <p:nvPr/>
        </p:nvSpPr>
        <p:spPr>
          <a:xfrm>
            <a:off x="3709737" y="3136612"/>
            <a:ext cx="4772526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it-IT" sz="3200" dirty="0"/>
              <a:t>Definetly not working...</a:t>
            </a:r>
            <a:endParaRPr lang="nl-NL" sz="3200" dirty="0"/>
          </a:p>
        </p:txBody>
      </p:sp>
    </p:spTree>
    <p:extLst>
      <p:ext uri="{BB962C8B-B14F-4D97-AF65-F5344CB8AC3E}">
        <p14:creationId xmlns:p14="http://schemas.microsoft.com/office/powerpoint/2010/main" val="95477958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spd="slow">
        <p159:morph option="byObject"/>
      </p:transition>
    </mc:Choice>
    <mc:Fallback xmlns="">
      <p:transition spd="slow">
        <p:fade/>
      </p:transition>
    </mc:Fallback>
  </mc:AlternateContent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A2173A06-E055-4964-BA41-68DADB5DF996}"/>
              </a:ext>
            </a:extLst>
          </p:cNvPr>
          <p:cNvSpPr txBox="1"/>
          <p:nvPr/>
        </p:nvSpPr>
        <p:spPr>
          <a:xfrm>
            <a:off x="3709737" y="3136612"/>
            <a:ext cx="4772526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it-IT" sz="3200" dirty="0"/>
              <a:t>Strategy 3</a:t>
            </a:r>
            <a:endParaRPr lang="nl-NL" sz="3200" dirty="0"/>
          </a:p>
        </p:txBody>
      </p:sp>
    </p:spTree>
    <p:extLst>
      <p:ext uri="{BB962C8B-B14F-4D97-AF65-F5344CB8AC3E}">
        <p14:creationId xmlns:p14="http://schemas.microsoft.com/office/powerpoint/2010/main" val="1927968865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spd="slow">
        <p159:morph option="byObject"/>
      </p:transition>
    </mc:Choice>
    <mc:Fallback xmlns="">
      <p:transition spd="slow">
        <p:fade/>
      </p:transition>
    </mc:Fallback>
  </mc:AlternateContent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Graphic 1" descr="Database">
            <a:extLst>
              <a:ext uri="{FF2B5EF4-FFF2-40B4-BE49-F238E27FC236}">
                <a16:creationId xmlns:a16="http://schemas.microsoft.com/office/drawing/2014/main" id="{449AF60D-4D6F-4DF7-80E8-163F21B1FABD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1676400" y="2964920"/>
            <a:ext cx="914400" cy="914400"/>
          </a:xfrm>
          <a:prstGeom prst="rect">
            <a:avLst/>
          </a:prstGeom>
        </p:spPr>
      </p:pic>
      <p:sp>
        <p:nvSpPr>
          <p:cNvPr id="3" name="TextBox 2">
            <a:extLst>
              <a:ext uri="{FF2B5EF4-FFF2-40B4-BE49-F238E27FC236}">
                <a16:creationId xmlns:a16="http://schemas.microsoft.com/office/drawing/2014/main" id="{EF4B8F17-68DE-42EB-9D5E-7551561D7CEB}"/>
              </a:ext>
            </a:extLst>
          </p:cNvPr>
          <p:cNvSpPr txBox="1"/>
          <p:nvPr/>
        </p:nvSpPr>
        <p:spPr>
          <a:xfrm>
            <a:off x="1275348" y="2704556"/>
            <a:ext cx="1716502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it-IT" dirty="0"/>
              <a:t>Data with NaNs</a:t>
            </a:r>
            <a:endParaRPr lang="nl-NL" dirty="0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4BDE646C-1375-4835-99F9-196DF7430ACD}"/>
              </a:ext>
            </a:extLst>
          </p:cNvPr>
          <p:cNvSpPr txBox="1"/>
          <p:nvPr/>
        </p:nvSpPr>
        <p:spPr>
          <a:xfrm>
            <a:off x="0" y="0"/>
            <a:ext cx="3457074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it-IT" u="sng" dirty="0"/>
              <a:t>Data processing - Pipeline</a:t>
            </a:r>
            <a:endParaRPr lang="nl-NL" u="sng" dirty="0"/>
          </a:p>
        </p:txBody>
      </p:sp>
      <p:cxnSp>
        <p:nvCxnSpPr>
          <p:cNvPr id="6" name="Straight Arrow Connector 5">
            <a:extLst>
              <a:ext uri="{FF2B5EF4-FFF2-40B4-BE49-F238E27FC236}">
                <a16:creationId xmlns:a16="http://schemas.microsoft.com/office/drawing/2014/main" id="{D26349C7-BE7C-45C8-AC0A-95708985B7ED}"/>
              </a:ext>
            </a:extLst>
          </p:cNvPr>
          <p:cNvCxnSpPr>
            <a:cxnSpLocks/>
            <a:stCxn id="2" idx="3"/>
            <a:endCxn id="8" idx="1"/>
          </p:cNvCxnSpPr>
          <p:nvPr/>
        </p:nvCxnSpPr>
        <p:spPr>
          <a:xfrm>
            <a:off x="2590800" y="3422120"/>
            <a:ext cx="1315452" cy="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" name="Rectangle: Rounded Corners 7">
            <a:extLst>
              <a:ext uri="{FF2B5EF4-FFF2-40B4-BE49-F238E27FC236}">
                <a16:creationId xmlns:a16="http://schemas.microsoft.com/office/drawing/2014/main" id="{D795A676-9415-4002-B1B7-7025F9D91A94}"/>
              </a:ext>
            </a:extLst>
          </p:cNvPr>
          <p:cNvSpPr/>
          <p:nvPr/>
        </p:nvSpPr>
        <p:spPr>
          <a:xfrm>
            <a:off x="3906252" y="3007532"/>
            <a:ext cx="2053389" cy="829176"/>
          </a:xfrm>
          <a:prstGeom prst="round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it-IT" dirty="0"/>
              <a:t>Weighted AVG if pt has undergo that meas</a:t>
            </a:r>
            <a:endParaRPr lang="nl-NL" dirty="0"/>
          </a:p>
        </p:txBody>
      </p:sp>
      <p:sp>
        <p:nvSpPr>
          <p:cNvPr id="11" name="Rectangle: Rounded Corners 10">
            <a:extLst>
              <a:ext uri="{FF2B5EF4-FFF2-40B4-BE49-F238E27FC236}">
                <a16:creationId xmlns:a16="http://schemas.microsoft.com/office/drawing/2014/main" id="{B3356680-ECA9-49AE-AFFD-FBCE91A67EC0}"/>
              </a:ext>
            </a:extLst>
          </p:cNvPr>
          <p:cNvSpPr/>
          <p:nvPr/>
        </p:nvSpPr>
        <p:spPr>
          <a:xfrm>
            <a:off x="6874043" y="3014412"/>
            <a:ext cx="1588168" cy="829176"/>
          </a:xfrm>
          <a:prstGeom prst="round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it-IT" dirty="0"/>
              <a:t>MICE Forest</a:t>
            </a:r>
            <a:endParaRPr lang="nl-NL" dirty="0"/>
          </a:p>
        </p:txBody>
      </p:sp>
      <p:cxnSp>
        <p:nvCxnSpPr>
          <p:cNvPr id="14" name="Straight Arrow Connector 13">
            <a:extLst>
              <a:ext uri="{FF2B5EF4-FFF2-40B4-BE49-F238E27FC236}">
                <a16:creationId xmlns:a16="http://schemas.microsoft.com/office/drawing/2014/main" id="{E5BC7136-27F3-4AF0-A650-313ACCC5D9F3}"/>
              </a:ext>
            </a:extLst>
          </p:cNvPr>
          <p:cNvCxnSpPr>
            <a:stCxn id="8" idx="3"/>
            <a:endCxn id="11" idx="1"/>
          </p:cNvCxnSpPr>
          <p:nvPr/>
        </p:nvCxnSpPr>
        <p:spPr>
          <a:xfrm>
            <a:off x="5959641" y="3422120"/>
            <a:ext cx="914402" cy="688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16" name="Graphic 15" descr="Database">
            <a:extLst>
              <a:ext uri="{FF2B5EF4-FFF2-40B4-BE49-F238E27FC236}">
                <a16:creationId xmlns:a16="http://schemas.microsoft.com/office/drawing/2014/main" id="{CFA01DF2-1837-46C5-9A16-1B6A46866A9D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9841833" y="2964920"/>
            <a:ext cx="914400" cy="914400"/>
          </a:xfrm>
          <a:prstGeom prst="rect">
            <a:avLst/>
          </a:prstGeom>
        </p:spPr>
      </p:pic>
      <p:cxnSp>
        <p:nvCxnSpPr>
          <p:cNvPr id="18" name="Straight Arrow Connector 17">
            <a:extLst>
              <a:ext uri="{FF2B5EF4-FFF2-40B4-BE49-F238E27FC236}">
                <a16:creationId xmlns:a16="http://schemas.microsoft.com/office/drawing/2014/main" id="{D9696F83-8425-432B-8C85-9DE9D194F48A}"/>
              </a:ext>
            </a:extLst>
          </p:cNvPr>
          <p:cNvCxnSpPr>
            <a:cxnSpLocks/>
            <a:stCxn id="11" idx="3"/>
            <a:endCxn id="16" idx="1"/>
          </p:cNvCxnSpPr>
          <p:nvPr/>
        </p:nvCxnSpPr>
        <p:spPr>
          <a:xfrm flipV="1">
            <a:off x="8462211" y="3422120"/>
            <a:ext cx="1379622" cy="688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1" name="TextBox 20">
            <a:extLst>
              <a:ext uri="{FF2B5EF4-FFF2-40B4-BE49-F238E27FC236}">
                <a16:creationId xmlns:a16="http://schemas.microsoft.com/office/drawing/2014/main" id="{A5A0CE27-29B8-440B-BD89-3EC604551F54}"/>
              </a:ext>
            </a:extLst>
          </p:cNvPr>
          <p:cNvSpPr txBox="1"/>
          <p:nvPr/>
        </p:nvSpPr>
        <p:spPr>
          <a:xfrm>
            <a:off x="9220201" y="2602468"/>
            <a:ext cx="2157664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it-IT" dirty="0"/>
              <a:t>Complete Data</a:t>
            </a:r>
            <a:endParaRPr lang="nl-NL" dirty="0"/>
          </a:p>
        </p:txBody>
      </p:sp>
      <p:sp>
        <p:nvSpPr>
          <p:cNvPr id="22" name="Oval 21">
            <a:extLst>
              <a:ext uri="{FF2B5EF4-FFF2-40B4-BE49-F238E27FC236}">
                <a16:creationId xmlns:a16="http://schemas.microsoft.com/office/drawing/2014/main" id="{D3304676-921B-4925-BDF9-B8B88E00BC32}"/>
              </a:ext>
            </a:extLst>
          </p:cNvPr>
          <p:cNvSpPr/>
          <p:nvPr/>
        </p:nvSpPr>
        <p:spPr>
          <a:xfrm>
            <a:off x="1772651" y="3508347"/>
            <a:ext cx="192505" cy="192505"/>
          </a:xfrm>
          <a:prstGeom prst="ellipse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nl-NL"/>
          </a:p>
        </p:txBody>
      </p:sp>
      <p:sp>
        <p:nvSpPr>
          <p:cNvPr id="23" name="Oval 22">
            <a:extLst>
              <a:ext uri="{FF2B5EF4-FFF2-40B4-BE49-F238E27FC236}">
                <a16:creationId xmlns:a16="http://schemas.microsoft.com/office/drawing/2014/main" id="{A69C32AA-03CD-473E-B6C7-9E2DC28AAEE0}"/>
              </a:ext>
            </a:extLst>
          </p:cNvPr>
          <p:cNvSpPr/>
          <p:nvPr/>
        </p:nvSpPr>
        <p:spPr>
          <a:xfrm>
            <a:off x="2045367" y="3303809"/>
            <a:ext cx="192505" cy="192505"/>
          </a:xfrm>
          <a:prstGeom prst="ellipse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nl-NL"/>
          </a:p>
        </p:txBody>
      </p:sp>
      <p:sp>
        <p:nvSpPr>
          <p:cNvPr id="24" name="Oval 23">
            <a:extLst>
              <a:ext uri="{FF2B5EF4-FFF2-40B4-BE49-F238E27FC236}">
                <a16:creationId xmlns:a16="http://schemas.microsoft.com/office/drawing/2014/main" id="{D9BD3E5E-5C45-4437-96FD-C757152F3A79}"/>
              </a:ext>
            </a:extLst>
          </p:cNvPr>
          <p:cNvSpPr/>
          <p:nvPr/>
        </p:nvSpPr>
        <p:spPr>
          <a:xfrm>
            <a:off x="2237872" y="3623286"/>
            <a:ext cx="192505" cy="192505"/>
          </a:xfrm>
          <a:prstGeom prst="ellipse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nl-NL"/>
          </a:p>
        </p:txBody>
      </p:sp>
    </p:spTree>
    <p:extLst>
      <p:ext uri="{BB962C8B-B14F-4D97-AF65-F5344CB8AC3E}">
        <p14:creationId xmlns:p14="http://schemas.microsoft.com/office/powerpoint/2010/main" val="2980898789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spd="slow">
        <p159:morph option="byObject"/>
      </p:transition>
    </mc:Choice>
    <mc:Fallback xmlns="">
      <p:transition spd="slow">
        <p:fade/>
      </p:transition>
    </mc:Fallback>
  </mc:AlternateContent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B65D2315-51B1-4287-BCA6-D30549C2831D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491335" y="725501"/>
            <a:ext cx="7209329" cy="5406997"/>
          </a:xfrm>
          <a:prstGeom prst="rect">
            <a:avLst/>
          </a:prstGeom>
        </p:spPr>
      </p:pic>
      <p:sp>
        <p:nvSpPr>
          <p:cNvPr id="4" name="TextBox 3">
            <a:extLst>
              <a:ext uri="{FF2B5EF4-FFF2-40B4-BE49-F238E27FC236}">
                <a16:creationId xmlns:a16="http://schemas.microsoft.com/office/drawing/2014/main" id="{0A5CCA7C-FF14-4AD7-8D60-609EC3986411}"/>
              </a:ext>
            </a:extLst>
          </p:cNvPr>
          <p:cNvSpPr txBox="1"/>
          <p:nvPr/>
        </p:nvSpPr>
        <p:spPr>
          <a:xfrm>
            <a:off x="0" y="0"/>
            <a:ext cx="3457074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it-IT" u="sng" dirty="0"/>
              <a:t>MICE Forest Imputed Distributions</a:t>
            </a:r>
            <a:endParaRPr lang="nl-NL" u="sng" dirty="0"/>
          </a:p>
        </p:txBody>
      </p:sp>
    </p:spTree>
    <p:extLst>
      <p:ext uri="{BB962C8B-B14F-4D97-AF65-F5344CB8AC3E}">
        <p14:creationId xmlns:p14="http://schemas.microsoft.com/office/powerpoint/2010/main" val="1751319707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spd="slow">
        <p159:morph option="byObject"/>
      </p:transition>
    </mc:Choice>
    <mc:Fallback xmlns="">
      <p:transition spd="slow">
        <p:fade/>
      </p:transition>
    </mc:Fallback>
  </mc:AlternateContent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B65D2315-51B1-4287-BCA6-D30549C2831D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18158" y="725501"/>
            <a:ext cx="7209329" cy="5406997"/>
          </a:xfrm>
          <a:prstGeom prst="rect">
            <a:avLst/>
          </a:prstGeom>
        </p:spPr>
      </p:pic>
      <p:sp>
        <p:nvSpPr>
          <p:cNvPr id="4" name="TextBox 3">
            <a:extLst>
              <a:ext uri="{FF2B5EF4-FFF2-40B4-BE49-F238E27FC236}">
                <a16:creationId xmlns:a16="http://schemas.microsoft.com/office/drawing/2014/main" id="{0A5CCA7C-FF14-4AD7-8D60-609EC3986411}"/>
              </a:ext>
            </a:extLst>
          </p:cNvPr>
          <p:cNvSpPr txBox="1"/>
          <p:nvPr/>
        </p:nvSpPr>
        <p:spPr>
          <a:xfrm>
            <a:off x="0" y="0"/>
            <a:ext cx="3457074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it-IT" u="sng" dirty="0"/>
              <a:t>MICE Forest Imputed Distributions</a:t>
            </a:r>
            <a:endParaRPr lang="nl-NL" u="sng" dirty="0"/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01856716-7E6F-49FD-A372-2EF5C92D3712}"/>
              </a:ext>
            </a:extLst>
          </p:cNvPr>
          <p:cNvSpPr txBox="1"/>
          <p:nvPr/>
        </p:nvSpPr>
        <p:spPr>
          <a:xfrm>
            <a:off x="8598568" y="2895600"/>
            <a:ext cx="287153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it-IT" dirty="0"/>
              <a:t>Is this acceptable?</a:t>
            </a:r>
            <a:endParaRPr lang="nl-NL" dirty="0"/>
          </a:p>
        </p:txBody>
      </p:sp>
    </p:spTree>
    <p:extLst>
      <p:ext uri="{BB962C8B-B14F-4D97-AF65-F5344CB8AC3E}">
        <p14:creationId xmlns:p14="http://schemas.microsoft.com/office/powerpoint/2010/main" val="3402397846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spd="slow">
        <p159:morph option="byObject"/>
      </p:transition>
    </mc:Choice>
    <mc:Fallback xmlns="">
      <p:transition spd="slow">
        <p:fade/>
      </p:transition>
    </mc:Fallback>
  </mc:AlternateContent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17E23D3-032D-4C20-8F5B-1840BC892975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it-IT" dirty="0"/>
              <a:t>Medications</a:t>
            </a:r>
            <a:endParaRPr lang="nl-NL" dirty="0"/>
          </a:p>
        </p:txBody>
      </p:sp>
    </p:spTree>
    <p:extLst>
      <p:ext uri="{BB962C8B-B14F-4D97-AF65-F5344CB8AC3E}">
        <p14:creationId xmlns:p14="http://schemas.microsoft.com/office/powerpoint/2010/main" val="4127856213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spd="slow">
        <p159:morph option="byObject"/>
      </p:transition>
    </mc:Choice>
    <mc:Fallback xmlns="">
      <p:transition spd="slow">
        <p:fade/>
      </p:transition>
    </mc:Fallback>
  </mc:AlternateContent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 descr="A screen shot of a diagram&#10;&#10;Description automatically generated">
            <a:extLst>
              <a:ext uri="{FF2B5EF4-FFF2-40B4-BE49-F238E27FC236}">
                <a16:creationId xmlns:a16="http://schemas.microsoft.com/office/drawing/2014/main" id="{FEE82702-62C0-A793-AC54-171266B00338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13322" y="1455606"/>
            <a:ext cx="5525503" cy="3946788"/>
          </a:xfrm>
          <a:prstGeom prst="rect">
            <a:avLst/>
          </a:prstGeom>
        </p:spPr>
      </p:pic>
      <p:pic>
        <p:nvPicPr>
          <p:cNvPr id="5" name="Picture 4" descr="A diagram of a plot&#10;&#10;Description automatically generated with medium confidence">
            <a:extLst>
              <a:ext uri="{FF2B5EF4-FFF2-40B4-BE49-F238E27FC236}">
                <a16:creationId xmlns:a16="http://schemas.microsoft.com/office/drawing/2014/main" id="{D90762A5-DE7D-A3BD-3D4F-4A044C11AEED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353177" y="1619250"/>
            <a:ext cx="5067300" cy="3619500"/>
          </a:xfrm>
          <a:prstGeom prst="rect">
            <a:avLst/>
          </a:prstGeom>
        </p:spPr>
      </p:pic>
      <p:sp>
        <p:nvSpPr>
          <p:cNvPr id="2" name="TextBox 1">
            <a:extLst>
              <a:ext uri="{FF2B5EF4-FFF2-40B4-BE49-F238E27FC236}">
                <a16:creationId xmlns:a16="http://schemas.microsoft.com/office/drawing/2014/main" id="{1B94D29F-EC16-B936-B5E6-3D46ADDD2F75}"/>
              </a:ext>
            </a:extLst>
          </p:cNvPr>
          <p:cNvSpPr txBox="1"/>
          <p:nvPr/>
        </p:nvSpPr>
        <p:spPr>
          <a:xfrm>
            <a:off x="542925" y="5334000"/>
            <a:ext cx="4781550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nl-NL" dirty="0"/>
              <a:t>Plot </a:t>
            </a:r>
            <a:r>
              <a:rPr lang="nl-NL" dirty="0" err="1"/>
              <a:t>della</a:t>
            </a:r>
            <a:r>
              <a:rPr lang="nl-NL" dirty="0"/>
              <a:t> PCA con </a:t>
            </a:r>
            <a:r>
              <a:rPr lang="nl-NL" dirty="0" err="1"/>
              <a:t>le</a:t>
            </a:r>
            <a:r>
              <a:rPr lang="nl-NL" dirty="0"/>
              <a:t> prime </a:t>
            </a:r>
            <a:r>
              <a:rPr lang="nl-NL" dirty="0" err="1"/>
              <a:t>due</a:t>
            </a:r>
            <a:r>
              <a:rPr lang="nl-NL" dirty="0"/>
              <a:t> </a:t>
            </a:r>
            <a:r>
              <a:rPr lang="nl-NL" dirty="0" err="1"/>
              <a:t>componenti</a:t>
            </a:r>
            <a:r>
              <a:rPr lang="nl-NL" dirty="0"/>
              <a:t> per </a:t>
            </a:r>
            <a:r>
              <a:rPr lang="nl-NL" dirty="0" err="1"/>
              <a:t>vedere</a:t>
            </a:r>
            <a:r>
              <a:rPr lang="nl-NL" dirty="0"/>
              <a:t> ad </a:t>
            </a:r>
            <a:r>
              <a:rPr lang="nl-NL" dirty="0" err="1"/>
              <a:t>occhio</a:t>
            </a:r>
            <a:r>
              <a:rPr lang="nl-NL" dirty="0"/>
              <a:t> se i </a:t>
            </a:r>
            <a:r>
              <a:rPr lang="nl-NL" dirty="0" err="1"/>
              <a:t>gruppi</a:t>
            </a:r>
            <a:r>
              <a:rPr lang="nl-NL" dirty="0"/>
              <a:t> </a:t>
            </a:r>
            <a:r>
              <a:rPr lang="nl-NL" dirty="0" err="1"/>
              <a:t>degli</a:t>
            </a:r>
            <a:r>
              <a:rPr lang="nl-NL" dirty="0"/>
              <a:t> ATC code </a:t>
            </a:r>
            <a:r>
              <a:rPr lang="nl-NL" dirty="0" err="1"/>
              <a:t>sono</a:t>
            </a:r>
            <a:r>
              <a:rPr lang="nl-NL" dirty="0"/>
              <a:t> </a:t>
            </a:r>
            <a:r>
              <a:rPr lang="nl-NL" dirty="0" err="1"/>
              <a:t>separabili</a:t>
            </a:r>
            <a:r>
              <a:rPr lang="nl-NL" dirty="0"/>
              <a:t> </a:t>
            </a:r>
            <a:r>
              <a:rPr lang="nl-NL" dirty="0" err="1"/>
              <a:t>facilmente</a:t>
            </a:r>
            <a:endParaRPr lang="en-150" dirty="0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21CA0B5B-9788-C35A-440F-872467DA6F45}"/>
              </a:ext>
            </a:extLst>
          </p:cNvPr>
          <p:cNvSpPr txBox="1"/>
          <p:nvPr/>
        </p:nvSpPr>
        <p:spPr>
          <a:xfrm>
            <a:off x="6496052" y="5209580"/>
            <a:ext cx="4781550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nl-NL" dirty="0"/>
              <a:t>Plot </a:t>
            </a:r>
            <a:r>
              <a:rPr lang="nl-NL" dirty="0" err="1"/>
              <a:t>della</a:t>
            </a:r>
            <a:r>
              <a:rPr lang="nl-NL" dirty="0"/>
              <a:t> PCA con </a:t>
            </a:r>
            <a:r>
              <a:rPr lang="nl-NL" dirty="0" err="1"/>
              <a:t>le</a:t>
            </a:r>
            <a:r>
              <a:rPr lang="nl-NL" dirty="0"/>
              <a:t> prime </a:t>
            </a:r>
            <a:r>
              <a:rPr lang="nl-NL" dirty="0" err="1"/>
              <a:t>tre</a:t>
            </a:r>
            <a:r>
              <a:rPr lang="nl-NL" dirty="0"/>
              <a:t> </a:t>
            </a:r>
            <a:r>
              <a:rPr lang="nl-NL" dirty="0" err="1"/>
              <a:t>componenti</a:t>
            </a:r>
            <a:r>
              <a:rPr lang="nl-NL" dirty="0"/>
              <a:t> per </a:t>
            </a:r>
            <a:r>
              <a:rPr lang="nl-NL" dirty="0" err="1"/>
              <a:t>vedere</a:t>
            </a:r>
            <a:r>
              <a:rPr lang="nl-NL" dirty="0"/>
              <a:t> ad </a:t>
            </a:r>
            <a:r>
              <a:rPr lang="nl-NL" dirty="0" err="1"/>
              <a:t>occhio</a:t>
            </a:r>
            <a:r>
              <a:rPr lang="nl-NL" dirty="0"/>
              <a:t> se i </a:t>
            </a:r>
            <a:r>
              <a:rPr lang="nl-NL" dirty="0" err="1"/>
              <a:t>gruppi</a:t>
            </a:r>
            <a:r>
              <a:rPr lang="nl-NL" dirty="0"/>
              <a:t> </a:t>
            </a:r>
            <a:r>
              <a:rPr lang="nl-NL" dirty="0" err="1"/>
              <a:t>degli</a:t>
            </a:r>
            <a:r>
              <a:rPr lang="nl-NL" dirty="0"/>
              <a:t> ATC code </a:t>
            </a:r>
            <a:r>
              <a:rPr lang="nl-NL" dirty="0" err="1"/>
              <a:t>sono</a:t>
            </a:r>
            <a:r>
              <a:rPr lang="nl-NL" dirty="0"/>
              <a:t> </a:t>
            </a:r>
            <a:r>
              <a:rPr lang="nl-NL" dirty="0" err="1"/>
              <a:t>separabili</a:t>
            </a:r>
            <a:r>
              <a:rPr lang="nl-NL" dirty="0"/>
              <a:t> </a:t>
            </a:r>
            <a:r>
              <a:rPr lang="nl-NL" dirty="0" err="1"/>
              <a:t>facilmente</a:t>
            </a:r>
            <a:endParaRPr lang="en-150" dirty="0"/>
          </a:p>
        </p:txBody>
      </p:sp>
    </p:spTree>
    <p:extLst>
      <p:ext uri="{BB962C8B-B14F-4D97-AF65-F5344CB8AC3E}">
        <p14:creationId xmlns:p14="http://schemas.microsoft.com/office/powerpoint/2010/main" val="2469779366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spd="slow">
        <p159:morph option="byObject"/>
      </p:transition>
    </mc:Choice>
    <mc:Fallback xmlns="">
      <p:transition spd="slow">
        <p:fade/>
      </p:transition>
    </mc:Fallback>
  </mc:AlternateContent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 descr="A screenshot of a graph&#10;&#10;Description automatically generated">
            <a:extLst>
              <a:ext uri="{FF2B5EF4-FFF2-40B4-BE49-F238E27FC236}">
                <a16:creationId xmlns:a16="http://schemas.microsoft.com/office/drawing/2014/main" id="{441E34C8-6CFE-1EA6-C69B-CEB8B34A862F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048950" y="152400"/>
            <a:ext cx="6094095" cy="4352925"/>
          </a:xfrm>
          <a:prstGeom prst="rect">
            <a:avLst/>
          </a:prstGeom>
        </p:spPr>
      </p:pic>
      <p:sp>
        <p:nvSpPr>
          <p:cNvPr id="8" name="TextBox 7">
            <a:extLst>
              <a:ext uri="{FF2B5EF4-FFF2-40B4-BE49-F238E27FC236}">
                <a16:creationId xmlns:a16="http://schemas.microsoft.com/office/drawing/2014/main" id="{2DD48FE3-4279-35A8-1C5C-CCECF3CD6E60}"/>
              </a:ext>
            </a:extLst>
          </p:cNvPr>
          <p:cNvSpPr txBox="1"/>
          <p:nvPr/>
        </p:nvSpPr>
        <p:spPr>
          <a:xfrm>
            <a:off x="1315453" y="4186237"/>
            <a:ext cx="9633283" cy="258532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nl-NL" dirty="0" err="1"/>
              <a:t>Boxplot</a:t>
            </a:r>
            <a:r>
              <a:rPr lang="nl-NL" dirty="0"/>
              <a:t> </a:t>
            </a:r>
            <a:r>
              <a:rPr lang="nl-NL" dirty="0" err="1"/>
              <a:t>relativo</a:t>
            </a:r>
            <a:r>
              <a:rPr lang="nl-NL" dirty="0"/>
              <a:t> alla PCA con </a:t>
            </a:r>
            <a:r>
              <a:rPr lang="nl-NL" dirty="0" err="1"/>
              <a:t>due</a:t>
            </a:r>
            <a:r>
              <a:rPr lang="nl-NL" dirty="0"/>
              <a:t> </a:t>
            </a:r>
            <a:r>
              <a:rPr lang="nl-NL" dirty="0" err="1"/>
              <a:t>componenti</a:t>
            </a:r>
            <a:r>
              <a:rPr lang="nl-NL" dirty="0"/>
              <a:t> per </a:t>
            </a:r>
            <a:r>
              <a:rPr lang="nl-NL" dirty="0" err="1"/>
              <a:t>vedere</a:t>
            </a:r>
            <a:r>
              <a:rPr lang="nl-NL" dirty="0"/>
              <a:t> se i </a:t>
            </a:r>
            <a:r>
              <a:rPr lang="nl-NL" dirty="0" err="1"/>
              <a:t>vari</a:t>
            </a:r>
            <a:r>
              <a:rPr lang="nl-NL" dirty="0"/>
              <a:t> </a:t>
            </a:r>
            <a:r>
              <a:rPr lang="nl-NL" dirty="0" err="1"/>
              <a:t>gruppi</a:t>
            </a:r>
            <a:r>
              <a:rPr lang="nl-NL" dirty="0"/>
              <a:t> </a:t>
            </a:r>
            <a:r>
              <a:rPr lang="nl-NL" dirty="0" err="1"/>
              <a:t>hanno</a:t>
            </a:r>
            <a:r>
              <a:rPr lang="nl-NL" dirty="0"/>
              <a:t> </a:t>
            </a:r>
            <a:r>
              <a:rPr lang="nl-NL" dirty="0" err="1"/>
              <a:t>valore</a:t>
            </a:r>
            <a:r>
              <a:rPr lang="nl-NL" dirty="0"/>
              <a:t> medio differente. È </a:t>
            </a:r>
            <a:r>
              <a:rPr lang="nl-NL" dirty="0" err="1"/>
              <a:t>stato</a:t>
            </a:r>
            <a:r>
              <a:rPr lang="nl-NL" dirty="0"/>
              <a:t> </a:t>
            </a:r>
            <a:r>
              <a:rPr lang="nl-NL" dirty="0" err="1"/>
              <a:t>svolto</a:t>
            </a:r>
            <a:r>
              <a:rPr lang="nl-NL" dirty="0"/>
              <a:t> </a:t>
            </a:r>
            <a:r>
              <a:rPr lang="nl-NL" dirty="0" err="1"/>
              <a:t>contestualmente</a:t>
            </a:r>
            <a:r>
              <a:rPr lang="nl-NL" dirty="0"/>
              <a:t> al test ANOVA per </a:t>
            </a:r>
            <a:r>
              <a:rPr lang="nl-NL" dirty="0" err="1"/>
              <a:t>entrambe</a:t>
            </a:r>
            <a:r>
              <a:rPr lang="nl-NL" dirty="0"/>
              <a:t> </a:t>
            </a:r>
            <a:r>
              <a:rPr lang="nl-NL" dirty="0" err="1"/>
              <a:t>le</a:t>
            </a:r>
            <a:r>
              <a:rPr lang="nl-NL" dirty="0"/>
              <a:t> </a:t>
            </a:r>
            <a:r>
              <a:rPr lang="nl-NL" dirty="0" err="1"/>
              <a:t>componenti</a:t>
            </a:r>
            <a:r>
              <a:rPr lang="nl-NL" dirty="0"/>
              <a:t>, </a:t>
            </a:r>
            <a:r>
              <a:rPr lang="nl-NL" dirty="0" err="1"/>
              <a:t>questi</a:t>
            </a:r>
            <a:r>
              <a:rPr lang="nl-NL" dirty="0"/>
              <a:t> </a:t>
            </a:r>
            <a:r>
              <a:rPr lang="nl-NL" dirty="0" err="1"/>
              <a:t>sono</a:t>
            </a:r>
            <a:r>
              <a:rPr lang="nl-NL" dirty="0"/>
              <a:t> i </a:t>
            </a:r>
            <a:r>
              <a:rPr lang="nl-NL" dirty="0" err="1"/>
              <a:t>risultati</a:t>
            </a:r>
            <a:r>
              <a:rPr lang="nl-NL" dirty="0"/>
              <a:t>:</a:t>
            </a:r>
          </a:p>
          <a:p>
            <a:r>
              <a:rPr lang="nl-NL" dirty="0"/>
              <a:t>PC1</a:t>
            </a:r>
          </a:p>
          <a:p>
            <a:r>
              <a:rPr lang="nl-NL" dirty="0"/>
              <a:t>- Statistica F = 7.7e+04</a:t>
            </a:r>
          </a:p>
          <a:p>
            <a:pPr marL="285750" indent="-285750">
              <a:buFontTx/>
              <a:buChar char="-"/>
            </a:pPr>
            <a:r>
              <a:rPr lang="nl-NL" dirty="0" err="1"/>
              <a:t>Pvalue</a:t>
            </a:r>
            <a:r>
              <a:rPr lang="nl-NL" dirty="0"/>
              <a:t> = 0</a:t>
            </a:r>
          </a:p>
          <a:p>
            <a:r>
              <a:rPr lang="nl-NL" dirty="0"/>
              <a:t>PC2</a:t>
            </a:r>
          </a:p>
          <a:p>
            <a:r>
              <a:rPr lang="nl-NL" dirty="0"/>
              <a:t>- Statistica F = 4.3e+04</a:t>
            </a:r>
          </a:p>
          <a:p>
            <a:r>
              <a:rPr lang="nl-NL" dirty="0"/>
              <a:t>- </a:t>
            </a:r>
            <a:r>
              <a:rPr lang="nl-NL" dirty="0" err="1"/>
              <a:t>Pvalue</a:t>
            </a:r>
            <a:r>
              <a:rPr lang="nl-NL" dirty="0"/>
              <a:t> = 0</a:t>
            </a:r>
            <a:endParaRPr lang="en-150" dirty="0"/>
          </a:p>
        </p:txBody>
      </p:sp>
    </p:spTree>
    <p:extLst>
      <p:ext uri="{BB962C8B-B14F-4D97-AF65-F5344CB8AC3E}">
        <p14:creationId xmlns:p14="http://schemas.microsoft.com/office/powerpoint/2010/main" val="1189710876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spd="slow">
        <p159:morph option="byObject"/>
      </p:transition>
    </mc:Choice>
    <mc:Fallback xmlns="">
      <p:transition spd="slow">
        <p:fade/>
      </p:transition>
    </mc:Fallback>
  </mc:AlternateContent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Picture 6" descr="A graph with a curve&#10;&#10;Description automatically generated">
            <a:extLst>
              <a:ext uri="{FF2B5EF4-FFF2-40B4-BE49-F238E27FC236}">
                <a16:creationId xmlns:a16="http://schemas.microsoft.com/office/drawing/2014/main" id="{DE7877D4-2099-8E25-FA34-A24AB4707485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628899" y="1604961"/>
            <a:ext cx="6848475" cy="3424238"/>
          </a:xfrm>
          <a:prstGeom prst="rect">
            <a:avLst/>
          </a:prstGeom>
        </p:spPr>
      </p:pic>
      <p:sp>
        <p:nvSpPr>
          <p:cNvPr id="2" name="TextBox 1">
            <a:extLst>
              <a:ext uri="{FF2B5EF4-FFF2-40B4-BE49-F238E27FC236}">
                <a16:creationId xmlns:a16="http://schemas.microsoft.com/office/drawing/2014/main" id="{C81EEF24-450E-EB19-CF13-BD3DB05F867C}"/>
              </a:ext>
            </a:extLst>
          </p:cNvPr>
          <p:cNvSpPr txBox="1"/>
          <p:nvPr/>
        </p:nvSpPr>
        <p:spPr>
          <a:xfrm>
            <a:off x="2366211" y="5398168"/>
            <a:ext cx="7844589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nl-NL" dirty="0" err="1"/>
              <a:t>Questo</a:t>
            </a:r>
            <a:r>
              <a:rPr lang="nl-NL" dirty="0"/>
              <a:t> </a:t>
            </a:r>
            <a:r>
              <a:rPr lang="nl-NL" dirty="0" err="1"/>
              <a:t>grafico</a:t>
            </a:r>
            <a:r>
              <a:rPr lang="nl-NL" dirty="0"/>
              <a:t> </a:t>
            </a:r>
            <a:r>
              <a:rPr lang="nl-NL" dirty="0" err="1"/>
              <a:t>mostra</a:t>
            </a:r>
            <a:r>
              <a:rPr lang="nl-NL" dirty="0"/>
              <a:t> </a:t>
            </a:r>
            <a:r>
              <a:rPr lang="nl-NL" dirty="0" err="1"/>
              <a:t>che</a:t>
            </a:r>
            <a:r>
              <a:rPr lang="nl-NL" dirty="0"/>
              <a:t> </a:t>
            </a:r>
            <a:r>
              <a:rPr lang="nl-NL" dirty="0" err="1"/>
              <a:t>sono</a:t>
            </a:r>
            <a:r>
              <a:rPr lang="nl-NL" dirty="0"/>
              <a:t> state </a:t>
            </a:r>
            <a:r>
              <a:rPr lang="nl-NL" dirty="0" err="1"/>
              <a:t>scelte</a:t>
            </a:r>
            <a:r>
              <a:rPr lang="nl-NL" dirty="0"/>
              <a:t> </a:t>
            </a:r>
            <a:r>
              <a:rPr lang="nl-NL" dirty="0" err="1"/>
              <a:t>le</a:t>
            </a:r>
            <a:r>
              <a:rPr lang="nl-NL" dirty="0"/>
              <a:t> 37 prime </a:t>
            </a:r>
            <a:r>
              <a:rPr lang="nl-NL" dirty="0" err="1"/>
              <a:t>componenti</a:t>
            </a:r>
            <a:r>
              <a:rPr lang="nl-NL" dirty="0"/>
              <a:t> per </a:t>
            </a:r>
            <a:r>
              <a:rPr lang="nl-NL" dirty="0" err="1"/>
              <a:t>avere</a:t>
            </a:r>
            <a:r>
              <a:rPr lang="nl-NL" dirty="0"/>
              <a:t> </a:t>
            </a:r>
            <a:r>
              <a:rPr lang="nl-NL" dirty="0" err="1"/>
              <a:t>il</a:t>
            </a:r>
            <a:r>
              <a:rPr lang="nl-NL" dirty="0"/>
              <a:t> 90% di </a:t>
            </a:r>
            <a:r>
              <a:rPr lang="nl-NL" dirty="0" err="1"/>
              <a:t>contenuto</a:t>
            </a:r>
            <a:r>
              <a:rPr lang="nl-NL" dirty="0"/>
              <a:t> </a:t>
            </a:r>
            <a:r>
              <a:rPr lang="nl-NL" dirty="0" err="1"/>
              <a:t>informativo</a:t>
            </a:r>
            <a:r>
              <a:rPr lang="nl-NL" dirty="0"/>
              <a:t> </a:t>
            </a:r>
            <a:r>
              <a:rPr lang="nl-NL" dirty="0" err="1"/>
              <a:t>sull’intero</a:t>
            </a:r>
            <a:r>
              <a:rPr lang="nl-NL" dirty="0"/>
              <a:t> database</a:t>
            </a:r>
            <a:endParaRPr lang="en-150" dirty="0"/>
          </a:p>
        </p:txBody>
      </p:sp>
    </p:spTree>
    <p:extLst>
      <p:ext uri="{BB962C8B-B14F-4D97-AF65-F5344CB8AC3E}">
        <p14:creationId xmlns:p14="http://schemas.microsoft.com/office/powerpoint/2010/main" val="922527501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spd="slow">
        <p159:morph option="byObject"/>
      </p:transition>
    </mc:Choice>
    <mc:Fallback xmlns="">
      <p:transition spd="slow">
        <p:fade/>
      </p:transition>
    </mc:Fallback>
  </mc:AlternateContent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130BE27A-1ED6-7354-2F83-252505E3F819}"/>
              </a:ext>
            </a:extLst>
          </p:cNvPr>
          <p:cNvSpPr txBox="1"/>
          <p:nvPr/>
        </p:nvSpPr>
        <p:spPr>
          <a:xfrm>
            <a:off x="553451" y="2806370"/>
            <a:ext cx="4555959" cy="181588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nl-NL" sz="1600" b="1" dirty="0" err="1"/>
              <a:t>Risultati</a:t>
            </a:r>
            <a:r>
              <a:rPr lang="nl-NL" sz="1600" b="1" dirty="0"/>
              <a:t> </a:t>
            </a:r>
            <a:r>
              <a:rPr lang="nl-NL" sz="1600" b="1" dirty="0" err="1"/>
              <a:t>Kmeans</a:t>
            </a:r>
            <a:r>
              <a:rPr lang="nl-NL" sz="1600" b="1" dirty="0"/>
              <a:t> (dataset non </a:t>
            </a:r>
            <a:r>
              <a:rPr lang="nl-NL" sz="1600" b="1" dirty="0" err="1"/>
              <a:t>standardizzato</a:t>
            </a:r>
            <a:r>
              <a:rPr lang="nl-NL" sz="1600" b="1" dirty="0"/>
              <a:t>)</a:t>
            </a:r>
          </a:p>
          <a:p>
            <a:endParaRPr lang="nl-NL" sz="1600" dirty="0"/>
          </a:p>
          <a:p>
            <a:r>
              <a:rPr lang="en-150" sz="1600" dirty="0" err="1"/>
              <a:t>adjusted_mutual_info_score</a:t>
            </a:r>
            <a:r>
              <a:rPr lang="en-150" sz="1600" dirty="0"/>
              <a:t>        0.706002</a:t>
            </a:r>
            <a:endParaRPr lang="nl-NL" sz="1600" dirty="0"/>
          </a:p>
          <a:p>
            <a:r>
              <a:rPr lang="en-150" sz="1600" dirty="0" err="1"/>
              <a:t>adjusted_rand_score</a:t>
            </a:r>
            <a:r>
              <a:rPr lang="en-150" sz="1600" dirty="0"/>
              <a:t>               0.455319</a:t>
            </a:r>
            <a:endParaRPr lang="nl-NL" sz="1600" dirty="0"/>
          </a:p>
          <a:p>
            <a:r>
              <a:rPr lang="en-150" sz="1600" dirty="0" err="1"/>
              <a:t>calinski_harabasz_score</a:t>
            </a:r>
            <a:r>
              <a:rPr lang="en-150" sz="1600" dirty="0"/>
              <a:t>       15643.525264</a:t>
            </a:r>
            <a:endParaRPr lang="nl-NL" sz="1600" dirty="0"/>
          </a:p>
          <a:p>
            <a:r>
              <a:rPr lang="en-150" sz="1600" dirty="0" err="1"/>
              <a:t>completeness_score</a:t>
            </a:r>
            <a:r>
              <a:rPr lang="en-150" sz="1600" dirty="0"/>
              <a:t>                0.637271</a:t>
            </a:r>
            <a:endParaRPr lang="nl-NL" sz="1600" dirty="0"/>
          </a:p>
          <a:p>
            <a:r>
              <a:rPr lang="en-150" sz="1600" dirty="0" err="1"/>
              <a:t>fowlkes_mallows_score</a:t>
            </a:r>
            <a:r>
              <a:rPr lang="en-150" sz="1600" dirty="0"/>
              <a:t>             0.543254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06BFBDEA-9954-05ED-E78A-C9D1A327F3E5}"/>
              </a:ext>
            </a:extLst>
          </p:cNvPr>
          <p:cNvSpPr txBox="1"/>
          <p:nvPr/>
        </p:nvSpPr>
        <p:spPr>
          <a:xfrm>
            <a:off x="2799347" y="513346"/>
            <a:ext cx="6657474" cy="178510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nl-NL" sz="3000" dirty="0"/>
              <a:t>Clustering</a:t>
            </a:r>
          </a:p>
          <a:p>
            <a:r>
              <a:rPr lang="nl-NL" sz="2000" dirty="0" err="1"/>
              <a:t>Viene</a:t>
            </a:r>
            <a:r>
              <a:rPr lang="nl-NL" sz="2000" dirty="0"/>
              <a:t> </a:t>
            </a:r>
            <a:r>
              <a:rPr lang="nl-NL" sz="2000" dirty="0" err="1"/>
              <a:t>fatto</a:t>
            </a:r>
            <a:r>
              <a:rPr lang="nl-NL" sz="2000" dirty="0"/>
              <a:t> per </a:t>
            </a:r>
            <a:r>
              <a:rPr lang="nl-NL" sz="2000" dirty="0" err="1"/>
              <a:t>vedere</a:t>
            </a:r>
            <a:r>
              <a:rPr lang="nl-NL" sz="2000" dirty="0"/>
              <a:t> se </a:t>
            </a:r>
            <a:r>
              <a:rPr lang="nl-NL" sz="2000" dirty="0" err="1"/>
              <a:t>una</a:t>
            </a:r>
            <a:r>
              <a:rPr lang="nl-NL" sz="2000" dirty="0"/>
              <a:t> </a:t>
            </a:r>
            <a:r>
              <a:rPr lang="nl-NL" sz="2000" dirty="0" err="1"/>
              <a:t>tecnica</a:t>
            </a:r>
            <a:r>
              <a:rPr lang="nl-NL" sz="2000" dirty="0"/>
              <a:t> non </a:t>
            </a:r>
            <a:r>
              <a:rPr lang="nl-NL" sz="2000" dirty="0" err="1"/>
              <a:t>supervisionata</a:t>
            </a:r>
            <a:r>
              <a:rPr lang="nl-NL" sz="2000" dirty="0"/>
              <a:t> </a:t>
            </a:r>
            <a:r>
              <a:rPr lang="nl-NL" sz="2000" dirty="0" err="1"/>
              <a:t>riesce</a:t>
            </a:r>
            <a:r>
              <a:rPr lang="nl-NL" sz="2000" dirty="0"/>
              <a:t> a </a:t>
            </a:r>
            <a:r>
              <a:rPr lang="nl-NL" sz="2000" dirty="0" err="1"/>
              <a:t>riconoscere</a:t>
            </a:r>
            <a:r>
              <a:rPr lang="nl-NL" sz="2000" dirty="0"/>
              <a:t> i </a:t>
            </a:r>
            <a:r>
              <a:rPr lang="nl-NL" sz="2000" dirty="0" err="1"/>
              <a:t>vari</a:t>
            </a:r>
            <a:r>
              <a:rPr lang="nl-NL" sz="2000" dirty="0"/>
              <a:t> </a:t>
            </a:r>
            <a:r>
              <a:rPr lang="nl-NL" sz="2000" dirty="0" err="1"/>
              <a:t>gruppi</a:t>
            </a:r>
            <a:r>
              <a:rPr lang="nl-NL" sz="2000" dirty="0"/>
              <a:t> </a:t>
            </a:r>
            <a:r>
              <a:rPr lang="nl-NL" sz="2000" dirty="0" err="1"/>
              <a:t>basandosi</a:t>
            </a:r>
            <a:r>
              <a:rPr lang="nl-NL" sz="2000" dirty="0"/>
              <a:t> </a:t>
            </a:r>
            <a:r>
              <a:rPr lang="nl-NL" sz="2000" dirty="0" err="1"/>
              <a:t>sulle</a:t>
            </a:r>
            <a:r>
              <a:rPr lang="nl-NL" sz="2000" dirty="0"/>
              <a:t> </a:t>
            </a:r>
            <a:r>
              <a:rPr lang="nl-NL" sz="2000" dirty="0" err="1"/>
              <a:t>componenti</a:t>
            </a:r>
            <a:r>
              <a:rPr lang="nl-NL" sz="2000" dirty="0"/>
              <a:t> </a:t>
            </a:r>
            <a:r>
              <a:rPr lang="nl-NL" sz="2000" dirty="0" err="1"/>
              <a:t>della</a:t>
            </a:r>
            <a:r>
              <a:rPr lang="nl-NL" sz="2000" dirty="0"/>
              <a:t> PCA </a:t>
            </a:r>
            <a:r>
              <a:rPr lang="nl-NL" sz="2000" dirty="0" err="1"/>
              <a:t>sufficienti</a:t>
            </a:r>
            <a:r>
              <a:rPr lang="nl-NL" sz="2000" dirty="0"/>
              <a:t> per </a:t>
            </a:r>
            <a:r>
              <a:rPr lang="nl-NL" sz="2000" dirty="0" err="1"/>
              <a:t>avere</a:t>
            </a:r>
            <a:r>
              <a:rPr lang="nl-NL" sz="2000" dirty="0"/>
              <a:t> </a:t>
            </a:r>
            <a:r>
              <a:rPr lang="nl-NL" sz="2000" dirty="0" err="1"/>
              <a:t>un</a:t>
            </a:r>
            <a:r>
              <a:rPr lang="nl-NL" sz="2000" dirty="0"/>
              <a:t> </a:t>
            </a:r>
            <a:r>
              <a:rPr lang="nl-NL" sz="2000" dirty="0" err="1"/>
              <a:t>contenuto</a:t>
            </a:r>
            <a:r>
              <a:rPr lang="nl-NL" sz="2000" dirty="0"/>
              <a:t> </a:t>
            </a:r>
            <a:r>
              <a:rPr lang="nl-NL" sz="2000" dirty="0" err="1"/>
              <a:t>informativo</a:t>
            </a:r>
            <a:r>
              <a:rPr lang="nl-NL" sz="2000" dirty="0"/>
              <a:t> del 90%</a:t>
            </a:r>
            <a:endParaRPr lang="en-150" sz="2000" dirty="0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F0C8BBCE-D889-4C4B-1386-EC69452C9B7C}"/>
              </a:ext>
            </a:extLst>
          </p:cNvPr>
          <p:cNvSpPr txBox="1"/>
          <p:nvPr/>
        </p:nvSpPr>
        <p:spPr>
          <a:xfrm>
            <a:off x="5542549" y="2806370"/>
            <a:ext cx="6096000" cy="181588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nl-NL" sz="1600" b="1" dirty="0" err="1"/>
              <a:t>Risultati</a:t>
            </a:r>
            <a:r>
              <a:rPr lang="nl-NL" sz="1600" b="1" dirty="0"/>
              <a:t> </a:t>
            </a:r>
            <a:r>
              <a:rPr lang="nl-NL" sz="1600" b="1" dirty="0" err="1"/>
              <a:t>Kmeans</a:t>
            </a:r>
            <a:r>
              <a:rPr lang="nl-NL" sz="1600" b="1" dirty="0"/>
              <a:t> (dataset </a:t>
            </a:r>
            <a:r>
              <a:rPr lang="nl-NL" sz="1600" b="1" dirty="0" err="1"/>
              <a:t>standardizzato</a:t>
            </a:r>
            <a:r>
              <a:rPr lang="nl-NL" sz="1600" b="1" dirty="0"/>
              <a:t>)</a:t>
            </a:r>
          </a:p>
          <a:p>
            <a:endParaRPr lang="nl-NL" sz="1600" dirty="0"/>
          </a:p>
          <a:p>
            <a:r>
              <a:rPr lang="en-150" sz="1600" dirty="0" err="1"/>
              <a:t>adjusted_mutual_info_score</a:t>
            </a:r>
            <a:r>
              <a:rPr lang="en-150" sz="1600" dirty="0"/>
              <a:t>        0.711714</a:t>
            </a:r>
            <a:endParaRPr lang="nl-NL" sz="1600" dirty="0"/>
          </a:p>
          <a:p>
            <a:r>
              <a:rPr lang="en-150" sz="1600" dirty="0" err="1"/>
              <a:t>adjusted_rand_score</a:t>
            </a:r>
            <a:r>
              <a:rPr lang="en-150" sz="1600" dirty="0"/>
              <a:t>               0.450901</a:t>
            </a:r>
            <a:endParaRPr lang="nl-NL" sz="1600" dirty="0"/>
          </a:p>
          <a:p>
            <a:r>
              <a:rPr lang="en-150" sz="1600" dirty="0" err="1"/>
              <a:t>calinski_harabasz_score</a:t>
            </a:r>
            <a:r>
              <a:rPr lang="en-150" sz="1600" dirty="0"/>
              <a:t>       15810.418535</a:t>
            </a:r>
            <a:endParaRPr lang="nl-NL" sz="1600" dirty="0"/>
          </a:p>
          <a:p>
            <a:r>
              <a:rPr lang="en-150" sz="1600" dirty="0" err="1"/>
              <a:t>completeness_score</a:t>
            </a:r>
            <a:r>
              <a:rPr lang="en-150" sz="1600" dirty="0"/>
              <a:t>                0.641948</a:t>
            </a:r>
            <a:endParaRPr lang="nl-NL" sz="1600" dirty="0"/>
          </a:p>
          <a:p>
            <a:r>
              <a:rPr lang="en-150" sz="1600" dirty="0" err="1"/>
              <a:t>fowlkes_mallows_score</a:t>
            </a:r>
            <a:r>
              <a:rPr lang="en-150" sz="1600" dirty="0"/>
              <a:t>             0.539452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99A21139-01FE-FF92-1AF2-C7B30C13A66D}"/>
              </a:ext>
            </a:extLst>
          </p:cNvPr>
          <p:cNvSpPr txBox="1"/>
          <p:nvPr/>
        </p:nvSpPr>
        <p:spPr>
          <a:xfrm>
            <a:off x="3080084" y="5058689"/>
            <a:ext cx="6096000" cy="175432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nl-NL" sz="1800" b="1" dirty="0" err="1"/>
              <a:t>Risultati</a:t>
            </a:r>
            <a:r>
              <a:rPr lang="nl-NL" sz="1800" b="1" dirty="0"/>
              <a:t> random </a:t>
            </a:r>
            <a:r>
              <a:rPr lang="nl-NL" sz="1800" b="1" dirty="0" err="1"/>
              <a:t>selection</a:t>
            </a:r>
            <a:endParaRPr lang="nl-NL" dirty="0"/>
          </a:p>
          <a:p>
            <a:r>
              <a:rPr lang="en-150" dirty="0" err="1"/>
              <a:t>adjusted_mutual_info_score</a:t>
            </a:r>
            <a:r>
              <a:rPr lang="en-150" dirty="0"/>
              <a:t>   -0.000003</a:t>
            </a:r>
            <a:endParaRPr lang="nl-NL" dirty="0"/>
          </a:p>
          <a:p>
            <a:r>
              <a:rPr lang="en-150" dirty="0" err="1"/>
              <a:t>adjusted_rand_score</a:t>
            </a:r>
            <a:r>
              <a:rPr lang="en-150" dirty="0"/>
              <a:t>           0.000015</a:t>
            </a:r>
            <a:endParaRPr lang="nl-NL" dirty="0"/>
          </a:p>
          <a:p>
            <a:r>
              <a:rPr lang="en-150" dirty="0" err="1"/>
              <a:t>calinski_harabasz_score</a:t>
            </a:r>
            <a:r>
              <a:rPr lang="en-150" dirty="0"/>
              <a:t>       0.990769</a:t>
            </a:r>
            <a:endParaRPr lang="nl-NL" dirty="0"/>
          </a:p>
          <a:p>
            <a:r>
              <a:rPr lang="en-150" dirty="0" err="1"/>
              <a:t>completeness_score</a:t>
            </a:r>
            <a:r>
              <a:rPr lang="en-150" dirty="0"/>
              <a:t>            0.000256</a:t>
            </a:r>
            <a:endParaRPr lang="nl-NL" dirty="0"/>
          </a:p>
          <a:p>
            <a:r>
              <a:rPr lang="en-150" dirty="0" err="1"/>
              <a:t>fowlkes_mallows_score</a:t>
            </a:r>
            <a:r>
              <a:rPr lang="en-150" dirty="0"/>
              <a:t>         0.159002</a:t>
            </a:r>
          </a:p>
        </p:txBody>
      </p:sp>
    </p:spTree>
    <p:extLst>
      <p:ext uri="{BB962C8B-B14F-4D97-AF65-F5344CB8AC3E}">
        <p14:creationId xmlns:p14="http://schemas.microsoft.com/office/powerpoint/2010/main" val="3880638226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spd="slow">
        <p159:morph option="byObject"/>
      </p:transition>
    </mc:Choice>
    <mc:Fallback xmlns="">
      <p:transition spd="slow">
        <p:fade/>
      </p:transition>
    </mc:Fallback>
  </mc:AlternateContent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69407E6F-9533-2669-E1A4-8F7994D91E2D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873827" y="333375"/>
            <a:ext cx="6444346" cy="4767980"/>
          </a:xfrm>
          <a:prstGeom prst="rect">
            <a:avLst/>
          </a:prstGeom>
        </p:spPr>
      </p:pic>
      <p:sp>
        <p:nvSpPr>
          <p:cNvPr id="4" name="TextBox 3">
            <a:extLst>
              <a:ext uri="{FF2B5EF4-FFF2-40B4-BE49-F238E27FC236}">
                <a16:creationId xmlns:a16="http://schemas.microsoft.com/office/drawing/2014/main" id="{344149A8-3AB5-2048-2C37-1E73986F28CD}"/>
              </a:ext>
            </a:extLst>
          </p:cNvPr>
          <p:cNvSpPr txBox="1"/>
          <p:nvPr/>
        </p:nvSpPr>
        <p:spPr>
          <a:xfrm>
            <a:off x="2101516" y="5462337"/>
            <a:ext cx="8855242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nl-NL" dirty="0" err="1"/>
              <a:t>Sono</a:t>
            </a:r>
            <a:r>
              <a:rPr lang="nl-NL" dirty="0"/>
              <a:t> state </a:t>
            </a:r>
            <a:r>
              <a:rPr lang="nl-NL" dirty="0" err="1"/>
              <a:t>fatte</a:t>
            </a:r>
            <a:r>
              <a:rPr lang="nl-NL" dirty="0"/>
              <a:t> 100 </a:t>
            </a:r>
            <a:r>
              <a:rPr lang="nl-NL" dirty="0" err="1"/>
              <a:t>iterazioni</a:t>
            </a:r>
            <a:r>
              <a:rPr lang="nl-NL" dirty="0"/>
              <a:t> per </a:t>
            </a:r>
            <a:r>
              <a:rPr lang="nl-NL" dirty="0" err="1"/>
              <a:t>il</a:t>
            </a:r>
            <a:r>
              <a:rPr lang="nl-NL" dirty="0"/>
              <a:t> K-means e </a:t>
            </a:r>
            <a:r>
              <a:rPr lang="nl-NL" dirty="0" err="1"/>
              <a:t>poi</a:t>
            </a:r>
            <a:r>
              <a:rPr lang="nl-NL" dirty="0"/>
              <a:t> </a:t>
            </a:r>
            <a:r>
              <a:rPr lang="nl-NL" dirty="0" err="1"/>
              <a:t>abbiamo</a:t>
            </a:r>
            <a:r>
              <a:rPr lang="nl-NL" dirty="0"/>
              <a:t> </a:t>
            </a:r>
            <a:r>
              <a:rPr lang="nl-NL" dirty="0" err="1"/>
              <a:t>tracciato</a:t>
            </a:r>
            <a:r>
              <a:rPr lang="nl-NL" dirty="0"/>
              <a:t> la </a:t>
            </a:r>
            <a:r>
              <a:rPr lang="nl-NL" dirty="0" err="1"/>
              <a:t>distribuzione</a:t>
            </a:r>
            <a:endParaRPr lang="en-150" dirty="0"/>
          </a:p>
        </p:txBody>
      </p:sp>
    </p:spTree>
    <p:extLst>
      <p:ext uri="{BB962C8B-B14F-4D97-AF65-F5344CB8AC3E}">
        <p14:creationId xmlns:p14="http://schemas.microsoft.com/office/powerpoint/2010/main" val="2717820577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spd="slow">
        <p159:morph option="byObject"/>
      </p:transition>
    </mc:Choice>
    <mc:Fallback xmlns="">
      <p:transition spd="slow">
        <p:fade/>
      </p:transition>
    </mc:Fallback>
  </mc:AlternateContent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D37F963-7349-4DE3-A960-EEBD333A4E61}"/>
              </a:ext>
            </a:extLst>
          </p:cNvPr>
          <p:cNvSpPr txBox="1">
            <a:spLocks/>
          </p:cNvSpPr>
          <p:nvPr/>
        </p:nvSpPr>
        <p:spPr>
          <a:xfrm>
            <a:off x="1524000" y="2235200"/>
            <a:ext cx="9144000" cy="2387600"/>
          </a:xfrm>
          <a:prstGeom prst="rect">
            <a:avLst/>
          </a:prstGeom>
        </p:spPr>
        <p:txBody>
          <a:bodyPr anchor="ctr"/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ctr"/>
            <a:r>
              <a:rPr lang="it-IT" dirty="0"/>
              <a:t>Metingen</a:t>
            </a:r>
            <a:endParaRPr lang="nl-NL" dirty="0"/>
          </a:p>
        </p:txBody>
      </p:sp>
    </p:spTree>
    <p:extLst>
      <p:ext uri="{BB962C8B-B14F-4D97-AF65-F5344CB8AC3E}">
        <p14:creationId xmlns:p14="http://schemas.microsoft.com/office/powerpoint/2010/main" val="1644673165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spd="slow">
        <p159:morph option="byObject"/>
      </p:transition>
    </mc:Choice>
    <mc:Fallback xmlns="">
      <p:transition spd="slow">
        <p:fade/>
      </p:transition>
    </mc:Fallback>
  </mc:AlternateContent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Graphic 1" descr="Database">
            <a:extLst>
              <a:ext uri="{FF2B5EF4-FFF2-40B4-BE49-F238E27FC236}">
                <a16:creationId xmlns:a16="http://schemas.microsoft.com/office/drawing/2014/main" id="{7405DEB1-F797-41FD-AC52-AE5153BED84B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1915583" y="2999691"/>
            <a:ext cx="914400" cy="914400"/>
          </a:xfrm>
          <a:prstGeom prst="rect">
            <a:avLst/>
          </a:prstGeom>
        </p:spPr>
      </p:pic>
      <p:pic>
        <p:nvPicPr>
          <p:cNvPr id="5" name="Graphic 4" descr="Database">
            <a:extLst>
              <a:ext uri="{FF2B5EF4-FFF2-40B4-BE49-F238E27FC236}">
                <a16:creationId xmlns:a16="http://schemas.microsoft.com/office/drawing/2014/main" id="{2FC5F5C2-6DCF-4E5C-AC31-5042C508BCB0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4774534" y="4106965"/>
            <a:ext cx="577514" cy="577514"/>
          </a:xfrm>
          <a:prstGeom prst="rect">
            <a:avLst/>
          </a:prstGeom>
        </p:spPr>
      </p:pic>
      <p:pic>
        <p:nvPicPr>
          <p:cNvPr id="6" name="Graphic 5" descr="Database">
            <a:extLst>
              <a:ext uri="{FF2B5EF4-FFF2-40B4-BE49-F238E27FC236}">
                <a16:creationId xmlns:a16="http://schemas.microsoft.com/office/drawing/2014/main" id="{4247EEB0-3DA4-4027-A3AF-B37C18EE0AAC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4774534" y="2422177"/>
            <a:ext cx="577514" cy="577514"/>
          </a:xfrm>
          <a:prstGeom prst="rect">
            <a:avLst/>
          </a:prstGeom>
        </p:spPr>
      </p:pic>
      <p:cxnSp>
        <p:nvCxnSpPr>
          <p:cNvPr id="8" name="Straight Arrow Connector 7">
            <a:extLst>
              <a:ext uri="{FF2B5EF4-FFF2-40B4-BE49-F238E27FC236}">
                <a16:creationId xmlns:a16="http://schemas.microsoft.com/office/drawing/2014/main" id="{9E3FCF76-11AD-41A8-997C-012106AAC6EF}"/>
              </a:ext>
            </a:extLst>
          </p:cNvPr>
          <p:cNvCxnSpPr>
            <a:stCxn id="2" idx="3"/>
            <a:endCxn id="6" idx="1"/>
          </p:cNvCxnSpPr>
          <p:nvPr/>
        </p:nvCxnSpPr>
        <p:spPr>
          <a:xfrm flipV="1">
            <a:off x="2829983" y="2710934"/>
            <a:ext cx="1944551" cy="745957"/>
          </a:xfrm>
          <a:prstGeom prst="straightConnector1">
            <a:avLst/>
          </a:prstGeom>
          <a:ln w="9525" cap="flat" cmpd="sng" algn="ctr">
            <a:solidFill>
              <a:schemeClr val="dk1"/>
            </a:solidFill>
            <a:prstDash val="solid"/>
            <a:round/>
            <a:headEnd type="none" w="med" len="med"/>
            <a:tailEnd type="arrow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</p:cxnSp>
      <p:cxnSp>
        <p:nvCxnSpPr>
          <p:cNvPr id="10" name="Straight Arrow Connector 9">
            <a:extLst>
              <a:ext uri="{FF2B5EF4-FFF2-40B4-BE49-F238E27FC236}">
                <a16:creationId xmlns:a16="http://schemas.microsoft.com/office/drawing/2014/main" id="{B5B291E3-ACA9-4C6C-9C01-90F93198D824}"/>
              </a:ext>
            </a:extLst>
          </p:cNvPr>
          <p:cNvCxnSpPr>
            <a:stCxn id="2" idx="3"/>
            <a:endCxn id="5" idx="1"/>
          </p:cNvCxnSpPr>
          <p:nvPr/>
        </p:nvCxnSpPr>
        <p:spPr>
          <a:xfrm>
            <a:off x="2829983" y="3456891"/>
            <a:ext cx="1944551" cy="938831"/>
          </a:xfrm>
          <a:prstGeom prst="straightConnector1">
            <a:avLst/>
          </a:prstGeom>
          <a:ln w="9525" cap="flat" cmpd="sng" algn="ctr">
            <a:solidFill>
              <a:schemeClr val="dk1"/>
            </a:solidFill>
            <a:prstDash val="solid"/>
            <a:round/>
            <a:headEnd type="none" w="med" len="med"/>
            <a:tailEnd type="arrow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</p:cxnSp>
      <p:sp>
        <p:nvSpPr>
          <p:cNvPr id="12" name="TextBox 11">
            <a:extLst>
              <a:ext uri="{FF2B5EF4-FFF2-40B4-BE49-F238E27FC236}">
                <a16:creationId xmlns:a16="http://schemas.microsoft.com/office/drawing/2014/main" id="{074E7333-1183-4CE6-9A27-22DFDEC462A6}"/>
              </a:ext>
            </a:extLst>
          </p:cNvPr>
          <p:cNvSpPr txBox="1"/>
          <p:nvPr/>
        </p:nvSpPr>
        <p:spPr>
          <a:xfrm>
            <a:off x="3992481" y="2028962"/>
            <a:ext cx="214162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it-IT" dirty="0"/>
              <a:t>Base Measurements</a:t>
            </a:r>
            <a:endParaRPr lang="en-US" dirty="0"/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75BD85AE-4829-44BB-AF28-37B3DCA7EAAB}"/>
              </a:ext>
            </a:extLst>
          </p:cNvPr>
          <p:cNvSpPr txBox="1"/>
          <p:nvPr/>
        </p:nvSpPr>
        <p:spPr>
          <a:xfrm>
            <a:off x="3942349" y="4684478"/>
            <a:ext cx="2241883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it-IT" dirty="0"/>
              <a:t>Score Measurements</a:t>
            </a:r>
            <a:endParaRPr lang="en-US" dirty="0"/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E7F1FC96-EBE4-4DD6-AE78-89CA7084A6F0}"/>
              </a:ext>
            </a:extLst>
          </p:cNvPr>
          <p:cNvSpPr txBox="1"/>
          <p:nvPr/>
        </p:nvSpPr>
        <p:spPr>
          <a:xfrm>
            <a:off x="0" y="0"/>
            <a:ext cx="372979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it-IT" u="sng" dirty="0"/>
              <a:t>Dataset Overall Pipeline</a:t>
            </a:r>
            <a:endParaRPr lang="en-US" u="sng" dirty="0"/>
          </a:p>
        </p:txBody>
      </p:sp>
      <p:pic>
        <p:nvPicPr>
          <p:cNvPr id="15" name="Graphic 14" descr="Filter">
            <a:extLst>
              <a:ext uri="{FF2B5EF4-FFF2-40B4-BE49-F238E27FC236}">
                <a16:creationId xmlns:a16="http://schemas.microsoft.com/office/drawing/2014/main" id="{77EFA052-BE58-4D1D-B8A8-F655071A6ABC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7216942" y="2430855"/>
            <a:ext cx="560158" cy="560158"/>
          </a:xfrm>
          <a:prstGeom prst="rect">
            <a:avLst/>
          </a:prstGeom>
        </p:spPr>
      </p:pic>
      <p:pic>
        <p:nvPicPr>
          <p:cNvPr id="16" name="Graphic 15" descr="Filter">
            <a:extLst>
              <a:ext uri="{FF2B5EF4-FFF2-40B4-BE49-F238E27FC236}">
                <a16:creationId xmlns:a16="http://schemas.microsoft.com/office/drawing/2014/main" id="{8CE6F089-4292-41E2-A4CB-9CE900294558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7216942" y="4106965"/>
            <a:ext cx="560158" cy="560158"/>
          </a:xfrm>
          <a:prstGeom prst="rect">
            <a:avLst/>
          </a:prstGeom>
        </p:spPr>
      </p:pic>
      <p:cxnSp>
        <p:nvCxnSpPr>
          <p:cNvPr id="18" name="Straight Arrow Connector 17">
            <a:extLst>
              <a:ext uri="{FF2B5EF4-FFF2-40B4-BE49-F238E27FC236}">
                <a16:creationId xmlns:a16="http://schemas.microsoft.com/office/drawing/2014/main" id="{555783A9-DA1F-458D-8AC7-9F29C7BF3301}"/>
              </a:ext>
            </a:extLst>
          </p:cNvPr>
          <p:cNvCxnSpPr>
            <a:stCxn id="6" idx="3"/>
            <a:endCxn id="15" idx="1"/>
          </p:cNvCxnSpPr>
          <p:nvPr/>
        </p:nvCxnSpPr>
        <p:spPr>
          <a:xfrm>
            <a:off x="5352048" y="2710934"/>
            <a:ext cx="1864894" cy="0"/>
          </a:xfrm>
          <a:prstGeom prst="straightConnector1">
            <a:avLst/>
          </a:prstGeom>
          <a:ln w="9525" cap="flat" cmpd="sng" algn="ctr">
            <a:solidFill>
              <a:schemeClr val="dk1"/>
            </a:solidFill>
            <a:prstDash val="solid"/>
            <a:round/>
            <a:headEnd type="none" w="med" len="med"/>
            <a:tailEnd type="arrow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</p:cxnSp>
      <p:cxnSp>
        <p:nvCxnSpPr>
          <p:cNvPr id="21" name="Straight Arrow Connector 20">
            <a:extLst>
              <a:ext uri="{FF2B5EF4-FFF2-40B4-BE49-F238E27FC236}">
                <a16:creationId xmlns:a16="http://schemas.microsoft.com/office/drawing/2014/main" id="{8A796B5C-4D51-4010-A70E-8C95CEFCB608}"/>
              </a:ext>
            </a:extLst>
          </p:cNvPr>
          <p:cNvCxnSpPr>
            <a:stCxn id="5" idx="3"/>
            <a:endCxn id="16" idx="1"/>
          </p:cNvCxnSpPr>
          <p:nvPr/>
        </p:nvCxnSpPr>
        <p:spPr>
          <a:xfrm flipV="1">
            <a:off x="5352048" y="4387044"/>
            <a:ext cx="1864894" cy="8678"/>
          </a:xfrm>
          <a:prstGeom prst="straightConnector1">
            <a:avLst/>
          </a:prstGeom>
          <a:ln w="9525" cap="flat" cmpd="sng" algn="ctr">
            <a:solidFill>
              <a:schemeClr val="dk1"/>
            </a:solidFill>
            <a:prstDash val="solid"/>
            <a:round/>
            <a:headEnd type="none" w="med" len="med"/>
            <a:tailEnd type="arrow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</p:cxnSp>
      <p:sp>
        <p:nvSpPr>
          <p:cNvPr id="22" name="TextBox 21">
            <a:extLst>
              <a:ext uri="{FF2B5EF4-FFF2-40B4-BE49-F238E27FC236}">
                <a16:creationId xmlns:a16="http://schemas.microsoft.com/office/drawing/2014/main" id="{65879BE2-3BDB-435A-A601-3F95ED3E8624}"/>
              </a:ext>
            </a:extLst>
          </p:cNvPr>
          <p:cNvSpPr txBox="1"/>
          <p:nvPr/>
        </p:nvSpPr>
        <p:spPr>
          <a:xfrm>
            <a:off x="6603332" y="2024867"/>
            <a:ext cx="1787378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it-IT" dirty="0"/>
              <a:t>25% presence</a:t>
            </a:r>
            <a:endParaRPr lang="en-US" dirty="0"/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010D410E-647F-4FE6-995F-3F96C38EA75C}"/>
              </a:ext>
            </a:extLst>
          </p:cNvPr>
          <p:cNvSpPr txBox="1"/>
          <p:nvPr/>
        </p:nvSpPr>
        <p:spPr>
          <a:xfrm>
            <a:off x="6603332" y="3736620"/>
            <a:ext cx="1787378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it-IT" dirty="0"/>
              <a:t>25% presence</a:t>
            </a:r>
            <a:endParaRPr lang="en-US" dirty="0"/>
          </a:p>
        </p:txBody>
      </p:sp>
      <p:grpSp>
        <p:nvGrpSpPr>
          <p:cNvPr id="45" name="Group 44">
            <a:extLst>
              <a:ext uri="{FF2B5EF4-FFF2-40B4-BE49-F238E27FC236}">
                <a16:creationId xmlns:a16="http://schemas.microsoft.com/office/drawing/2014/main" id="{EFCDFCF5-3CB5-44E5-9669-2EA232528336}"/>
              </a:ext>
            </a:extLst>
          </p:cNvPr>
          <p:cNvGrpSpPr/>
          <p:nvPr/>
        </p:nvGrpSpPr>
        <p:grpSpPr>
          <a:xfrm>
            <a:off x="8866787" y="2341955"/>
            <a:ext cx="660962" cy="656371"/>
            <a:chOff x="8659054" y="1554760"/>
            <a:chExt cx="660962" cy="656371"/>
          </a:xfrm>
        </p:grpSpPr>
        <p:pic>
          <p:nvPicPr>
            <p:cNvPr id="31" name="Graphic 30" descr="Fir tree">
              <a:extLst>
                <a:ext uri="{FF2B5EF4-FFF2-40B4-BE49-F238E27FC236}">
                  <a16:creationId xmlns:a16="http://schemas.microsoft.com/office/drawing/2014/main" id="{A28448D4-A5BA-4AA1-914C-F81207800F37}"/>
                </a:ext>
              </a:extLst>
            </p:cNvPr>
            <p:cNvPicPr>
              <a:picLocks noChangeAspect="1"/>
            </p:cNvPicPr>
            <p:nvPr/>
          </p:nvPicPr>
          <p:blipFill>
            <a:blip r:embed="rId6">
              <a:extLst>
                <a:ext uri="{28A0092B-C50C-407E-A947-70E740481C1C}">
                  <a14:useLocalDpi xmlns:a14="http://schemas.microsoft.com/office/drawing/2010/main" val="0"/>
                </a:ext>
                <a:ext uri="{96DAC541-7B7A-43D3-8B79-37D633B846F1}">
                  <asvg:svgBlip xmlns:asvg="http://schemas.microsoft.com/office/drawing/2016/SVG/main" r:embed="rId7"/>
                </a:ext>
              </a:extLst>
            </a:blip>
            <a:stretch>
              <a:fillRect/>
            </a:stretch>
          </p:blipFill>
          <p:spPr>
            <a:xfrm>
              <a:off x="8804250" y="1554760"/>
              <a:ext cx="369331" cy="369331"/>
            </a:xfrm>
            <a:prstGeom prst="rect">
              <a:avLst/>
            </a:prstGeom>
          </p:spPr>
        </p:pic>
        <p:pic>
          <p:nvPicPr>
            <p:cNvPr id="33" name="Graphic 32" descr="Fir tree">
              <a:extLst>
                <a:ext uri="{FF2B5EF4-FFF2-40B4-BE49-F238E27FC236}">
                  <a16:creationId xmlns:a16="http://schemas.microsoft.com/office/drawing/2014/main" id="{FA5DFC68-AF0D-4662-B2B3-AB729F785AD7}"/>
                </a:ext>
              </a:extLst>
            </p:cNvPr>
            <p:cNvPicPr>
              <a:picLocks noChangeAspect="1"/>
            </p:cNvPicPr>
            <p:nvPr/>
          </p:nvPicPr>
          <p:blipFill>
            <a:blip r:embed="rId6">
              <a:extLst>
                <a:ext uri="{28A0092B-C50C-407E-A947-70E740481C1C}">
                  <a14:useLocalDpi xmlns:a14="http://schemas.microsoft.com/office/drawing/2010/main" val="0"/>
                </a:ext>
                <a:ext uri="{96DAC541-7B7A-43D3-8B79-37D633B846F1}">
                  <asvg:svgBlip xmlns:asvg="http://schemas.microsoft.com/office/drawing/2016/SVG/main" r:embed="rId7"/>
                </a:ext>
              </a:extLst>
            </a:blip>
            <a:stretch>
              <a:fillRect/>
            </a:stretch>
          </p:blipFill>
          <p:spPr>
            <a:xfrm>
              <a:off x="8659054" y="1631712"/>
              <a:ext cx="369331" cy="369331"/>
            </a:xfrm>
            <a:prstGeom prst="rect">
              <a:avLst/>
            </a:prstGeom>
          </p:spPr>
        </p:pic>
        <p:pic>
          <p:nvPicPr>
            <p:cNvPr id="34" name="Graphic 33" descr="Fir tree">
              <a:extLst>
                <a:ext uri="{FF2B5EF4-FFF2-40B4-BE49-F238E27FC236}">
                  <a16:creationId xmlns:a16="http://schemas.microsoft.com/office/drawing/2014/main" id="{A87B39C9-9355-4F04-85A8-68975E2D1931}"/>
                </a:ext>
              </a:extLst>
            </p:cNvPr>
            <p:cNvPicPr>
              <a:picLocks noChangeAspect="1"/>
            </p:cNvPicPr>
            <p:nvPr/>
          </p:nvPicPr>
          <p:blipFill>
            <a:blip r:embed="rId6">
              <a:extLst>
                <a:ext uri="{28A0092B-C50C-407E-A947-70E740481C1C}">
                  <a14:useLocalDpi xmlns:a14="http://schemas.microsoft.com/office/drawing/2010/main" val="0"/>
                </a:ext>
                <a:ext uri="{96DAC541-7B7A-43D3-8B79-37D633B846F1}">
                  <asvg:svgBlip xmlns:asvg="http://schemas.microsoft.com/office/drawing/2016/SVG/main" r:embed="rId7"/>
                </a:ext>
              </a:extLst>
            </a:blip>
            <a:stretch>
              <a:fillRect/>
            </a:stretch>
          </p:blipFill>
          <p:spPr>
            <a:xfrm>
              <a:off x="8950685" y="1652154"/>
              <a:ext cx="369331" cy="369331"/>
            </a:xfrm>
            <a:prstGeom prst="rect">
              <a:avLst/>
            </a:prstGeom>
          </p:spPr>
        </p:pic>
        <p:pic>
          <p:nvPicPr>
            <p:cNvPr id="27" name="Graphic 26" descr="Rat">
              <a:extLst>
                <a:ext uri="{FF2B5EF4-FFF2-40B4-BE49-F238E27FC236}">
                  <a16:creationId xmlns:a16="http://schemas.microsoft.com/office/drawing/2014/main" id="{E0A02F5C-79F0-4D89-8F50-304FD4BD9848}"/>
                </a:ext>
              </a:extLst>
            </p:cNvPr>
            <p:cNvPicPr>
              <a:picLocks noChangeAspect="1"/>
            </p:cNvPicPr>
            <p:nvPr/>
          </p:nvPicPr>
          <p:blipFill>
            <a:blip r:embed="rId8">
              <a:extLst>
                <a:ext uri="{28A0092B-C50C-407E-A947-70E740481C1C}">
                  <a14:useLocalDpi xmlns:a14="http://schemas.microsoft.com/office/drawing/2010/main" val="0"/>
                </a:ext>
                <a:ext uri="{96DAC541-7B7A-43D3-8B79-37D633B846F1}">
                  <asvg:svgBlip xmlns:asvg="http://schemas.microsoft.com/office/drawing/2016/SVG/main" r:embed="rId9"/>
                </a:ext>
              </a:extLst>
            </a:blip>
            <a:stretch>
              <a:fillRect/>
            </a:stretch>
          </p:blipFill>
          <p:spPr>
            <a:xfrm>
              <a:off x="8753807" y="1914827"/>
              <a:ext cx="268922" cy="268922"/>
            </a:xfrm>
            <a:prstGeom prst="rect">
              <a:avLst/>
            </a:prstGeom>
          </p:spPr>
        </p:pic>
        <p:pic>
          <p:nvPicPr>
            <p:cNvPr id="28" name="Graphic 27" descr="Rat">
              <a:extLst>
                <a:ext uri="{FF2B5EF4-FFF2-40B4-BE49-F238E27FC236}">
                  <a16:creationId xmlns:a16="http://schemas.microsoft.com/office/drawing/2014/main" id="{E52DBD8A-0DAA-4002-B99A-3279FA56CC7D}"/>
                </a:ext>
              </a:extLst>
            </p:cNvPr>
            <p:cNvPicPr>
              <a:picLocks noChangeAspect="1"/>
            </p:cNvPicPr>
            <p:nvPr/>
          </p:nvPicPr>
          <p:blipFill>
            <a:blip r:embed="rId8">
              <a:extLst>
                <a:ext uri="{28A0092B-C50C-407E-A947-70E740481C1C}">
                  <a14:useLocalDpi xmlns:a14="http://schemas.microsoft.com/office/drawing/2010/main" val="0"/>
                </a:ext>
                <a:ext uri="{96DAC541-7B7A-43D3-8B79-37D633B846F1}">
                  <asvg:svgBlip xmlns:asvg="http://schemas.microsoft.com/office/drawing/2016/SVG/main" r:embed="rId9"/>
                </a:ext>
              </a:extLst>
            </a:blip>
            <a:stretch>
              <a:fillRect/>
            </a:stretch>
          </p:blipFill>
          <p:spPr>
            <a:xfrm flipH="1">
              <a:off x="8939164" y="2068427"/>
              <a:ext cx="142704" cy="142704"/>
            </a:xfrm>
            <a:prstGeom prst="rect">
              <a:avLst/>
            </a:prstGeom>
          </p:spPr>
        </p:pic>
        <p:pic>
          <p:nvPicPr>
            <p:cNvPr id="35" name="Graphic 34" descr="Rat">
              <a:extLst>
                <a:ext uri="{FF2B5EF4-FFF2-40B4-BE49-F238E27FC236}">
                  <a16:creationId xmlns:a16="http://schemas.microsoft.com/office/drawing/2014/main" id="{6D33A84E-4C0D-4033-8FCF-EC2E10BDF52D}"/>
                </a:ext>
              </a:extLst>
            </p:cNvPr>
            <p:cNvPicPr>
              <a:picLocks noChangeAspect="1"/>
            </p:cNvPicPr>
            <p:nvPr/>
          </p:nvPicPr>
          <p:blipFill>
            <a:blip r:embed="rId8">
              <a:extLst>
                <a:ext uri="{28A0092B-C50C-407E-A947-70E740481C1C}">
                  <a14:useLocalDpi xmlns:a14="http://schemas.microsoft.com/office/drawing/2010/main" val="0"/>
                </a:ext>
                <a:ext uri="{96DAC541-7B7A-43D3-8B79-37D633B846F1}">
                  <asvg:svgBlip xmlns:asvg="http://schemas.microsoft.com/office/drawing/2016/SVG/main" r:embed="rId9"/>
                </a:ext>
              </a:extLst>
            </a:blip>
            <a:stretch>
              <a:fillRect/>
            </a:stretch>
          </p:blipFill>
          <p:spPr>
            <a:xfrm flipH="1">
              <a:off x="8969417" y="1908414"/>
              <a:ext cx="224902" cy="221156"/>
            </a:xfrm>
            <a:prstGeom prst="rect">
              <a:avLst/>
            </a:prstGeom>
          </p:spPr>
        </p:pic>
        <p:pic>
          <p:nvPicPr>
            <p:cNvPr id="36" name="Graphic 35" descr="Rat">
              <a:extLst>
                <a:ext uri="{FF2B5EF4-FFF2-40B4-BE49-F238E27FC236}">
                  <a16:creationId xmlns:a16="http://schemas.microsoft.com/office/drawing/2014/main" id="{9C8F06A7-7870-4608-AA82-B4F3C3504D7E}"/>
                </a:ext>
              </a:extLst>
            </p:cNvPr>
            <p:cNvPicPr>
              <a:picLocks noChangeAspect="1"/>
            </p:cNvPicPr>
            <p:nvPr/>
          </p:nvPicPr>
          <p:blipFill>
            <a:blip r:embed="rId8">
              <a:extLst>
                <a:ext uri="{28A0092B-C50C-407E-A947-70E740481C1C}">
                  <a14:useLocalDpi xmlns:a14="http://schemas.microsoft.com/office/drawing/2010/main" val="0"/>
                </a:ext>
                <a:ext uri="{96DAC541-7B7A-43D3-8B79-37D633B846F1}">
                  <asvg:svgBlip xmlns:asvg="http://schemas.microsoft.com/office/drawing/2016/SVG/main" r:embed="rId9"/>
                </a:ext>
              </a:extLst>
            </a:blip>
            <a:stretch>
              <a:fillRect/>
            </a:stretch>
          </p:blipFill>
          <p:spPr>
            <a:xfrm>
              <a:off x="9058905" y="2035427"/>
              <a:ext cx="142704" cy="142704"/>
            </a:xfrm>
            <a:prstGeom prst="rect">
              <a:avLst/>
            </a:prstGeom>
          </p:spPr>
        </p:pic>
      </p:grpSp>
      <p:grpSp>
        <p:nvGrpSpPr>
          <p:cNvPr id="44" name="Group 43">
            <a:extLst>
              <a:ext uri="{FF2B5EF4-FFF2-40B4-BE49-F238E27FC236}">
                <a16:creationId xmlns:a16="http://schemas.microsoft.com/office/drawing/2014/main" id="{04F9F91F-2781-44FE-98AE-7E4D07F97208}"/>
              </a:ext>
            </a:extLst>
          </p:cNvPr>
          <p:cNvGrpSpPr/>
          <p:nvPr/>
        </p:nvGrpSpPr>
        <p:grpSpPr>
          <a:xfrm>
            <a:off x="8936157" y="4010752"/>
            <a:ext cx="660962" cy="656371"/>
            <a:chOff x="8659054" y="4532119"/>
            <a:chExt cx="660962" cy="656371"/>
          </a:xfrm>
        </p:grpSpPr>
        <p:pic>
          <p:nvPicPr>
            <p:cNvPr id="37" name="Graphic 36" descr="Fir tree">
              <a:extLst>
                <a:ext uri="{FF2B5EF4-FFF2-40B4-BE49-F238E27FC236}">
                  <a16:creationId xmlns:a16="http://schemas.microsoft.com/office/drawing/2014/main" id="{0E363A89-E105-4E57-91E1-3E875915792D}"/>
                </a:ext>
              </a:extLst>
            </p:cNvPr>
            <p:cNvPicPr>
              <a:picLocks noChangeAspect="1"/>
            </p:cNvPicPr>
            <p:nvPr/>
          </p:nvPicPr>
          <p:blipFill>
            <a:blip r:embed="rId6">
              <a:extLst>
                <a:ext uri="{28A0092B-C50C-407E-A947-70E740481C1C}">
                  <a14:useLocalDpi xmlns:a14="http://schemas.microsoft.com/office/drawing/2010/main" val="0"/>
                </a:ext>
                <a:ext uri="{96DAC541-7B7A-43D3-8B79-37D633B846F1}">
                  <asvg:svgBlip xmlns:asvg="http://schemas.microsoft.com/office/drawing/2016/SVG/main" r:embed="rId7"/>
                </a:ext>
              </a:extLst>
            </a:blip>
            <a:stretch>
              <a:fillRect/>
            </a:stretch>
          </p:blipFill>
          <p:spPr>
            <a:xfrm>
              <a:off x="8804250" y="4532119"/>
              <a:ext cx="369331" cy="369331"/>
            </a:xfrm>
            <a:prstGeom prst="rect">
              <a:avLst/>
            </a:prstGeom>
          </p:spPr>
        </p:pic>
        <p:pic>
          <p:nvPicPr>
            <p:cNvPr id="38" name="Graphic 37" descr="Fir tree">
              <a:extLst>
                <a:ext uri="{FF2B5EF4-FFF2-40B4-BE49-F238E27FC236}">
                  <a16:creationId xmlns:a16="http://schemas.microsoft.com/office/drawing/2014/main" id="{770005CA-79DF-4370-88CD-7C3EB7DAF6FD}"/>
                </a:ext>
              </a:extLst>
            </p:cNvPr>
            <p:cNvPicPr>
              <a:picLocks noChangeAspect="1"/>
            </p:cNvPicPr>
            <p:nvPr/>
          </p:nvPicPr>
          <p:blipFill>
            <a:blip r:embed="rId6">
              <a:extLst>
                <a:ext uri="{28A0092B-C50C-407E-A947-70E740481C1C}">
                  <a14:useLocalDpi xmlns:a14="http://schemas.microsoft.com/office/drawing/2010/main" val="0"/>
                </a:ext>
                <a:ext uri="{96DAC541-7B7A-43D3-8B79-37D633B846F1}">
                  <asvg:svgBlip xmlns:asvg="http://schemas.microsoft.com/office/drawing/2016/SVG/main" r:embed="rId7"/>
                </a:ext>
              </a:extLst>
            </a:blip>
            <a:stretch>
              <a:fillRect/>
            </a:stretch>
          </p:blipFill>
          <p:spPr>
            <a:xfrm>
              <a:off x="8659054" y="4609071"/>
              <a:ext cx="369331" cy="369331"/>
            </a:xfrm>
            <a:prstGeom prst="rect">
              <a:avLst/>
            </a:prstGeom>
          </p:spPr>
        </p:pic>
        <p:pic>
          <p:nvPicPr>
            <p:cNvPr id="39" name="Graphic 38" descr="Fir tree">
              <a:extLst>
                <a:ext uri="{FF2B5EF4-FFF2-40B4-BE49-F238E27FC236}">
                  <a16:creationId xmlns:a16="http://schemas.microsoft.com/office/drawing/2014/main" id="{289005B1-E3F6-4D74-8657-EBA911FA0743}"/>
                </a:ext>
              </a:extLst>
            </p:cNvPr>
            <p:cNvPicPr>
              <a:picLocks noChangeAspect="1"/>
            </p:cNvPicPr>
            <p:nvPr/>
          </p:nvPicPr>
          <p:blipFill>
            <a:blip r:embed="rId6">
              <a:extLst>
                <a:ext uri="{28A0092B-C50C-407E-A947-70E740481C1C}">
                  <a14:useLocalDpi xmlns:a14="http://schemas.microsoft.com/office/drawing/2010/main" val="0"/>
                </a:ext>
                <a:ext uri="{96DAC541-7B7A-43D3-8B79-37D633B846F1}">
                  <asvg:svgBlip xmlns:asvg="http://schemas.microsoft.com/office/drawing/2016/SVG/main" r:embed="rId7"/>
                </a:ext>
              </a:extLst>
            </a:blip>
            <a:stretch>
              <a:fillRect/>
            </a:stretch>
          </p:blipFill>
          <p:spPr>
            <a:xfrm>
              <a:off x="8950685" y="4629513"/>
              <a:ext cx="369331" cy="369331"/>
            </a:xfrm>
            <a:prstGeom prst="rect">
              <a:avLst/>
            </a:prstGeom>
          </p:spPr>
        </p:pic>
        <p:pic>
          <p:nvPicPr>
            <p:cNvPr id="40" name="Graphic 39" descr="Rat">
              <a:extLst>
                <a:ext uri="{FF2B5EF4-FFF2-40B4-BE49-F238E27FC236}">
                  <a16:creationId xmlns:a16="http://schemas.microsoft.com/office/drawing/2014/main" id="{3790F890-04F6-4F83-9FB3-08B39B7B162B}"/>
                </a:ext>
              </a:extLst>
            </p:cNvPr>
            <p:cNvPicPr>
              <a:picLocks noChangeAspect="1"/>
            </p:cNvPicPr>
            <p:nvPr/>
          </p:nvPicPr>
          <p:blipFill>
            <a:blip r:embed="rId8">
              <a:extLst>
                <a:ext uri="{28A0092B-C50C-407E-A947-70E740481C1C}">
                  <a14:useLocalDpi xmlns:a14="http://schemas.microsoft.com/office/drawing/2010/main" val="0"/>
                </a:ext>
                <a:ext uri="{96DAC541-7B7A-43D3-8B79-37D633B846F1}">
                  <asvg:svgBlip xmlns:asvg="http://schemas.microsoft.com/office/drawing/2016/SVG/main" r:embed="rId9"/>
                </a:ext>
              </a:extLst>
            </a:blip>
            <a:stretch>
              <a:fillRect/>
            </a:stretch>
          </p:blipFill>
          <p:spPr>
            <a:xfrm>
              <a:off x="8753807" y="4892186"/>
              <a:ext cx="268922" cy="268922"/>
            </a:xfrm>
            <a:prstGeom prst="rect">
              <a:avLst/>
            </a:prstGeom>
          </p:spPr>
        </p:pic>
        <p:pic>
          <p:nvPicPr>
            <p:cNvPr id="41" name="Graphic 40" descr="Rat">
              <a:extLst>
                <a:ext uri="{FF2B5EF4-FFF2-40B4-BE49-F238E27FC236}">
                  <a16:creationId xmlns:a16="http://schemas.microsoft.com/office/drawing/2014/main" id="{7A52470C-137D-4771-8BEE-0C2423A4F498}"/>
                </a:ext>
              </a:extLst>
            </p:cNvPr>
            <p:cNvPicPr>
              <a:picLocks noChangeAspect="1"/>
            </p:cNvPicPr>
            <p:nvPr/>
          </p:nvPicPr>
          <p:blipFill>
            <a:blip r:embed="rId8">
              <a:extLst>
                <a:ext uri="{28A0092B-C50C-407E-A947-70E740481C1C}">
                  <a14:useLocalDpi xmlns:a14="http://schemas.microsoft.com/office/drawing/2010/main" val="0"/>
                </a:ext>
                <a:ext uri="{96DAC541-7B7A-43D3-8B79-37D633B846F1}">
                  <asvg:svgBlip xmlns:asvg="http://schemas.microsoft.com/office/drawing/2016/SVG/main" r:embed="rId9"/>
                </a:ext>
              </a:extLst>
            </a:blip>
            <a:stretch>
              <a:fillRect/>
            </a:stretch>
          </p:blipFill>
          <p:spPr>
            <a:xfrm flipH="1">
              <a:off x="8939164" y="5045786"/>
              <a:ext cx="142704" cy="142704"/>
            </a:xfrm>
            <a:prstGeom prst="rect">
              <a:avLst/>
            </a:prstGeom>
          </p:spPr>
        </p:pic>
        <p:pic>
          <p:nvPicPr>
            <p:cNvPr id="42" name="Graphic 41" descr="Rat">
              <a:extLst>
                <a:ext uri="{FF2B5EF4-FFF2-40B4-BE49-F238E27FC236}">
                  <a16:creationId xmlns:a16="http://schemas.microsoft.com/office/drawing/2014/main" id="{FD3ADE60-EA42-4A59-8BC6-FB7B717A80CE}"/>
                </a:ext>
              </a:extLst>
            </p:cNvPr>
            <p:cNvPicPr>
              <a:picLocks noChangeAspect="1"/>
            </p:cNvPicPr>
            <p:nvPr/>
          </p:nvPicPr>
          <p:blipFill>
            <a:blip r:embed="rId8">
              <a:extLst>
                <a:ext uri="{28A0092B-C50C-407E-A947-70E740481C1C}">
                  <a14:useLocalDpi xmlns:a14="http://schemas.microsoft.com/office/drawing/2010/main" val="0"/>
                </a:ext>
                <a:ext uri="{96DAC541-7B7A-43D3-8B79-37D633B846F1}">
                  <asvg:svgBlip xmlns:asvg="http://schemas.microsoft.com/office/drawing/2016/SVG/main" r:embed="rId9"/>
                </a:ext>
              </a:extLst>
            </a:blip>
            <a:stretch>
              <a:fillRect/>
            </a:stretch>
          </p:blipFill>
          <p:spPr>
            <a:xfrm flipH="1">
              <a:off x="8969417" y="4885773"/>
              <a:ext cx="224902" cy="221156"/>
            </a:xfrm>
            <a:prstGeom prst="rect">
              <a:avLst/>
            </a:prstGeom>
          </p:spPr>
        </p:pic>
        <p:pic>
          <p:nvPicPr>
            <p:cNvPr id="43" name="Graphic 42" descr="Rat">
              <a:extLst>
                <a:ext uri="{FF2B5EF4-FFF2-40B4-BE49-F238E27FC236}">
                  <a16:creationId xmlns:a16="http://schemas.microsoft.com/office/drawing/2014/main" id="{F353A656-F1AF-4FC7-ADD9-491A9B3BF874}"/>
                </a:ext>
              </a:extLst>
            </p:cNvPr>
            <p:cNvPicPr>
              <a:picLocks noChangeAspect="1"/>
            </p:cNvPicPr>
            <p:nvPr/>
          </p:nvPicPr>
          <p:blipFill>
            <a:blip r:embed="rId8">
              <a:extLst>
                <a:ext uri="{28A0092B-C50C-407E-A947-70E740481C1C}">
                  <a14:useLocalDpi xmlns:a14="http://schemas.microsoft.com/office/drawing/2010/main" val="0"/>
                </a:ext>
                <a:ext uri="{96DAC541-7B7A-43D3-8B79-37D633B846F1}">
                  <asvg:svgBlip xmlns:asvg="http://schemas.microsoft.com/office/drawing/2016/SVG/main" r:embed="rId9"/>
                </a:ext>
              </a:extLst>
            </a:blip>
            <a:stretch>
              <a:fillRect/>
            </a:stretch>
          </p:blipFill>
          <p:spPr>
            <a:xfrm>
              <a:off x="9058905" y="5012786"/>
              <a:ext cx="142704" cy="142704"/>
            </a:xfrm>
            <a:prstGeom prst="rect">
              <a:avLst/>
            </a:prstGeom>
          </p:spPr>
        </p:pic>
      </p:grpSp>
      <p:cxnSp>
        <p:nvCxnSpPr>
          <p:cNvPr id="47" name="Straight Arrow Connector 46">
            <a:extLst>
              <a:ext uri="{FF2B5EF4-FFF2-40B4-BE49-F238E27FC236}">
                <a16:creationId xmlns:a16="http://schemas.microsoft.com/office/drawing/2014/main" id="{21D791B7-BCEC-4B7D-8AF4-F64002B1ECC4}"/>
              </a:ext>
            </a:extLst>
          </p:cNvPr>
          <p:cNvCxnSpPr>
            <a:stCxn id="15" idx="3"/>
          </p:cNvCxnSpPr>
          <p:nvPr/>
        </p:nvCxnSpPr>
        <p:spPr>
          <a:xfrm>
            <a:off x="7777100" y="2710934"/>
            <a:ext cx="1089067" cy="0"/>
          </a:xfrm>
          <a:prstGeom prst="straightConnector1">
            <a:avLst/>
          </a:prstGeom>
          <a:ln w="9525" cap="flat" cmpd="sng" algn="ctr">
            <a:solidFill>
              <a:schemeClr val="dk1"/>
            </a:solidFill>
            <a:prstDash val="solid"/>
            <a:round/>
            <a:headEnd type="none" w="med" len="med"/>
            <a:tailEnd type="arrow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</p:cxnSp>
      <p:cxnSp>
        <p:nvCxnSpPr>
          <p:cNvPr id="49" name="Straight Arrow Connector 48">
            <a:extLst>
              <a:ext uri="{FF2B5EF4-FFF2-40B4-BE49-F238E27FC236}">
                <a16:creationId xmlns:a16="http://schemas.microsoft.com/office/drawing/2014/main" id="{60EF8F11-6F77-4F18-8FE0-357F66B187C9}"/>
              </a:ext>
            </a:extLst>
          </p:cNvPr>
          <p:cNvCxnSpPr>
            <a:stCxn id="16" idx="3"/>
          </p:cNvCxnSpPr>
          <p:nvPr/>
        </p:nvCxnSpPr>
        <p:spPr>
          <a:xfrm>
            <a:off x="7777100" y="4387044"/>
            <a:ext cx="1089067" cy="8678"/>
          </a:xfrm>
          <a:prstGeom prst="straightConnector1">
            <a:avLst/>
          </a:prstGeom>
          <a:ln w="9525" cap="flat" cmpd="sng" algn="ctr">
            <a:solidFill>
              <a:schemeClr val="dk1"/>
            </a:solidFill>
            <a:prstDash val="solid"/>
            <a:round/>
            <a:headEnd type="none" w="med" len="med"/>
            <a:tailEnd type="arrow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</p:cxnSp>
      <p:sp>
        <p:nvSpPr>
          <p:cNvPr id="50" name="TextBox 49">
            <a:extLst>
              <a:ext uri="{FF2B5EF4-FFF2-40B4-BE49-F238E27FC236}">
                <a16:creationId xmlns:a16="http://schemas.microsoft.com/office/drawing/2014/main" id="{245E91A3-D02A-4899-B0C7-967A56251B12}"/>
              </a:ext>
            </a:extLst>
          </p:cNvPr>
          <p:cNvSpPr txBox="1"/>
          <p:nvPr/>
        </p:nvSpPr>
        <p:spPr>
          <a:xfrm>
            <a:off x="8302339" y="2024867"/>
            <a:ext cx="1787378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it-IT" dirty="0"/>
              <a:t>MICE Forest</a:t>
            </a:r>
            <a:endParaRPr lang="en-US" dirty="0"/>
          </a:p>
        </p:txBody>
      </p:sp>
      <p:sp>
        <p:nvSpPr>
          <p:cNvPr id="51" name="TextBox 50">
            <a:extLst>
              <a:ext uri="{FF2B5EF4-FFF2-40B4-BE49-F238E27FC236}">
                <a16:creationId xmlns:a16="http://schemas.microsoft.com/office/drawing/2014/main" id="{92B6B99E-4147-4597-8C5E-0518FED712B3}"/>
              </a:ext>
            </a:extLst>
          </p:cNvPr>
          <p:cNvSpPr txBox="1"/>
          <p:nvPr/>
        </p:nvSpPr>
        <p:spPr>
          <a:xfrm>
            <a:off x="8352831" y="3736620"/>
            <a:ext cx="1787378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it-IT" dirty="0"/>
              <a:t>MICE Forest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416861179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spd="slow">
        <p159:morph option="byObject"/>
      </p:transition>
    </mc:Choice>
    <mc:Fallback xmlns="">
      <p:transition spd="slow">
        <p:fade/>
      </p:transition>
    </mc:Fallback>
  </mc:AlternateContent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D37F963-7349-4DE3-A960-EEBD333A4E61}"/>
              </a:ext>
            </a:extLst>
          </p:cNvPr>
          <p:cNvSpPr txBox="1">
            <a:spLocks/>
          </p:cNvSpPr>
          <p:nvPr/>
        </p:nvSpPr>
        <p:spPr>
          <a:xfrm>
            <a:off x="1524000" y="2235200"/>
            <a:ext cx="9144000" cy="2387600"/>
          </a:xfrm>
          <a:prstGeom prst="rect">
            <a:avLst/>
          </a:prstGeom>
        </p:spPr>
        <p:txBody>
          <a:bodyPr anchor="ctr"/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ctr"/>
            <a:r>
              <a:rPr lang="it-IT" dirty="0"/>
              <a:t>Blood Pressure Readings</a:t>
            </a:r>
            <a:endParaRPr lang="nl-NL" dirty="0"/>
          </a:p>
        </p:txBody>
      </p:sp>
    </p:spTree>
    <p:extLst>
      <p:ext uri="{BB962C8B-B14F-4D97-AF65-F5344CB8AC3E}">
        <p14:creationId xmlns:p14="http://schemas.microsoft.com/office/powerpoint/2010/main" val="603692568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spd="slow">
        <p159:morph option="byObject"/>
      </p:transition>
    </mc:Choice>
    <mc:Fallback xmlns="">
      <p:transition spd="slow">
        <p:fade/>
      </p:transition>
    </mc:Fallback>
  </mc:AlternateContent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4681F579-B7BD-43D4-967F-0C07FCDCD24F}"/>
              </a:ext>
            </a:extLst>
          </p:cNvPr>
          <p:cNvSpPr txBox="1"/>
          <p:nvPr/>
        </p:nvSpPr>
        <p:spPr>
          <a:xfrm>
            <a:off x="0" y="0"/>
            <a:ext cx="372979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it-IT" u="sng" dirty="0"/>
              <a:t>Dataset</a:t>
            </a:r>
            <a:endParaRPr lang="en-US" u="sng" dirty="0"/>
          </a:p>
        </p:txBody>
      </p:sp>
      <p:pic>
        <p:nvPicPr>
          <p:cNvPr id="3" name="Graphic 2" descr="Users">
            <a:extLst>
              <a:ext uri="{FF2B5EF4-FFF2-40B4-BE49-F238E27FC236}">
                <a16:creationId xmlns:a16="http://schemas.microsoft.com/office/drawing/2014/main" id="{6A96EAA8-88F7-4B8F-9D92-7D32260EB0BA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1379623" y="642889"/>
            <a:ext cx="1394355" cy="1394355"/>
          </a:xfrm>
          <a:prstGeom prst="rect">
            <a:avLst/>
          </a:prstGeom>
        </p:spPr>
      </p:pic>
      <p:sp>
        <p:nvSpPr>
          <p:cNvPr id="4" name="TextBox 3">
            <a:extLst>
              <a:ext uri="{FF2B5EF4-FFF2-40B4-BE49-F238E27FC236}">
                <a16:creationId xmlns:a16="http://schemas.microsoft.com/office/drawing/2014/main" id="{1992D4E9-A94E-4A1F-90F9-D850F574D118}"/>
              </a:ext>
            </a:extLst>
          </p:cNvPr>
          <p:cNvSpPr txBox="1"/>
          <p:nvPr/>
        </p:nvSpPr>
        <p:spPr>
          <a:xfrm>
            <a:off x="9016321" y="5610925"/>
            <a:ext cx="1809478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it-IT" sz="2400" dirty="0"/>
              <a:t>1322 pts</a:t>
            </a:r>
            <a:endParaRPr lang="en-US" sz="2400" dirty="0"/>
          </a:p>
        </p:txBody>
      </p:sp>
      <p:pic>
        <p:nvPicPr>
          <p:cNvPr id="5" name="Graphic 4" descr="Users">
            <a:extLst>
              <a:ext uri="{FF2B5EF4-FFF2-40B4-BE49-F238E27FC236}">
                <a16:creationId xmlns:a16="http://schemas.microsoft.com/office/drawing/2014/main" id="{A99F3A23-BC07-43D9-B812-6E19ECCC48B1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4742408" y="2754561"/>
            <a:ext cx="1394355" cy="1394355"/>
          </a:xfrm>
          <a:prstGeom prst="rect">
            <a:avLst/>
          </a:prstGeom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3312CAA4-B6D5-45F6-815B-3A9186D27E0F}"/>
              </a:ext>
            </a:extLst>
          </p:cNvPr>
          <p:cNvSpPr txBox="1"/>
          <p:nvPr/>
        </p:nvSpPr>
        <p:spPr>
          <a:xfrm>
            <a:off x="2932930" y="1109233"/>
            <a:ext cx="1270103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it-IT" sz="2400" dirty="0"/>
              <a:t>3886 pts</a:t>
            </a:r>
            <a:endParaRPr lang="en-US" sz="2400" dirty="0"/>
          </a:p>
        </p:txBody>
      </p:sp>
      <p:pic>
        <p:nvPicPr>
          <p:cNvPr id="7" name="Graphic 6" descr="Users">
            <a:extLst>
              <a:ext uri="{FF2B5EF4-FFF2-40B4-BE49-F238E27FC236}">
                <a16:creationId xmlns:a16="http://schemas.microsoft.com/office/drawing/2014/main" id="{AFF97BB8-6FE7-4FBD-B776-C87782736AB0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7405400" y="5144579"/>
            <a:ext cx="1394355" cy="1394355"/>
          </a:xfrm>
          <a:prstGeom prst="rect">
            <a:avLst/>
          </a:prstGeom>
        </p:spPr>
      </p:pic>
      <p:sp>
        <p:nvSpPr>
          <p:cNvPr id="8" name="TextBox 7">
            <a:extLst>
              <a:ext uri="{FF2B5EF4-FFF2-40B4-BE49-F238E27FC236}">
                <a16:creationId xmlns:a16="http://schemas.microsoft.com/office/drawing/2014/main" id="{EFFDE2BE-B1C4-4574-ADCA-875014948100}"/>
              </a:ext>
            </a:extLst>
          </p:cNvPr>
          <p:cNvSpPr txBox="1"/>
          <p:nvPr/>
        </p:nvSpPr>
        <p:spPr>
          <a:xfrm>
            <a:off x="6200932" y="3220905"/>
            <a:ext cx="1274690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it-IT" sz="2400" dirty="0"/>
              <a:t>3878 pts</a:t>
            </a:r>
            <a:endParaRPr lang="en-US" sz="2400" dirty="0"/>
          </a:p>
        </p:txBody>
      </p:sp>
      <p:pic>
        <p:nvPicPr>
          <p:cNvPr id="9" name="Graphic 8" descr="Filter">
            <a:extLst>
              <a:ext uri="{FF2B5EF4-FFF2-40B4-BE49-F238E27FC236}">
                <a16:creationId xmlns:a16="http://schemas.microsoft.com/office/drawing/2014/main" id="{CD1340A2-8DFC-435E-AA11-7885EC868770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5600965" y="1882893"/>
            <a:ext cx="1071596" cy="1071596"/>
          </a:xfrm>
          <a:prstGeom prst="rect">
            <a:avLst/>
          </a:prstGeom>
        </p:spPr>
      </p:pic>
      <p:pic>
        <p:nvPicPr>
          <p:cNvPr id="10" name="Graphic 9" descr="Filter">
            <a:extLst>
              <a:ext uri="{FF2B5EF4-FFF2-40B4-BE49-F238E27FC236}">
                <a16:creationId xmlns:a16="http://schemas.microsoft.com/office/drawing/2014/main" id="{76F3D8BB-DFA0-46E2-B653-293B5D739FE9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8480523" y="4422021"/>
            <a:ext cx="1071596" cy="1071596"/>
          </a:xfrm>
          <a:prstGeom prst="rect">
            <a:avLst/>
          </a:prstGeom>
        </p:spPr>
      </p:pic>
      <p:cxnSp>
        <p:nvCxnSpPr>
          <p:cNvPr id="12" name="Connector: Elbow 11">
            <a:extLst>
              <a:ext uri="{FF2B5EF4-FFF2-40B4-BE49-F238E27FC236}">
                <a16:creationId xmlns:a16="http://schemas.microsoft.com/office/drawing/2014/main" id="{3D5E1246-60C5-4610-B8DF-C43828FC49BA}"/>
              </a:ext>
            </a:extLst>
          </p:cNvPr>
          <p:cNvCxnSpPr>
            <a:cxnSpLocks/>
            <a:stCxn id="6" idx="3"/>
            <a:endCxn id="9" idx="0"/>
          </p:cNvCxnSpPr>
          <p:nvPr/>
        </p:nvCxnSpPr>
        <p:spPr>
          <a:xfrm>
            <a:off x="4203033" y="1340066"/>
            <a:ext cx="1933730" cy="542827"/>
          </a:xfrm>
          <a:prstGeom prst="bentConnector2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5" name="Connector: Elbow 14">
            <a:extLst>
              <a:ext uri="{FF2B5EF4-FFF2-40B4-BE49-F238E27FC236}">
                <a16:creationId xmlns:a16="http://schemas.microsoft.com/office/drawing/2014/main" id="{BFF78C70-6E1E-47AF-BDA2-9274F33D7C22}"/>
              </a:ext>
            </a:extLst>
          </p:cNvPr>
          <p:cNvCxnSpPr>
            <a:cxnSpLocks/>
            <a:stCxn id="8" idx="3"/>
            <a:endCxn id="10" idx="0"/>
          </p:cNvCxnSpPr>
          <p:nvPr/>
        </p:nvCxnSpPr>
        <p:spPr>
          <a:xfrm>
            <a:off x="7475622" y="3451738"/>
            <a:ext cx="1540699" cy="970283"/>
          </a:xfrm>
          <a:prstGeom prst="bentConnector2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17" name="Oval 16">
            <a:extLst>
              <a:ext uri="{FF2B5EF4-FFF2-40B4-BE49-F238E27FC236}">
                <a16:creationId xmlns:a16="http://schemas.microsoft.com/office/drawing/2014/main" id="{8882FB95-C5B8-4A7C-9060-1FECD62FC466}"/>
              </a:ext>
            </a:extLst>
          </p:cNvPr>
          <p:cNvSpPr/>
          <p:nvPr/>
        </p:nvSpPr>
        <p:spPr>
          <a:xfrm>
            <a:off x="5998557" y="2042315"/>
            <a:ext cx="276411" cy="276411"/>
          </a:xfrm>
          <a:prstGeom prst="ellipse">
            <a:avLst/>
          </a:prstGeom>
        </p:spPr>
        <p:style>
          <a:lnRef idx="2">
            <a:schemeClr val="accent6">
              <a:shade val="50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it-IT" dirty="0"/>
              <a:t>1</a:t>
            </a:r>
            <a:endParaRPr lang="en-US" dirty="0"/>
          </a:p>
        </p:txBody>
      </p:sp>
      <p:sp>
        <p:nvSpPr>
          <p:cNvPr id="18" name="Oval 17">
            <a:extLst>
              <a:ext uri="{FF2B5EF4-FFF2-40B4-BE49-F238E27FC236}">
                <a16:creationId xmlns:a16="http://schemas.microsoft.com/office/drawing/2014/main" id="{A4FBC9D2-E203-4B5E-8A87-78CEEFD8BF62}"/>
              </a:ext>
            </a:extLst>
          </p:cNvPr>
          <p:cNvSpPr/>
          <p:nvPr/>
        </p:nvSpPr>
        <p:spPr>
          <a:xfrm>
            <a:off x="8878115" y="4607439"/>
            <a:ext cx="276411" cy="276411"/>
          </a:xfrm>
          <a:prstGeom prst="ellipse">
            <a:avLst/>
          </a:prstGeom>
        </p:spPr>
        <p:style>
          <a:lnRef idx="2">
            <a:schemeClr val="accent6">
              <a:shade val="50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it-IT" dirty="0"/>
              <a:t>2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271207440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spd="slow">
        <p159:morph option="byObject"/>
      </p:transition>
    </mc:Choice>
    <mc:Fallback xmlns="">
      <p:transition spd="slow">
        <p:fade/>
      </p:transition>
    </mc:Fallback>
  </mc:AlternateContent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CC0200F0-ABFF-45F8-A6F5-9F8372AE5C7D}"/>
              </a:ext>
            </a:extLst>
          </p:cNvPr>
          <p:cNvSpPr txBox="1"/>
          <p:nvPr/>
        </p:nvSpPr>
        <p:spPr>
          <a:xfrm>
            <a:off x="0" y="0"/>
            <a:ext cx="5566173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it-IT" u="sng" dirty="0"/>
              <a:t>Blood Pressure Measurements – Range Adjustment</a:t>
            </a:r>
            <a:endParaRPr lang="nl-NL" u="sng" dirty="0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9C0CBEDB-1F65-483D-AD68-5B4D7ECBFD27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355560" y="1132695"/>
            <a:ext cx="8783049" cy="4752076"/>
          </a:xfrm>
          <a:prstGeom prst="rect">
            <a:avLst/>
          </a:prstGeom>
        </p:spPr>
      </p:pic>
      <p:cxnSp>
        <p:nvCxnSpPr>
          <p:cNvPr id="47" name="Straight Connector 46">
            <a:extLst>
              <a:ext uri="{FF2B5EF4-FFF2-40B4-BE49-F238E27FC236}">
                <a16:creationId xmlns:a16="http://schemas.microsoft.com/office/drawing/2014/main" id="{BB77F60D-AA92-4E88-9238-C37C7FCED343}"/>
              </a:ext>
            </a:extLst>
          </p:cNvPr>
          <p:cNvCxnSpPr>
            <a:cxnSpLocks/>
          </p:cNvCxnSpPr>
          <p:nvPr/>
        </p:nvCxnSpPr>
        <p:spPr>
          <a:xfrm>
            <a:off x="1696014" y="4956572"/>
            <a:ext cx="2458891" cy="0"/>
          </a:xfrm>
          <a:prstGeom prst="line">
            <a:avLst/>
          </a:prstGeom>
        </p:spPr>
        <p:style>
          <a:lnRef idx="3">
            <a:schemeClr val="accent2"/>
          </a:lnRef>
          <a:fillRef idx="0">
            <a:schemeClr val="accent2"/>
          </a:fillRef>
          <a:effectRef idx="2">
            <a:schemeClr val="accent2"/>
          </a:effectRef>
          <a:fontRef idx="minor">
            <a:schemeClr val="tx1"/>
          </a:fontRef>
        </p:style>
      </p:cxnSp>
      <p:sp>
        <p:nvSpPr>
          <p:cNvPr id="48" name="TextBox 47">
            <a:extLst>
              <a:ext uri="{FF2B5EF4-FFF2-40B4-BE49-F238E27FC236}">
                <a16:creationId xmlns:a16="http://schemas.microsoft.com/office/drawing/2014/main" id="{210063D6-AB12-4D1A-8DD9-1B596D004A2F}"/>
              </a:ext>
            </a:extLst>
          </p:cNvPr>
          <p:cNvSpPr txBox="1"/>
          <p:nvPr/>
        </p:nvSpPr>
        <p:spPr>
          <a:xfrm>
            <a:off x="3699536" y="4674496"/>
            <a:ext cx="65072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it-IT" dirty="0">
                <a:solidFill>
                  <a:schemeClr val="accent2"/>
                </a:solidFill>
              </a:rPr>
              <a:t>50</a:t>
            </a:r>
            <a:endParaRPr lang="nl-NL" dirty="0">
              <a:solidFill>
                <a:schemeClr val="accent2"/>
              </a:solidFill>
            </a:endParaRPr>
          </a:p>
        </p:txBody>
      </p:sp>
      <p:cxnSp>
        <p:nvCxnSpPr>
          <p:cNvPr id="49" name="Straight Connector 48">
            <a:extLst>
              <a:ext uri="{FF2B5EF4-FFF2-40B4-BE49-F238E27FC236}">
                <a16:creationId xmlns:a16="http://schemas.microsoft.com/office/drawing/2014/main" id="{0BD6F6C2-AA8F-4637-B394-6AEB8944AE70}"/>
              </a:ext>
            </a:extLst>
          </p:cNvPr>
          <p:cNvCxnSpPr>
            <a:cxnSpLocks/>
          </p:cNvCxnSpPr>
          <p:nvPr/>
        </p:nvCxnSpPr>
        <p:spPr>
          <a:xfrm>
            <a:off x="1696014" y="3966047"/>
            <a:ext cx="2458891" cy="0"/>
          </a:xfrm>
          <a:prstGeom prst="line">
            <a:avLst/>
          </a:prstGeom>
        </p:spPr>
        <p:style>
          <a:lnRef idx="3">
            <a:schemeClr val="accent2"/>
          </a:lnRef>
          <a:fillRef idx="0">
            <a:schemeClr val="accent2"/>
          </a:fillRef>
          <a:effectRef idx="2">
            <a:schemeClr val="accent2"/>
          </a:effectRef>
          <a:fontRef idx="minor">
            <a:schemeClr val="tx1"/>
          </a:fontRef>
        </p:style>
      </p:cxnSp>
      <p:sp>
        <p:nvSpPr>
          <p:cNvPr id="50" name="TextBox 49">
            <a:extLst>
              <a:ext uri="{FF2B5EF4-FFF2-40B4-BE49-F238E27FC236}">
                <a16:creationId xmlns:a16="http://schemas.microsoft.com/office/drawing/2014/main" id="{DC3D5BFC-C2C7-4C0B-8CCD-B5F0EF51BD42}"/>
              </a:ext>
            </a:extLst>
          </p:cNvPr>
          <p:cNvSpPr txBox="1"/>
          <p:nvPr/>
        </p:nvSpPr>
        <p:spPr>
          <a:xfrm>
            <a:off x="3535063" y="3907312"/>
            <a:ext cx="836459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it-IT" dirty="0">
                <a:solidFill>
                  <a:schemeClr val="accent2"/>
                </a:solidFill>
              </a:rPr>
              <a:t>250</a:t>
            </a:r>
            <a:endParaRPr lang="nl-NL" dirty="0">
              <a:solidFill>
                <a:schemeClr val="accent2"/>
              </a:solidFill>
            </a:endParaRPr>
          </a:p>
        </p:txBody>
      </p:sp>
      <p:cxnSp>
        <p:nvCxnSpPr>
          <p:cNvPr id="51" name="Straight Connector 50">
            <a:extLst>
              <a:ext uri="{FF2B5EF4-FFF2-40B4-BE49-F238E27FC236}">
                <a16:creationId xmlns:a16="http://schemas.microsoft.com/office/drawing/2014/main" id="{44BEA9E8-8FA9-4EBF-ADB1-F15EF59D545A}"/>
              </a:ext>
            </a:extLst>
          </p:cNvPr>
          <p:cNvCxnSpPr>
            <a:cxnSpLocks/>
          </p:cNvCxnSpPr>
          <p:nvPr/>
        </p:nvCxnSpPr>
        <p:spPr>
          <a:xfrm>
            <a:off x="4648392" y="5430433"/>
            <a:ext cx="2450240" cy="0"/>
          </a:xfrm>
          <a:prstGeom prst="line">
            <a:avLst/>
          </a:prstGeom>
        </p:spPr>
        <p:style>
          <a:lnRef idx="3">
            <a:schemeClr val="accent2"/>
          </a:lnRef>
          <a:fillRef idx="0">
            <a:schemeClr val="accent2"/>
          </a:fillRef>
          <a:effectRef idx="2">
            <a:schemeClr val="accent2"/>
          </a:effectRef>
          <a:fontRef idx="minor">
            <a:schemeClr val="tx1"/>
          </a:fontRef>
        </p:style>
      </p:cxnSp>
      <p:cxnSp>
        <p:nvCxnSpPr>
          <p:cNvPr id="53" name="Straight Connector 52">
            <a:extLst>
              <a:ext uri="{FF2B5EF4-FFF2-40B4-BE49-F238E27FC236}">
                <a16:creationId xmlns:a16="http://schemas.microsoft.com/office/drawing/2014/main" id="{7EEC18CD-74D0-4FAF-8860-CE57F8D1CFA6}"/>
              </a:ext>
            </a:extLst>
          </p:cNvPr>
          <p:cNvCxnSpPr>
            <a:cxnSpLocks/>
          </p:cNvCxnSpPr>
          <p:nvPr/>
        </p:nvCxnSpPr>
        <p:spPr>
          <a:xfrm>
            <a:off x="4648392" y="5385157"/>
            <a:ext cx="2450240" cy="0"/>
          </a:xfrm>
          <a:prstGeom prst="line">
            <a:avLst/>
          </a:prstGeom>
        </p:spPr>
        <p:style>
          <a:lnRef idx="3">
            <a:schemeClr val="accent2"/>
          </a:lnRef>
          <a:fillRef idx="0">
            <a:schemeClr val="accent2"/>
          </a:fillRef>
          <a:effectRef idx="2">
            <a:schemeClr val="accent2"/>
          </a:effectRef>
          <a:fontRef idx="minor">
            <a:schemeClr val="tx1"/>
          </a:fontRef>
        </p:style>
      </p:cxnSp>
      <p:sp>
        <p:nvSpPr>
          <p:cNvPr id="23" name="Oval 22">
            <a:extLst>
              <a:ext uri="{FF2B5EF4-FFF2-40B4-BE49-F238E27FC236}">
                <a16:creationId xmlns:a16="http://schemas.microsoft.com/office/drawing/2014/main" id="{E87794CF-5ABA-4E13-BBCD-D7036DA047EB}"/>
              </a:ext>
            </a:extLst>
          </p:cNvPr>
          <p:cNvSpPr/>
          <p:nvPr/>
        </p:nvSpPr>
        <p:spPr>
          <a:xfrm>
            <a:off x="4963841" y="47048"/>
            <a:ext cx="276411" cy="276411"/>
          </a:xfrm>
          <a:prstGeom prst="ellipse">
            <a:avLst/>
          </a:prstGeom>
        </p:spPr>
        <p:style>
          <a:lnRef idx="2">
            <a:schemeClr val="accent6">
              <a:shade val="50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it-IT" dirty="0"/>
              <a:t>1</a:t>
            </a:r>
            <a:endParaRPr lang="en-US" dirty="0"/>
          </a:p>
        </p:txBody>
      </p:sp>
      <p:cxnSp>
        <p:nvCxnSpPr>
          <p:cNvPr id="34" name="Straight Connector 33">
            <a:extLst>
              <a:ext uri="{FF2B5EF4-FFF2-40B4-BE49-F238E27FC236}">
                <a16:creationId xmlns:a16="http://schemas.microsoft.com/office/drawing/2014/main" id="{7E10BD71-331C-4D97-A49B-AB0838C6A1FF}"/>
              </a:ext>
            </a:extLst>
          </p:cNvPr>
          <p:cNvCxnSpPr>
            <a:cxnSpLocks/>
          </p:cNvCxnSpPr>
          <p:nvPr/>
        </p:nvCxnSpPr>
        <p:spPr>
          <a:xfrm>
            <a:off x="7611980" y="5495562"/>
            <a:ext cx="2518609" cy="0"/>
          </a:xfrm>
          <a:prstGeom prst="line">
            <a:avLst/>
          </a:prstGeom>
        </p:spPr>
        <p:style>
          <a:lnRef idx="3">
            <a:schemeClr val="accent2"/>
          </a:lnRef>
          <a:fillRef idx="0">
            <a:schemeClr val="accent2"/>
          </a:fillRef>
          <a:effectRef idx="2">
            <a:schemeClr val="accent2"/>
          </a:effectRef>
          <a:fontRef idx="minor">
            <a:schemeClr val="tx1"/>
          </a:fontRef>
        </p:style>
      </p:cxnSp>
      <p:sp>
        <p:nvSpPr>
          <p:cNvPr id="35" name="TextBox 34">
            <a:extLst>
              <a:ext uri="{FF2B5EF4-FFF2-40B4-BE49-F238E27FC236}">
                <a16:creationId xmlns:a16="http://schemas.microsoft.com/office/drawing/2014/main" id="{BEFD171C-002F-46BD-BDBD-1F529FACAA90}"/>
              </a:ext>
            </a:extLst>
          </p:cNvPr>
          <p:cNvSpPr txBox="1"/>
          <p:nvPr/>
        </p:nvSpPr>
        <p:spPr>
          <a:xfrm>
            <a:off x="10039393" y="5364488"/>
            <a:ext cx="53245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it-IT" dirty="0">
                <a:solidFill>
                  <a:schemeClr val="accent2"/>
                </a:solidFill>
              </a:rPr>
              <a:t>50</a:t>
            </a:r>
            <a:endParaRPr lang="nl-NL" dirty="0">
              <a:solidFill>
                <a:schemeClr val="accent2"/>
              </a:solidFill>
            </a:endParaRPr>
          </a:p>
        </p:txBody>
      </p:sp>
      <p:cxnSp>
        <p:nvCxnSpPr>
          <p:cNvPr id="36" name="Straight Connector 35">
            <a:extLst>
              <a:ext uri="{FF2B5EF4-FFF2-40B4-BE49-F238E27FC236}">
                <a16:creationId xmlns:a16="http://schemas.microsoft.com/office/drawing/2014/main" id="{036E6A2C-F1F7-4D61-B2B8-70288F481747}"/>
              </a:ext>
            </a:extLst>
          </p:cNvPr>
          <p:cNvCxnSpPr>
            <a:cxnSpLocks/>
          </p:cNvCxnSpPr>
          <p:nvPr/>
        </p:nvCxnSpPr>
        <p:spPr>
          <a:xfrm>
            <a:off x="7620000" y="5385157"/>
            <a:ext cx="2510589" cy="0"/>
          </a:xfrm>
          <a:prstGeom prst="line">
            <a:avLst/>
          </a:prstGeom>
        </p:spPr>
        <p:style>
          <a:lnRef idx="3">
            <a:schemeClr val="accent2"/>
          </a:lnRef>
          <a:fillRef idx="0">
            <a:schemeClr val="accent2"/>
          </a:fillRef>
          <a:effectRef idx="2">
            <a:schemeClr val="accent2"/>
          </a:effectRef>
          <a:fontRef idx="minor">
            <a:schemeClr val="tx1"/>
          </a:fontRef>
        </p:style>
      </p:cxnSp>
      <p:sp>
        <p:nvSpPr>
          <p:cNvPr id="37" name="TextBox 36">
            <a:extLst>
              <a:ext uri="{FF2B5EF4-FFF2-40B4-BE49-F238E27FC236}">
                <a16:creationId xmlns:a16="http://schemas.microsoft.com/office/drawing/2014/main" id="{B5A25B90-05D6-44F3-B057-C36955290462}"/>
              </a:ext>
            </a:extLst>
          </p:cNvPr>
          <p:cNvSpPr txBox="1"/>
          <p:nvPr/>
        </p:nvSpPr>
        <p:spPr>
          <a:xfrm>
            <a:off x="9936997" y="5094601"/>
            <a:ext cx="836459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it-IT" dirty="0">
                <a:solidFill>
                  <a:schemeClr val="accent2"/>
                </a:solidFill>
              </a:rPr>
              <a:t>250</a:t>
            </a:r>
            <a:endParaRPr lang="nl-NL" dirty="0">
              <a:solidFill>
                <a:schemeClr val="accent2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308014033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spd="slow">
        <p159:morph option="byObject"/>
      </p:transition>
    </mc:Choice>
    <mc:Fallback xmlns="">
      <p:transition spd="slow">
        <p:fade/>
      </p:transition>
    </mc:Fallback>
  </mc:AlternateContent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669BC41E-7A1B-450B-AE56-57E23EBB368B}"/>
              </a:ext>
            </a:extLst>
          </p:cNvPr>
          <p:cNvSpPr txBox="1"/>
          <p:nvPr/>
        </p:nvSpPr>
        <p:spPr>
          <a:xfrm>
            <a:off x="0" y="0"/>
            <a:ext cx="5358063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it-IT" u="sng" dirty="0"/>
              <a:t>Blood Pressure Measurements – Measure Reliability</a:t>
            </a:r>
            <a:endParaRPr lang="nl-NL" u="sng" dirty="0"/>
          </a:p>
        </p:txBody>
      </p:sp>
      <p:sp>
        <p:nvSpPr>
          <p:cNvPr id="20" name="Oval 19">
            <a:extLst>
              <a:ext uri="{FF2B5EF4-FFF2-40B4-BE49-F238E27FC236}">
                <a16:creationId xmlns:a16="http://schemas.microsoft.com/office/drawing/2014/main" id="{0DD9478D-3955-4C7A-BC02-6A3CED041958}"/>
              </a:ext>
            </a:extLst>
          </p:cNvPr>
          <p:cNvSpPr/>
          <p:nvPr/>
        </p:nvSpPr>
        <p:spPr>
          <a:xfrm>
            <a:off x="5032880" y="46460"/>
            <a:ext cx="276411" cy="276411"/>
          </a:xfrm>
          <a:prstGeom prst="ellipse">
            <a:avLst/>
          </a:prstGeom>
        </p:spPr>
        <p:style>
          <a:lnRef idx="2">
            <a:schemeClr val="accent6">
              <a:shade val="50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it-IT" dirty="0"/>
              <a:t>2</a:t>
            </a:r>
            <a:endParaRPr lang="en-US" dirty="0"/>
          </a:p>
        </p:txBody>
      </p:sp>
      <p:pic>
        <p:nvPicPr>
          <p:cNvPr id="22" name="Picture 21">
            <a:extLst>
              <a:ext uri="{FF2B5EF4-FFF2-40B4-BE49-F238E27FC236}">
                <a16:creationId xmlns:a16="http://schemas.microsoft.com/office/drawing/2014/main" id="{9884ACF2-1861-49C2-B028-4F7BEC9E3726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717810" y="1379620"/>
            <a:ext cx="5922189" cy="4298531"/>
          </a:xfrm>
          <a:prstGeom prst="rect">
            <a:avLst/>
          </a:prstGeom>
        </p:spPr>
      </p:pic>
      <mc:AlternateContent xmlns:mc="http://schemas.openxmlformats.org/markup-compatibility/2006" xmlns:a14="http://schemas.microsoft.com/office/drawing/2010/main">
        <mc:Choice Requires="a14">
          <p:sp>
            <p:nvSpPr>
              <p:cNvPr id="24" name="Rectangle 23">
                <a:extLst>
                  <a:ext uri="{FF2B5EF4-FFF2-40B4-BE49-F238E27FC236}">
                    <a16:creationId xmlns:a16="http://schemas.microsoft.com/office/drawing/2014/main" id="{C4ABEA7F-29D1-43EE-AC0F-B99628F50A6D}"/>
                  </a:ext>
                </a:extLst>
              </p:cNvPr>
              <p:cNvSpPr/>
              <p:nvPr/>
            </p:nvSpPr>
            <p:spPr>
              <a:xfrm>
                <a:off x="5387782" y="822416"/>
                <a:ext cx="1125052" cy="557204"/>
              </a:xfrm>
              <a:prstGeom prst="rect">
                <a:avLst/>
              </a:prstGeom>
            </p:spPr>
            <p:txBody>
              <a:bodyPr wrap="non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2800" i="1">
                              <a:solidFill>
                                <a:schemeClr val="accent5">
                                  <a:lumMod val="50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800" i="1">
                              <a:solidFill>
                                <a:schemeClr val="accent5">
                                  <a:lumMod val="50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∆</m:t>
                          </m:r>
                        </m:e>
                        <m:sub>
                          <m:r>
                            <a:rPr lang="en-US" sz="2800" i="1">
                              <a:solidFill>
                                <a:schemeClr val="accent5">
                                  <a:lumMod val="50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𝑑</m:t>
                          </m:r>
                          <m:r>
                            <a:rPr lang="it-IT" sz="2800" i="1">
                              <a:solidFill>
                                <a:schemeClr val="accent5">
                                  <a:lumMod val="50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𝑎</m:t>
                          </m:r>
                          <m:r>
                            <a:rPr lang="en-US" sz="2800" i="1">
                              <a:solidFill>
                                <a:schemeClr val="accent5">
                                  <a:lumMod val="50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𝑦</m:t>
                          </m:r>
                          <m:r>
                            <a:rPr lang="it-IT" sz="2800" i="1">
                              <a:solidFill>
                                <a:schemeClr val="accent5">
                                  <a:lumMod val="50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𝑠</m:t>
                          </m:r>
                        </m:sub>
                      </m:sSub>
                    </m:oMath>
                  </m:oMathPara>
                </a14:m>
                <a:endParaRPr lang="en-US" sz="2800" dirty="0"/>
              </a:p>
            </p:txBody>
          </p:sp>
        </mc:Choice>
        <mc:Fallback xmlns="">
          <p:sp>
            <p:nvSpPr>
              <p:cNvPr id="24" name="Rectangle 23">
                <a:extLst>
                  <a:ext uri="{FF2B5EF4-FFF2-40B4-BE49-F238E27FC236}">
                    <a16:creationId xmlns:a16="http://schemas.microsoft.com/office/drawing/2014/main" id="{C4ABEA7F-29D1-43EE-AC0F-B99628F50A6D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387782" y="822416"/>
                <a:ext cx="1125052" cy="557204"/>
              </a:xfrm>
              <a:prstGeom prst="rect">
                <a:avLst/>
              </a:prstGeom>
              <a:blipFill>
                <a:blip r:embed="rId3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5" name="TextBox 24">
                <a:extLst>
                  <a:ext uri="{FF2B5EF4-FFF2-40B4-BE49-F238E27FC236}">
                    <a16:creationId xmlns:a16="http://schemas.microsoft.com/office/drawing/2014/main" id="{399C914C-423A-45B5-B744-4047998FB919}"/>
                  </a:ext>
                </a:extLst>
              </p:cNvPr>
              <p:cNvSpPr txBox="1"/>
              <p:nvPr/>
            </p:nvSpPr>
            <p:spPr>
              <a:xfrm>
                <a:off x="8282458" y="6417113"/>
                <a:ext cx="3829190" cy="298928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i="1" smtClean="0">
                              <a:solidFill>
                                <a:schemeClr val="accent5">
                                  <a:lumMod val="50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i="1">
                              <a:solidFill>
                                <a:schemeClr val="accent5">
                                  <a:lumMod val="50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∆</m:t>
                          </m:r>
                        </m:e>
                        <m:sub>
                          <m:r>
                            <a:rPr lang="en-US" i="1">
                              <a:solidFill>
                                <a:schemeClr val="accent5">
                                  <a:lumMod val="50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𝑑</m:t>
                          </m:r>
                          <m:r>
                            <a:rPr lang="it-IT" i="1">
                              <a:solidFill>
                                <a:schemeClr val="accent5">
                                  <a:lumMod val="50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𝑎</m:t>
                          </m:r>
                          <m:r>
                            <a:rPr lang="en-US" i="1">
                              <a:solidFill>
                                <a:schemeClr val="accent5">
                                  <a:lumMod val="50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𝑦</m:t>
                          </m:r>
                          <m:r>
                            <a:rPr lang="it-IT" i="1">
                              <a:solidFill>
                                <a:schemeClr val="accent5">
                                  <a:lumMod val="50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𝑠</m:t>
                          </m:r>
                        </m:sub>
                      </m:sSub>
                      <m:r>
                        <a:rPr lang="it-IT" b="0" i="1" smtClean="0">
                          <a:solidFill>
                            <a:schemeClr val="accent5">
                              <a:lumMod val="50000"/>
                            </a:schemeClr>
                          </a:solidFill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it-IT" b="0" i="1" smtClean="0">
                          <a:solidFill>
                            <a:schemeClr val="accent5">
                              <a:lumMod val="50000"/>
                            </a:schemeClr>
                          </a:solidFill>
                          <a:latin typeface="Cambria Math" panose="02040503050406030204" pitchFamily="18" charset="0"/>
                        </a:rPr>
                        <m:t>𝐶𝑜𝑛𝑠𝑢𝑙𝑡</m:t>
                      </m:r>
                      <m:r>
                        <a:rPr lang="it-IT" b="0" i="1" smtClean="0">
                          <a:solidFill>
                            <a:schemeClr val="accent5">
                              <a:lumMod val="50000"/>
                            </a:schemeClr>
                          </a:solidFill>
                          <a:latin typeface="Cambria Math" panose="02040503050406030204" pitchFamily="18" charset="0"/>
                        </a:rPr>
                        <m:t> </m:t>
                      </m:r>
                      <m:r>
                        <a:rPr lang="it-IT" b="0" i="1" smtClean="0">
                          <a:solidFill>
                            <a:schemeClr val="accent5">
                              <a:lumMod val="50000"/>
                            </a:schemeClr>
                          </a:solidFill>
                          <a:latin typeface="Cambria Math" panose="02040503050406030204" pitchFamily="18" charset="0"/>
                        </a:rPr>
                        <m:t>𝐷𝑎𝑦</m:t>
                      </m:r>
                      <m:r>
                        <a:rPr lang="it-IT" b="0" i="1" smtClean="0">
                          <a:solidFill>
                            <a:schemeClr val="accent5">
                              <a:lumMod val="50000"/>
                            </a:schemeClr>
                          </a:solidFill>
                          <a:latin typeface="Cambria Math" panose="02040503050406030204" pitchFamily="18" charset="0"/>
                        </a:rPr>
                        <m:t> −</m:t>
                      </m:r>
                      <m:r>
                        <a:rPr lang="it-IT" b="0" i="1" smtClean="0">
                          <a:solidFill>
                            <a:schemeClr val="accent5">
                              <a:lumMod val="50000"/>
                            </a:schemeClr>
                          </a:solidFill>
                          <a:latin typeface="Cambria Math" panose="02040503050406030204" pitchFamily="18" charset="0"/>
                        </a:rPr>
                        <m:t>𝑀𝑒𝑎𝑠𝑢𝑟𝑒</m:t>
                      </m:r>
                      <m:r>
                        <a:rPr lang="it-IT" b="0" i="1" smtClean="0">
                          <a:solidFill>
                            <a:schemeClr val="accent5">
                              <a:lumMod val="50000"/>
                            </a:schemeClr>
                          </a:solidFill>
                          <a:latin typeface="Cambria Math" panose="02040503050406030204" pitchFamily="18" charset="0"/>
                        </a:rPr>
                        <m:t> </m:t>
                      </m:r>
                      <m:r>
                        <a:rPr lang="it-IT" b="0" i="1" smtClean="0">
                          <a:solidFill>
                            <a:schemeClr val="accent5">
                              <a:lumMod val="50000"/>
                            </a:schemeClr>
                          </a:solidFill>
                          <a:latin typeface="Cambria Math" panose="02040503050406030204" pitchFamily="18" charset="0"/>
                        </a:rPr>
                        <m:t>𝐷𝑎𝑦</m:t>
                      </m:r>
                    </m:oMath>
                  </m:oMathPara>
                </a14:m>
                <a:endParaRPr lang="en-US" dirty="0"/>
              </a:p>
            </p:txBody>
          </p:sp>
        </mc:Choice>
        <mc:Fallback xmlns="">
          <p:sp>
            <p:nvSpPr>
              <p:cNvPr id="25" name="TextBox 24">
                <a:extLst>
                  <a:ext uri="{FF2B5EF4-FFF2-40B4-BE49-F238E27FC236}">
                    <a16:creationId xmlns:a16="http://schemas.microsoft.com/office/drawing/2014/main" id="{399C914C-423A-45B5-B744-4047998FB919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282458" y="6417113"/>
                <a:ext cx="3829190" cy="298928"/>
              </a:xfrm>
              <a:prstGeom prst="rect">
                <a:avLst/>
              </a:prstGeom>
              <a:blipFill>
                <a:blip r:embed="rId4"/>
                <a:stretch>
                  <a:fillRect l="-1115" r="-1433" b="-24490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27" name="Straight Connector 26">
            <a:extLst>
              <a:ext uri="{FF2B5EF4-FFF2-40B4-BE49-F238E27FC236}">
                <a16:creationId xmlns:a16="http://schemas.microsoft.com/office/drawing/2014/main" id="{37C04FE1-E5B0-4953-9277-7EFD99F86083}"/>
              </a:ext>
            </a:extLst>
          </p:cNvPr>
          <p:cNvCxnSpPr>
            <a:cxnSpLocks/>
          </p:cNvCxnSpPr>
          <p:nvPr/>
        </p:nvCxnSpPr>
        <p:spPr>
          <a:xfrm>
            <a:off x="5085347" y="1479507"/>
            <a:ext cx="0" cy="3850105"/>
          </a:xfrm>
          <a:prstGeom prst="line">
            <a:avLst/>
          </a:prstGeom>
          <a:ln w="38100"/>
        </p:spPr>
        <p:style>
          <a:lnRef idx="3">
            <a:schemeClr val="accent6"/>
          </a:lnRef>
          <a:fillRef idx="0">
            <a:schemeClr val="accent6"/>
          </a:fillRef>
          <a:effectRef idx="2">
            <a:schemeClr val="accent6"/>
          </a:effectRef>
          <a:fontRef idx="minor">
            <a:schemeClr val="tx1"/>
          </a:fontRef>
        </p:style>
      </p:cxnSp>
      <p:cxnSp>
        <p:nvCxnSpPr>
          <p:cNvPr id="29" name="Straight Connector 28">
            <a:extLst>
              <a:ext uri="{FF2B5EF4-FFF2-40B4-BE49-F238E27FC236}">
                <a16:creationId xmlns:a16="http://schemas.microsoft.com/office/drawing/2014/main" id="{9CDF3AED-5F1F-4B75-B404-396D3FC6CA6A}"/>
              </a:ext>
            </a:extLst>
          </p:cNvPr>
          <p:cNvCxnSpPr>
            <a:cxnSpLocks/>
          </p:cNvCxnSpPr>
          <p:nvPr/>
        </p:nvCxnSpPr>
        <p:spPr>
          <a:xfrm>
            <a:off x="5301915" y="1479507"/>
            <a:ext cx="0" cy="3850105"/>
          </a:xfrm>
          <a:prstGeom prst="line">
            <a:avLst/>
          </a:prstGeom>
          <a:ln w="38100"/>
        </p:spPr>
        <p:style>
          <a:lnRef idx="3">
            <a:schemeClr val="accent6"/>
          </a:lnRef>
          <a:fillRef idx="0">
            <a:schemeClr val="accent6"/>
          </a:fillRef>
          <a:effectRef idx="2">
            <a:schemeClr val="accent6"/>
          </a:effectRef>
          <a:fontRef idx="minor">
            <a:schemeClr val="tx1"/>
          </a:fontRef>
        </p:style>
      </p:cxnSp>
      <p:sp>
        <p:nvSpPr>
          <p:cNvPr id="30" name="Rectangle 29">
            <a:extLst>
              <a:ext uri="{FF2B5EF4-FFF2-40B4-BE49-F238E27FC236}">
                <a16:creationId xmlns:a16="http://schemas.microsoft.com/office/drawing/2014/main" id="{8F4CB710-53F0-4CD8-B5F9-ADDD834DAB0E}"/>
              </a:ext>
            </a:extLst>
          </p:cNvPr>
          <p:cNvSpPr/>
          <p:nvPr/>
        </p:nvSpPr>
        <p:spPr>
          <a:xfrm>
            <a:off x="5085347" y="1479507"/>
            <a:ext cx="216541" cy="3850105"/>
          </a:xfrm>
          <a:prstGeom prst="rect">
            <a:avLst/>
          </a:prstGeom>
          <a:solidFill>
            <a:schemeClr val="accent6">
              <a:alpha val="50000"/>
            </a:schemeClr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1" name="Rectangle 30">
            <a:extLst>
              <a:ext uri="{FF2B5EF4-FFF2-40B4-BE49-F238E27FC236}">
                <a16:creationId xmlns:a16="http://schemas.microsoft.com/office/drawing/2014/main" id="{8E0C5457-17E5-45D5-BEC0-7EAB852DBC68}"/>
              </a:ext>
            </a:extLst>
          </p:cNvPr>
          <p:cNvSpPr/>
          <p:nvPr/>
        </p:nvSpPr>
        <p:spPr>
          <a:xfrm>
            <a:off x="3384884" y="1479507"/>
            <a:ext cx="1700397" cy="3850105"/>
          </a:xfrm>
          <a:prstGeom prst="rect">
            <a:avLst/>
          </a:prstGeom>
          <a:solidFill>
            <a:schemeClr val="accent2">
              <a:alpha val="50000"/>
            </a:schemeClr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2" name="Rectangle 31">
            <a:extLst>
              <a:ext uri="{FF2B5EF4-FFF2-40B4-BE49-F238E27FC236}">
                <a16:creationId xmlns:a16="http://schemas.microsoft.com/office/drawing/2014/main" id="{2524B5AE-5AAF-4DD1-8BE7-954D9D648376}"/>
              </a:ext>
            </a:extLst>
          </p:cNvPr>
          <p:cNvSpPr/>
          <p:nvPr/>
        </p:nvSpPr>
        <p:spPr>
          <a:xfrm>
            <a:off x="5301888" y="1479506"/>
            <a:ext cx="3272617" cy="3850105"/>
          </a:xfrm>
          <a:prstGeom prst="rect">
            <a:avLst/>
          </a:prstGeom>
          <a:solidFill>
            <a:schemeClr val="accent2">
              <a:alpha val="50000"/>
            </a:schemeClr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5" name="TextBox 34">
            <a:extLst>
              <a:ext uri="{FF2B5EF4-FFF2-40B4-BE49-F238E27FC236}">
                <a16:creationId xmlns:a16="http://schemas.microsoft.com/office/drawing/2014/main" id="{7A1DA289-AADC-4ED7-A0C6-A250108DCE32}"/>
              </a:ext>
            </a:extLst>
          </p:cNvPr>
          <p:cNvSpPr txBox="1"/>
          <p:nvPr/>
        </p:nvSpPr>
        <p:spPr>
          <a:xfrm>
            <a:off x="228932" y="1379620"/>
            <a:ext cx="2077453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it-IT" dirty="0">
                <a:solidFill>
                  <a:schemeClr val="accent6"/>
                </a:solidFill>
              </a:rPr>
              <a:t>Reliable</a:t>
            </a:r>
            <a:endParaRPr lang="en-US" dirty="0">
              <a:solidFill>
                <a:schemeClr val="accent6"/>
              </a:solidFill>
            </a:endParaRPr>
          </a:p>
        </p:txBody>
      </p:sp>
      <p:sp>
        <p:nvSpPr>
          <p:cNvPr id="38" name="TextBox 37">
            <a:extLst>
              <a:ext uri="{FF2B5EF4-FFF2-40B4-BE49-F238E27FC236}">
                <a16:creationId xmlns:a16="http://schemas.microsoft.com/office/drawing/2014/main" id="{2A1457D8-ED1F-4AB7-84B0-ED7A84AE6BCE}"/>
              </a:ext>
            </a:extLst>
          </p:cNvPr>
          <p:cNvSpPr txBox="1"/>
          <p:nvPr/>
        </p:nvSpPr>
        <p:spPr>
          <a:xfrm>
            <a:off x="218343" y="1748952"/>
            <a:ext cx="2077453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it-IT" dirty="0">
                <a:solidFill>
                  <a:schemeClr val="accent2">
                    <a:lumMod val="75000"/>
                  </a:schemeClr>
                </a:solidFill>
              </a:rPr>
              <a:t>Not Reliable</a:t>
            </a:r>
            <a:endParaRPr lang="en-US" dirty="0">
              <a:solidFill>
                <a:schemeClr val="accent2">
                  <a:lumMod val="75000"/>
                </a:schemeClr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483860090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spd="slow">
        <p159:morph option="byObject"/>
      </p:transition>
    </mc:Choice>
    <mc:Fallback xmlns="">
      <p:transition spd="slow">
        <p:fade/>
      </p:transition>
    </mc:Fallback>
  </mc:AlternateContent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669BC41E-7A1B-450B-AE56-57E23EBB368B}"/>
              </a:ext>
            </a:extLst>
          </p:cNvPr>
          <p:cNvSpPr txBox="1"/>
          <p:nvPr/>
        </p:nvSpPr>
        <p:spPr>
          <a:xfrm>
            <a:off x="0" y="0"/>
            <a:ext cx="5358063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it-IT" u="sng" dirty="0"/>
              <a:t>Blood Pressure Measurements – Measure Reliability</a:t>
            </a:r>
            <a:endParaRPr lang="nl-NL" u="sng" dirty="0"/>
          </a:p>
        </p:txBody>
      </p:sp>
      <p:pic>
        <p:nvPicPr>
          <p:cNvPr id="6" name="Graphic 5" descr="Filter">
            <a:extLst>
              <a:ext uri="{FF2B5EF4-FFF2-40B4-BE49-F238E27FC236}">
                <a16:creationId xmlns:a16="http://schemas.microsoft.com/office/drawing/2014/main" id="{63347700-8BD1-4C02-B797-92E5FAF85884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4181536" y="2658137"/>
            <a:ext cx="1599074" cy="1599074"/>
          </a:xfrm>
          <a:prstGeom prst="rect">
            <a:avLst/>
          </a:prstGeom>
        </p:spPr>
      </p:pic>
      <p:grpSp>
        <p:nvGrpSpPr>
          <p:cNvPr id="10" name="Group 9">
            <a:extLst>
              <a:ext uri="{FF2B5EF4-FFF2-40B4-BE49-F238E27FC236}">
                <a16:creationId xmlns:a16="http://schemas.microsoft.com/office/drawing/2014/main" id="{4E8B18F0-E38C-4F46-AB8E-50445F6ED9EF}"/>
              </a:ext>
            </a:extLst>
          </p:cNvPr>
          <p:cNvGrpSpPr/>
          <p:nvPr/>
        </p:nvGrpSpPr>
        <p:grpSpPr>
          <a:xfrm>
            <a:off x="4358105" y="1076169"/>
            <a:ext cx="3008344" cy="1206318"/>
            <a:chOff x="4491790" y="1327484"/>
            <a:chExt cx="1780673" cy="689810"/>
          </a:xfrm>
        </p:grpSpPr>
        <p:pic>
          <p:nvPicPr>
            <p:cNvPr id="8" name="Graphic 7" descr="Water">
              <a:extLst>
                <a:ext uri="{FF2B5EF4-FFF2-40B4-BE49-F238E27FC236}">
                  <a16:creationId xmlns:a16="http://schemas.microsoft.com/office/drawing/2014/main" id="{92A02B8B-6955-4216-8990-9304DE7C7A76}"/>
                </a:ext>
              </a:extLst>
            </p:cNvPr>
            <p:cNvPicPr>
              <a:picLocks noChangeAspect="1"/>
            </p:cNvPicPr>
            <p:nvPr/>
          </p:nvPicPr>
          <p:blipFill>
            <a:blip r:embed="rId4">
              <a:extLst>
                <a:ext uri="{28A0092B-C50C-407E-A947-70E740481C1C}">
                  <a14:useLocalDpi xmlns:a14="http://schemas.microsoft.com/office/drawing/2010/main" val="0"/>
                </a:ext>
                <a:ext uri="{96DAC541-7B7A-43D3-8B79-37D633B846F1}">
                  <asvg:svgBlip xmlns:asvg="http://schemas.microsoft.com/office/drawing/2016/SVG/main" r:embed="rId5"/>
                </a:ext>
              </a:extLst>
            </a:blip>
            <a:stretch>
              <a:fillRect/>
            </a:stretch>
          </p:blipFill>
          <p:spPr>
            <a:xfrm>
              <a:off x="4491790" y="1327484"/>
              <a:ext cx="689810" cy="689810"/>
            </a:xfrm>
            <a:prstGeom prst="rect">
              <a:avLst/>
            </a:prstGeom>
          </p:spPr>
        </p:pic>
        <p:sp>
          <p:nvSpPr>
            <p:cNvPr id="9" name="TextBox 8">
              <a:extLst>
                <a:ext uri="{FF2B5EF4-FFF2-40B4-BE49-F238E27FC236}">
                  <a16:creationId xmlns:a16="http://schemas.microsoft.com/office/drawing/2014/main" id="{F7B65646-7830-4AB1-9530-52DBA0638F61}"/>
                </a:ext>
              </a:extLst>
            </p:cNvPr>
            <p:cNvSpPr txBox="1"/>
            <p:nvPr/>
          </p:nvSpPr>
          <p:spPr>
            <a:xfrm>
              <a:off x="5237747" y="1408395"/>
              <a:ext cx="1034716" cy="527989"/>
            </a:xfrm>
            <a:prstGeom prst="rect">
              <a:avLst/>
            </a:prstGeom>
            <a:noFill/>
          </p:spPr>
          <p:txBody>
            <a:bodyPr wrap="square" rtlCol="0" anchor="ctr">
              <a:spAutoFit/>
            </a:bodyPr>
            <a:lstStyle/>
            <a:p>
              <a:r>
                <a:rPr lang="it-IT" dirty="0"/>
                <a:t>Sys BP</a:t>
              </a:r>
            </a:p>
            <a:p>
              <a:r>
                <a:rPr lang="it-IT" dirty="0"/>
                <a:t>Dia BP</a:t>
              </a:r>
            </a:p>
            <a:p>
              <a:r>
                <a:rPr lang="it-IT" dirty="0"/>
                <a:t>Mean BP</a:t>
              </a:r>
              <a:endParaRPr lang="en-US" dirty="0"/>
            </a:p>
          </p:txBody>
        </p:sp>
      </p:grpSp>
      <mc:AlternateContent xmlns:mc="http://schemas.openxmlformats.org/markup-compatibility/2006" xmlns:a14="http://schemas.microsoft.com/office/drawing/2010/main">
        <mc:Choice Requires="a14">
          <p:sp>
            <p:nvSpPr>
              <p:cNvPr id="11" name="Rectangle: Rounded Corners 10">
                <a:extLst>
                  <a:ext uri="{FF2B5EF4-FFF2-40B4-BE49-F238E27FC236}">
                    <a16:creationId xmlns:a16="http://schemas.microsoft.com/office/drawing/2014/main" id="{A8C295C3-ABE7-4F5C-A0DC-B3741AE070EB}"/>
                  </a:ext>
                </a:extLst>
              </p:cNvPr>
              <p:cNvSpPr/>
              <p:nvPr/>
            </p:nvSpPr>
            <p:spPr>
              <a:xfrm>
                <a:off x="5034982" y="3241133"/>
                <a:ext cx="2396132" cy="658474"/>
              </a:xfrm>
              <a:prstGeom prst="roundRect">
                <a:avLst/>
              </a:prstGeom>
              <a:noFill/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d>
                        <m:dPr>
                          <m:begChr m:val="|"/>
                          <m:endChr m:val="|"/>
                          <m:ctrlPr>
                            <a:rPr lang="en-US" sz="2000" i="1" smtClean="0">
                              <a:solidFill>
                                <a:schemeClr val="accent5">
                                  <a:lumMod val="50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lang="en-US" sz="2000" i="1" smtClean="0">
                                  <a:solidFill>
                                    <a:schemeClr val="accent5">
                                      <a:lumMod val="50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2000" i="1" smtClean="0">
                                  <a:solidFill>
                                    <a:schemeClr val="accent5">
                                      <a:lumMod val="50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  <m:t>∆</m:t>
                              </m:r>
                            </m:e>
                            <m:sub>
                              <m:r>
                                <a:rPr lang="en-US" sz="2000" i="1" smtClean="0">
                                  <a:solidFill>
                                    <a:schemeClr val="accent5">
                                      <a:lumMod val="50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  <m:t>𝑑</m:t>
                              </m:r>
                              <m:r>
                                <a:rPr lang="it-IT" sz="2000" b="0" i="1" smtClean="0">
                                  <a:solidFill>
                                    <a:schemeClr val="accent5">
                                      <a:lumMod val="50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  <m:t>𝑎</m:t>
                              </m:r>
                              <m:r>
                                <a:rPr lang="en-US" sz="2000" b="0" i="1" smtClean="0">
                                  <a:solidFill>
                                    <a:schemeClr val="accent5">
                                      <a:lumMod val="50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  <m:t>𝑦</m:t>
                              </m:r>
                              <m:r>
                                <a:rPr lang="it-IT" sz="2000" b="0" i="1" smtClean="0">
                                  <a:solidFill>
                                    <a:schemeClr val="accent5">
                                      <a:lumMod val="50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  <m:t>𝑠</m:t>
                              </m:r>
                            </m:sub>
                          </m:sSub>
                        </m:e>
                      </m:d>
                      <m:r>
                        <a:rPr lang="en-US" sz="2000" i="1" smtClean="0">
                          <a:solidFill>
                            <a:schemeClr val="accent5">
                              <a:lumMod val="50000"/>
                            </a:schemeClr>
                          </a:solidFill>
                          <a:latin typeface="Cambria Math" panose="02040503050406030204" pitchFamily="18" charset="0"/>
                        </a:rPr>
                        <m:t>≤15</m:t>
                      </m:r>
                      <m:r>
                        <a:rPr lang="en-US" sz="2000" b="0" i="1" smtClean="0">
                          <a:solidFill>
                            <a:schemeClr val="accent5">
                              <a:lumMod val="50000"/>
                            </a:schemeClr>
                          </a:solidFill>
                          <a:latin typeface="Cambria Math" panose="02040503050406030204" pitchFamily="18" charset="0"/>
                        </a:rPr>
                        <m:t> </m:t>
                      </m:r>
                      <m:r>
                        <a:rPr lang="en-US" sz="2000" i="1" smtClean="0">
                          <a:solidFill>
                            <a:schemeClr val="accent5">
                              <a:lumMod val="50000"/>
                            </a:schemeClr>
                          </a:solidFill>
                          <a:latin typeface="Cambria Math" panose="02040503050406030204" pitchFamily="18" charset="0"/>
                        </a:rPr>
                        <m:t>𝑑</m:t>
                      </m:r>
                      <m:r>
                        <a:rPr lang="en-US" sz="2000" b="0" i="1" smtClean="0">
                          <a:solidFill>
                            <a:schemeClr val="accent5">
                              <a:lumMod val="50000"/>
                            </a:schemeClr>
                          </a:solidFill>
                          <a:latin typeface="Cambria Math" panose="02040503050406030204" pitchFamily="18" charset="0"/>
                        </a:rPr>
                        <m:t>𝑎𝑦𝑠</m:t>
                      </m:r>
                    </m:oMath>
                  </m:oMathPara>
                </a14:m>
                <a:endParaRPr lang="en-US" sz="2000" dirty="0">
                  <a:solidFill>
                    <a:schemeClr val="accent5">
                      <a:lumMod val="50000"/>
                    </a:schemeClr>
                  </a:solidFill>
                </a:endParaRPr>
              </a:p>
            </p:txBody>
          </p:sp>
        </mc:Choice>
        <mc:Fallback xmlns="">
          <p:sp>
            <p:nvSpPr>
              <p:cNvPr id="11" name="Rectangle: Rounded Corners 10">
                <a:extLst>
                  <a:ext uri="{FF2B5EF4-FFF2-40B4-BE49-F238E27FC236}">
                    <a16:creationId xmlns:a16="http://schemas.microsoft.com/office/drawing/2014/main" id="{A8C295C3-ABE7-4F5C-A0DC-B3741AE070EB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034982" y="3241133"/>
                <a:ext cx="2396132" cy="658474"/>
              </a:xfrm>
              <a:prstGeom prst="roundRect">
                <a:avLst/>
              </a:prstGeom>
              <a:blipFill>
                <a:blip r:embed="rId6"/>
                <a:stretch>
                  <a:fillRect/>
                </a:stretch>
              </a:blipFill>
              <a:ln>
                <a:noFill/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13" name="Graphic 12" descr="Users">
            <a:extLst>
              <a:ext uri="{FF2B5EF4-FFF2-40B4-BE49-F238E27FC236}">
                <a16:creationId xmlns:a16="http://schemas.microsoft.com/office/drawing/2014/main" id="{4B97E128-F851-46A5-80C9-F3F7E373AA1B}"/>
              </a:ext>
            </a:extLst>
          </p:cNvPr>
          <p:cNvPicPr>
            <a:picLocks noChangeAspect="1"/>
          </p:cNvPicPr>
          <p:nvPr/>
        </p:nvPicPr>
        <p:blipFill>
          <a:blip r:embed="rId7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8"/>
              </a:ext>
            </a:extLst>
          </a:blip>
          <a:stretch>
            <a:fillRect/>
          </a:stretch>
        </p:blipFill>
        <p:spPr>
          <a:xfrm>
            <a:off x="4266741" y="4302567"/>
            <a:ext cx="1394355" cy="1394355"/>
          </a:xfrm>
          <a:prstGeom prst="rect">
            <a:avLst/>
          </a:prstGeom>
        </p:spPr>
      </p:pic>
      <p:sp>
        <p:nvSpPr>
          <p:cNvPr id="14" name="TextBox 13">
            <a:extLst>
              <a:ext uri="{FF2B5EF4-FFF2-40B4-BE49-F238E27FC236}">
                <a16:creationId xmlns:a16="http://schemas.microsoft.com/office/drawing/2014/main" id="{B1BCACD8-D43E-4C5F-BF31-2DC76081704D}"/>
              </a:ext>
            </a:extLst>
          </p:cNvPr>
          <p:cNvSpPr txBox="1"/>
          <p:nvPr/>
        </p:nvSpPr>
        <p:spPr>
          <a:xfrm>
            <a:off x="5701856" y="4774353"/>
            <a:ext cx="1809478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it-IT" sz="2400" dirty="0"/>
              <a:t>1322 pts</a:t>
            </a:r>
            <a:endParaRPr lang="en-US" sz="2400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5" name="TextBox 14">
                <a:extLst>
                  <a:ext uri="{FF2B5EF4-FFF2-40B4-BE49-F238E27FC236}">
                    <a16:creationId xmlns:a16="http://schemas.microsoft.com/office/drawing/2014/main" id="{3B5B43CE-56C0-4324-A937-B56BAF89180C}"/>
                  </a:ext>
                </a:extLst>
              </p:cNvPr>
              <p:cNvSpPr txBox="1"/>
              <p:nvPr/>
            </p:nvSpPr>
            <p:spPr>
              <a:xfrm>
                <a:off x="8282458" y="6417113"/>
                <a:ext cx="3829190" cy="298928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i="1" smtClean="0">
                              <a:solidFill>
                                <a:schemeClr val="accent5">
                                  <a:lumMod val="50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i="1">
                              <a:solidFill>
                                <a:schemeClr val="accent5">
                                  <a:lumMod val="50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∆</m:t>
                          </m:r>
                        </m:e>
                        <m:sub>
                          <m:r>
                            <a:rPr lang="en-US" i="1">
                              <a:solidFill>
                                <a:schemeClr val="accent5">
                                  <a:lumMod val="50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𝑑</m:t>
                          </m:r>
                          <m:r>
                            <a:rPr lang="it-IT" i="1">
                              <a:solidFill>
                                <a:schemeClr val="accent5">
                                  <a:lumMod val="50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𝑎</m:t>
                          </m:r>
                          <m:r>
                            <a:rPr lang="en-US" i="1">
                              <a:solidFill>
                                <a:schemeClr val="accent5">
                                  <a:lumMod val="50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𝑦</m:t>
                          </m:r>
                          <m:r>
                            <a:rPr lang="it-IT" i="1">
                              <a:solidFill>
                                <a:schemeClr val="accent5">
                                  <a:lumMod val="50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𝑠</m:t>
                          </m:r>
                        </m:sub>
                      </m:sSub>
                      <m:r>
                        <a:rPr lang="it-IT" b="0" i="1" smtClean="0">
                          <a:solidFill>
                            <a:schemeClr val="accent5">
                              <a:lumMod val="50000"/>
                            </a:schemeClr>
                          </a:solidFill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it-IT" b="0" i="1" smtClean="0">
                          <a:solidFill>
                            <a:schemeClr val="accent5">
                              <a:lumMod val="50000"/>
                            </a:schemeClr>
                          </a:solidFill>
                          <a:latin typeface="Cambria Math" panose="02040503050406030204" pitchFamily="18" charset="0"/>
                        </a:rPr>
                        <m:t>𝐶𝑜𝑛𝑠𝑢𝑙𝑡</m:t>
                      </m:r>
                      <m:r>
                        <a:rPr lang="it-IT" b="0" i="1" smtClean="0">
                          <a:solidFill>
                            <a:schemeClr val="accent5">
                              <a:lumMod val="50000"/>
                            </a:schemeClr>
                          </a:solidFill>
                          <a:latin typeface="Cambria Math" panose="02040503050406030204" pitchFamily="18" charset="0"/>
                        </a:rPr>
                        <m:t> </m:t>
                      </m:r>
                      <m:r>
                        <a:rPr lang="it-IT" b="0" i="1" smtClean="0">
                          <a:solidFill>
                            <a:schemeClr val="accent5">
                              <a:lumMod val="50000"/>
                            </a:schemeClr>
                          </a:solidFill>
                          <a:latin typeface="Cambria Math" panose="02040503050406030204" pitchFamily="18" charset="0"/>
                        </a:rPr>
                        <m:t>𝐷𝑎𝑦</m:t>
                      </m:r>
                      <m:r>
                        <a:rPr lang="it-IT" b="0" i="1" smtClean="0">
                          <a:solidFill>
                            <a:schemeClr val="accent5">
                              <a:lumMod val="50000"/>
                            </a:schemeClr>
                          </a:solidFill>
                          <a:latin typeface="Cambria Math" panose="02040503050406030204" pitchFamily="18" charset="0"/>
                        </a:rPr>
                        <m:t> −</m:t>
                      </m:r>
                      <m:r>
                        <a:rPr lang="it-IT" b="0" i="1" smtClean="0">
                          <a:solidFill>
                            <a:schemeClr val="accent5">
                              <a:lumMod val="50000"/>
                            </a:schemeClr>
                          </a:solidFill>
                          <a:latin typeface="Cambria Math" panose="02040503050406030204" pitchFamily="18" charset="0"/>
                        </a:rPr>
                        <m:t>𝑀𝑒𝑎𝑠𝑢𝑟𝑒</m:t>
                      </m:r>
                      <m:r>
                        <a:rPr lang="it-IT" b="0" i="1" smtClean="0">
                          <a:solidFill>
                            <a:schemeClr val="accent5">
                              <a:lumMod val="50000"/>
                            </a:schemeClr>
                          </a:solidFill>
                          <a:latin typeface="Cambria Math" panose="02040503050406030204" pitchFamily="18" charset="0"/>
                        </a:rPr>
                        <m:t> </m:t>
                      </m:r>
                      <m:r>
                        <a:rPr lang="it-IT" b="0" i="1" smtClean="0">
                          <a:solidFill>
                            <a:schemeClr val="accent5">
                              <a:lumMod val="50000"/>
                            </a:schemeClr>
                          </a:solidFill>
                          <a:latin typeface="Cambria Math" panose="02040503050406030204" pitchFamily="18" charset="0"/>
                        </a:rPr>
                        <m:t>𝐷𝑎𝑦</m:t>
                      </m:r>
                    </m:oMath>
                  </m:oMathPara>
                </a14:m>
                <a:endParaRPr lang="en-US" dirty="0"/>
              </a:p>
            </p:txBody>
          </p:sp>
        </mc:Choice>
        <mc:Fallback xmlns="">
          <p:sp>
            <p:nvSpPr>
              <p:cNvPr id="15" name="TextBox 14">
                <a:extLst>
                  <a:ext uri="{FF2B5EF4-FFF2-40B4-BE49-F238E27FC236}">
                    <a16:creationId xmlns:a16="http://schemas.microsoft.com/office/drawing/2014/main" id="{3B5B43CE-56C0-4324-A937-B56BAF89180C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282458" y="6417113"/>
                <a:ext cx="3829190" cy="298928"/>
              </a:xfrm>
              <a:prstGeom prst="rect">
                <a:avLst/>
              </a:prstGeom>
              <a:blipFill>
                <a:blip r:embed="rId9"/>
                <a:stretch>
                  <a:fillRect l="-1115" r="-1433" b="-24490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17" name="Straight Arrow Connector 16">
            <a:extLst>
              <a:ext uri="{FF2B5EF4-FFF2-40B4-BE49-F238E27FC236}">
                <a16:creationId xmlns:a16="http://schemas.microsoft.com/office/drawing/2014/main" id="{7DA3842F-371B-42E6-85F3-98263B1D62E5}"/>
              </a:ext>
            </a:extLst>
          </p:cNvPr>
          <p:cNvCxnSpPr>
            <a:cxnSpLocks/>
            <a:stCxn id="18" idx="2"/>
          </p:cNvCxnSpPr>
          <p:nvPr/>
        </p:nvCxnSpPr>
        <p:spPr>
          <a:xfrm flipH="1">
            <a:off x="7177731" y="2395137"/>
            <a:ext cx="1267762" cy="1037873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6"/>
          </a:lnRef>
          <a:fillRef idx="0">
            <a:schemeClr val="accent6"/>
          </a:fillRef>
          <a:effectRef idx="0">
            <a:schemeClr val="accent6"/>
          </a:effectRef>
          <a:fontRef idx="minor">
            <a:schemeClr val="tx1"/>
          </a:fontRef>
        </p:style>
      </p:cxnSp>
      <p:sp>
        <p:nvSpPr>
          <p:cNvPr id="18" name="Oval 17">
            <a:extLst>
              <a:ext uri="{FF2B5EF4-FFF2-40B4-BE49-F238E27FC236}">
                <a16:creationId xmlns:a16="http://schemas.microsoft.com/office/drawing/2014/main" id="{7815F66E-BCE4-4BEE-88D9-E8D215CB1C2B}"/>
              </a:ext>
            </a:extLst>
          </p:cNvPr>
          <p:cNvSpPr/>
          <p:nvPr/>
        </p:nvSpPr>
        <p:spPr>
          <a:xfrm>
            <a:off x="8445493" y="1873768"/>
            <a:ext cx="1828800" cy="1042737"/>
          </a:xfrm>
          <a:prstGeom prst="ellipse">
            <a:avLst/>
          </a:prstGeom>
          <a:solidFill>
            <a:schemeClr val="accent6">
              <a:alpha val="50000"/>
            </a:schemeClr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it-IT" dirty="0"/>
              <a:t>Maybe too large</a:t>
            </a:r>
            <a:endParaRPr lang="en-US" dirty="0"/>
          </a:p>
        </p:txBody>
      </p:sp>
      <p:sp>
        <p:nvSpPr>
          <p:cNvPr id="20" name="Oval 19">
            <a:extLst>
              <a:ext uri="{FF2B5EF4-FFF2-40B4-BE49-F238E27FC236}">
                <a16:creationId xmlns:a16="http://schemas.microsoft.com/office/drawing/2014/main" id="{0DD9478D-3955-4C7A-BC02-6A3CED041958}"/>
              </a:ext>
            </a:extLst>
          </p:cNvPr>
          <p:cNvSpPr/>
          <p:nvPr/>
        </p:nvSpPr>
        <p:spPr>
          <a:xfrm>
            <a:off x="5032880" y="46460"/>
            <a:ext cx="276411" cy="276411"/>
          </a:xfrm>
          <a:prstGeom prst="ellipse">
            <a:avLst/>
          </a:prstGeom>
        </p:spPr>
        <p:style>
          <a:lnRef idx="2">
            <a:schemeClr val="accent6">
              <a:shade val="50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it-IT" dirty="0"/>
              <a:t>2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4712826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spd="slow">
        <p159:morph option="byObject"/>
      </p:transition>
    </mc:Choice>
    <mc:Fallback xmlns="">
      <p:transition spd="slow">
        <p:fade/>
      </p:transition>
    </mc:Fallback>
  </mc:AlternateContent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669BC41E-7A1B-450B-AE56-57E23EBB368B}"/>
              </a:ext>
            </a:extLst>
          </p:cNvPr>
          <p:cNvSpPr txBox="1"/>
          <p:nvPr/>
        </p:nvSpPr>
        <p:spPr>
          <a:xfrm>
            <a:off x="0" y="0"/>
            <a:ext cx="5662863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it-IT" u="sng" dirty="0"/>
              <a:t>Blood Pressure Measurements – Measures Distributions</a:t>
            </a:r>
            <a:endParaRPr lang="nl-NL" u="sng" dirty="0"/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1FAC74D6-0584-4CA3-9344-0078CB98C0EE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234526" y="673243"/>
            <a:ext cx="8246358" cy="5511511"/>
          </a:xfrm>
          <a:prstGeom prst="rect">
            <a:avLst/>
          </a:prstGeom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4BE24283-ED82-45F4-B31B-8802048036EF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198768" y="3106151"/>
            <a:ext cx="1383632" cy="1383632"/>
          </a:xfrm>
          <a:prstGeom prst="rect">
            <a:avLst/>
          </a:prstGeom>
        </p:spPr>
      </p:pic>
      <p:sp>
        <p:nvSpPr>
          <p:cNvPr id="16" name="TextBox 15">
            <a:extLst>
              <a:ext uri="{FF2B5EF4-FFF2-40B4-BE49-F238E27FC236}">
                <a16:creationId xmlns:a16="http://schemas.microsoft.com/office/drawing/2014/main" id="{7E97ACC2-B084-4E15-BE9B-EC679B1F6845}"/>
              </a:ext>
            </a:extLst>
          </p:cNvPr>
          <p:cNvSpPr txBox="1"/>
          <p:nvPr/>
        </p:nvSpPr>
        <p:spPr>
          <a:xfrm>
            <a:off x="9767637" y="2855496"/>
            <a:ext cx="2245894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it-IT" dirty="0"/>
              <a:t>No Missing Values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89913623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spd="slow">
        <p159:morph option="byObject"/>
      </p:transition>
    </mc:Choice>
    <mc:Fallback xmlns="">
      <p:transition spd="slow">
        <p:fade/>
      </p:transition>
    </mc:Fallback>
  </mc:AlternateContent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2742523-2057-44B4-9FB1-A3B7126FBF7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2766218"/>
            <a:ext cx="10515600" cy="1325563"/>
          </a:xfrm>
        </p:spPr>
        <p:txBody>
          <a:bodyPr/>
          <a:lstStyle/>
          <a:p>
            <a:pPr algn="ctr"/>
            <a:r>
              <a:rPr lang="it-IT" dirty="0"/>
              <a:t>Eligibility to LHS</a:t>
            </a:r>
            <a:endParaRPr lang="nl-NL" dirty="0"/>
          </a:p>
        </p:txBody>
      </p:sp>
    </p:spTree>
    <p:extLst>
      <p:ext uri="{BB962C8B-B14F-4D97-AF65-F5344CB8AC3E}">
        <p14:creationId xmlns:p14="http://schemas.microsoft.com/office/powerpoint/2010/main" val="64685501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spd="slow">
        <p159:morph option="byObject"/>
      </p:transition>
    </mc:Choice>
    <mc:Fallback xmlns="">
      <p:transition spd="slow">
        <p:fade/>
      </p:transition>
    </mc:Fallback>
  </mc:AlternateContent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Box 3">
            <a:extLst>
              <a:ext uri="{FF2B5EF4-FFF2-40B4-BE49-F238E27FC236}">
                <a16:creationId xmlns:a16="http://schemas.microsoft.com/office/drawing/2014/main" id="{E34F9682-BC94-4EF7-B59C-7F339EBAD685}"/>
              </a:ext>
            </a:extLst>
          </p:cNvPr>
          <p:cNvSpPr txBox="1"/>
          <p:nvPr/>
        </p:nvSpPr>
        <p:spPr>
          <a:xfrm>
            <a:off x="0" y="0"/>
            <a:ext cx="3946358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it-IT" u="sng" dirty="0"/>
              <a:t>Afspraken DB</a:t>
            </a:r>
          </a:p>
        </p:txBody>
      </p:sp>
      <p:grpSp>
        <p:nvGrpSpPr>
          <p:cNvPr id="9" name="Group 8">
            <a:extLst>
              <a:ext uri="{FF2B5EF4-FFF2-40B4-BE49-F238E27FC236}">
                <a16:creationId xmlns:a16="http://schemas.microsoft.com/office/drawing/2014/main" id="{6E904B1F-4ED8-416C-A086-E6529D5565A8}"/>
              </a:ext>
            </a:extLst>
          </p:cNvPr>
          <p:cNvGrpSpPr/>
          <p:nvPr/>
        </p:nvGrpSpPr>
        <p:grpSpPr>
          <a:xfrm>
            <a:off x="1973179" y="1741640"/>
            <a:ext cx="2762250" cy="3374720"/>
            <a:chOff x="1944604" y="1803095"/>
            <a:chExt cx="2762250" cy="3374720"/>
          </a:xfrm>
        </p:grpSpPr>
        <p:sp>
          <p:nvSpPr>
            <p:cNvPr id="7" name="TextBox 6">
              <a:extLst>
                <a:ext uri="{FF2B5EF4-FFF2-40B4-BE49-F238E27FC236}">
                  <a16:creationId xmlns:a16="http://schemas.microsoft.com/office/drawing/2014/main" id="{FCD9424F-73E8-44E7-BE2B-0983785925DE}"/>
                </a:ext>
              </a:extLst>
            </p:cNvPr>
            <p:cNvSpPr txBox="1"/>
            <p:nvPr/>
          </p:nvSpPr>
          <p:spPr>
            <a:xfrm>
              <a:off x="2150645" y="4808483"/>
              <a:ext cx="2350168" cy="369332"/>
            </a:xfrm>
            <a:prstGeom prst="rect">
              <a:avLst/>
            </a:prstGeom>
            <a:noFill/>
            <a:ln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dk1"/>
            </a:fontRef>
          </p:style>
          <p:txBody>
            <a:bodyPr wrap="square" rtlCol="0">
              <a:spAutoFit/>
            </a:bodyPr>
            <a:lstStyle/>
            <a:p>
              <a:pPr algn="ctr"/>
              <a:r>
                <a:rPr lang="it-IT" dirty="0"/>
                <a:t>4435 patients records</a:t>
              </a:r>
              <a:endParaRPr lang="nl-NL" dirty="0"/>
            </a:p>
          </p:txBody>
        </p:sp>
        <p:sp>
          <p:nvSpPr>
            <p:cNvPr id="8" name="Oval 7">
              <a:extLst>
                <a:ext uri="{FF2B5EF4-FFF2-40B4-BE49-F238E27FC236}">
                  <a16:creationId xmlns:a16="http://schemas.microsoft.com/office/drawing/2014/main" id="{F4B023E9-86D6-4B7C-B948-43D4B9C4890F}"/>
                </a:ext>
              </a:extLst>
            </p:cNvPr>
            <p:cNvSpPr/>
            <p:nvPr/>
          </p:nvSpPr>
          <p:spPr>
            <a:xfrm>
              <a:off x="1944604" y="1803095"/>
              <a:ext cx="2762250" cy="2762250"/>
            </a:xfrm>
            <a:prstGeom prst="ellipse">
              <a:avLst/>
            </a:prstGeom>
          </p:spPr>
          <p:style>
            <a:lnRef idx="0">
              <a:schemeClr val="accent1"/>
            </a:lnRef>
            <a:fillRef idx="3">
              <a:schemeClr val="accent1"/>
            </a:fillRef>
            <a:effectRef idx="3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nl-NL"/>
            </a:p>
          </p:txBody>
        </p:sp>
      </p:grpSp>
      <p:grpSp>
        <p:nvGrpSpPr>
          <p:cNvPr id="10" name="Group 9">
            <a:extLst>
              <a:ext uri="{FF2B5EF4-FFF2-40B4-BE49-F238E27FC236}">
                <a16:creationId xmlns:a16="http://schemas.microsoft.com/office/drawing/2014/main" id="{0CD3A9A0-2489-4D82-A634-95332E6C96A1}"/>
              </a:ext>
            </a:extLst>
          </p:cNvPr>
          <p:cNvGrpSpPr/>
          <p:nvPr/>
        </p:nvGrpSpPr>
        <p:grpSpPr>
          <a:xfrm>
            <a:off x="7782929" y="1844660"/>
            <a:ext cx="2556209" cy="3271700"/>
            <a:chOff x="2150644" y="2009135"/>
            <a:chExt cx="2556209" cy="3271700"/>
          </a:xfrm>
        </p:grpSpPr>
        <p:sp>
          <p:nvSpPr>
            <p:cNvPr id="11" name="TextBox 10">
              <a:extLst>
                <a:ext uri="{FF2B5EF4-FFF2-40B4-BE49-F238E27FC236}">
                  <a16:creationId xmlns:a16="http://schemas.microsoft.com/office/drawing/2014/main" id="{1DB8A1FF-34D3-4172-A7C9-8D2FE1ACE8A4}"/>
                </a:ext>
              </a:extLst>
            </p:cNvPr>
            <p:cNvSpPr txBox="1"/>
            <p:nvPr/>
          </p:nvSpPr>
          <p:spPr>
            <a:xfrm>
              <a:off x="2253664" y="4911503"/>
              <a:ext cx="2350168" cy="369332"/>
            </a:xfrm>
            <a:prstGeom prst="rect">
              <a:avLst/>
            </a:prstGeom>
            <a:noFill/>
            <a:ln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dk1"/>
            </a:fontRef>
          </p:style>
          <p:txBody>
            <a:bodyPr wrap="square" rtlCol="0">
              <a:spAutoFit/>
            </a:bodyPr>
            <a:lstStyle/>
            <a:p>
              <a:pPr algn="ctr"/>
              <a:r>
                <a:rPr lang="it-IT" dirty="0"/>
                <a:t>4206 patients records</a:t>
              </a:r>
              <a:endParaRPr lang="nl-NL" dirty="0"/>
            </a:p>
          </p:txBody>
        </p:sp>
        <p:sp>
          <p:nvSpPr>
            <p:cNvPr id="12" name="Oval 11">
              <a:extLst>
                <a:ext uri="{FF2B5EF4-FFF2-40B4-BE49-F238E27FC236}">
                  <a16:creationId xmlns:a16="http://schemas.microsoft.com/office/drawing/2014/main" id="{ACF602D0-F806-4700-9C47-0F278131D424}"/>
                </a:ext>
              </a:extLst>
            </p:cNvPr>
            <p:cNvSpPr/>
            <p:nvPr/>
          </p:nvSpPr>
          <p:spPr>
            <a:xfrm>
              <a:off x="2150644" y="2009135"/>
              <a:ext cx="2556209" cy="2556209"/>
            </a:xfrm>
            <a:prstGeom prst="ellipse">
              <a:avLst/>
            </a:prstGeom>
          </p:spPr>
          <p:style>
            <a:lnRef idx="0">
              <a:schemeClr val="accent6"/>
            </a:lnRef>
            <a:fillRef idx="3">
              <a:schemeClr val="accent6"/>
            </a:fillRef>
            <a:effectRef idx="3">
              <a:schemeClr val="accent6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nl-NL"/>
            </a:p>
          </p:txBody>
        </p:sp>
      </p:grpSp>
      <p:sp>
        <p:nvSpPr>
          <p:cNvPr id="16" name="TextBox 15">
            <a:extLst>
              <a:ext uri="{FF2B5EF4-FFF2-40B4-BE49-F238E27FC236}">
                <a16:creationId xmlns:a16="http://schemas.microsoft.com/office/drawing/2014/main" id="{D5523F38-46EB-4439-B403-339A9CCB84BD}"/>
              </a:ext>
            </a:extLst>
          </p:cNvPr>
          <p:cNvSpPr txBox="1"/>
          <p:nvPr/>
        </p:nvSpPr>
        <p:spPr>
          <a:xfrm>
            <a:off x="8245642" y="0"/>
            <a:ext cx="3946358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it-IT" u="sng" dirty="0"/>
              <a:t>Lab Measures DB</a:t>
            </a:r>
          </a:p>
        </p:txBody>
      </p:sp>
    </p:spTree>
    <p:extLst>
      <p:ext uri="{BB962C8B-B14F-4D97-AF65-F5344CB8AC3E}">
        <p14:creationId xmlns:p14="http://schemas.microsoft.com/office/powerpoint/2010/main" val="2641032109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spd="slow">
        <p159:morph option="byObject"/>
      </p:transition>
    </mc:Choice>
    <mc:Fallback xmlns="">
      <p:transition spd="slow">
        <p:fade/>
      </p:transition>
    </mc:Fallback>
  </mc:AlternateContent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Box 3">
            <a:extLst>
              <a:ext uri="{FF2B5EF4-FFF2-40B4-BE49-F238E27FC236}">
                <a16:creationId xmlns:a16="http://schemas.microsoft.com/office/drawing/2014/main" id="{E34F9682-BC94-4EF7-B59C-7F339EBAD685}"/>
              </a:ext>
            </a:extLst>
          </p:cNvPr>
          <p:cNvSpPr txBox="1"/>
          <p:nvPr/>
        </p:nvSpPr>
        <p:spPr>
          <a:xfrm>
            <a:off x="0" y="0"/>
            <a:ext cx="3946358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it-IT" u="sng" dirty="0"/>
              <a:t>Afspraken DB</a:t>
            </a:r>
          </a:p>
        </p:txBody>
      </p:sp>
      <p:grpSp>
        <p:nvGrpSpPr>
          <p:cNvPr id="9" name="Group 8">
            <a:extLst>
              <a:ext uri="{FF2B5EF4-FFF2-40B4-BE49-F238E27FC236}">
                <a16:creationId xmlns:a16="http://schemas.microsoft.com/office/drawing/2014/main" id="{6E904B1F-4ED8-416C-A086-E6529D5565A8}"/>
              </a:ext>
            </a:extLst>
          </p:cNvPr>
          <p:cNvGrpSpPr/>
          <p:nvPr/>
        </p:nvGrpSpPr>
        <p:grpSpPr>
          <a:xfrm>
            <a:off x="4714875" y="1741640"/>
            <a:ext cx="2762250" cy="3374720"/>
            <a:chOff x="1944604" y="1803095"/>
            <a:chExt cx="2762250" cy="3374720"/>
          </a:xfrm>
        </p:grpSpPr>
        <p:sp>
          <p:nvSpPr>
            <p:cNvPr id="7" name="TextBox 6">
              <a:extLst>
                <a:ext uri="{FF2B5EF4-FFF2-40B4-BE49-F238E27FC236}">
                  <a16:creationId xmlns:a16="http://schemas.microsoft.com/office/drawing/2014/main" id="{FCD9424F-73E8-44E7-BE2B-0983785925DE}"/>
                </a:ext>
              </a:extLst>
            </p:cNvPr>
            <p:cNvSpPr txBox="1"/>
            <p:nvPr/>
          </p:nvSpPr>
          <p:spPr>
            <a:xfrm>
              <a:off x="2150645" y="4808483"/>
              <a:ext cx="2350168" cy="369332"/>
            </a:xfrm>
            <a:prstGeom prst="rect">
              <a:avLst/>
            </a:prstGeom>
            <a:noFill/>
            <a:ln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dk1"/>
            </a:fontRef>
          </p:style>
          <p:txBody>
            <a:bodyPr wrap="square" rtlCol="0">
              <a:spAutoFit/>
            </a:bodyPr>
            <a:lstStyle/>
            <a:p>
              <a:pPr algn="ctr"/>
              <a:r>
                <a:rPr lang="it-IT" dirty="0"/>
                <a:t>4206 Patients</a:t>
              </a:r>
              <a:endParaRPr lang="nl-NL" dirty="0"/>
            </a:p>
          </p:txBody>
        </p:sp>
        <p:sp>
          <p:nvSpPr>
            <p:cNvPr id="8" name="Oval 7">
              <a:extLst>
                <a:ext uri="{FF2B5EF4-FFF2-40B4-BE49-F238E27FC236}">
                  <a16:creationId xmlns:a16="http://schemas.microsoft.com/office/drawing/2014/main" id="{F4B023E9-86D6-4B7C-B948-43D4B9C4890F}"/>
                </a:ext>
              </a:extLst>
            </p:cNvPr>
            <p:cNvSpPr/>
            <p:nvPr/>
          </p:nvSpPr>
          <p:spPr>
            <a:xfrm>
              <a:off x="1944604" y="1803095"/>
              <a:ext cx="2762250" cy="2762250"/>
            </a:xfrm>
            <a:prstGeom prst="ellipse">
              <a:avLst/>
            </a:prstGeom>
          </p:spPr>
          <p:style>
            <a:lnRef idx="0">
              <a:schemeClr val="accent1"/>
            </a:lnRef>
            <a:fillRef idx="3">
              <a:schemeClr val="accent1"/>
            </a:fillRef>
            <a:effectRef idx="3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nl-NL"/>
            </a:p>
          </p:txBody>
        </p:sp>
      </p:grpSp>
      <p:sp>
        <p:nvSpPr>
          <p:cNvPr id="12" name="Oval 11">
            <a:extLst>
              <a:ext uri="{FF2B5EF4-FFF2-40B4-BE49-F238E27FC236}">
                <a16:creationId xmlns:a16="http://schemas.microsoft.com/office/drawing/2014/main" id="{ACF602D0-F806-4700-9C47-0F278131D424}"/>
              </a:ext>
            </a:extLst>
          </p:cNvPr>
          <p:cNvSpPr/>
          <p:nvPr/>
        </p:nvSpPr>
        <p:spPr>
          <a:xfrm>
            <a:off x="4923925" y="1844660"/>
            <a:ext cx="2556209" cy="2556209"/>
          </a:xfrm>
          <a:prstGeom prst="ellipse">
            <a:avLst/>
          </a:prstGeom>
        </p:spPr>
        <p:style>
          <a:lnRef idx="0">
            <a:schemeClr val="accent6"/>
          </a:lnRef>
          <a:fillRef idx="3">
            <a:schemeClr val="accent6"/>
          </a:fillRef>
          <a:effectRef idx="3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nl-NL"/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D5523F38-46EB-4439-B403-339A9CCB84BD}"/>
              </a:ext>
            </a:extLst>
          </p:cNvPr>
          <p:cNvSpPr txBox="1"/>
          <p:nvPr/>
        </p:nvSpPr>
        <p:spPr>
          <a:xfrm>
            <a:off x="8245642" y="0"/>
            <a:ext cx="3946358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it-IT" u="sng" dirty="0"/>
              <a:t>Lab Measures DB</a:t>
            </a:r>
          </a:p>
        </p:txBody>
      </p:sp>
      <p:cxnSp>
        <p:nvCxnSpPr>
          <p:cNvPr id="3" name="Straight Arrow Connector 2">
            <a:extLst>
              <a:ext uri="{FF2B5EF4-FFF2-40B4-BE49-F238E27FC236}">
                <a16:creationId xmlns:a16="http://schemas.microsoft.com/office/drawing/2014/main" id="{FA02BA0B-1B27-4720-8234-9ED4A43D6ED8}"/>
              </a:ext>
            </a:extLst>
          </p:cNvPr>
          <p:cNvCxnSpPr/>
          <p:nvPr/>
        </p:nvCxnSpPr>
        <p:spPr>
          <a:xfrm flipH="1">
            <a:off x="6286500" y="1933575"/>
            <a:ext cx="2171700" cy="1181100"/>
          </a:xfrm>
          <a:prstGeom prst="straightConnector1">
            <a:avLst/>
          </a:prstGeom>
          <a:ln>
            <a:tailEnd type="triangle"/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sp>
        <p:nvSpPr>
          <p:cNvPr id="13" name="TextBox 12">
            <a:extLst>
              <a:ext uri="{FF2B5EF4-FFF2-40B4-BE49-F238E27FC236}">
                <a16:creationId xmlns:a16="http://schemas.microsoft.com/office/drawing/2014/main" id="{480CBE3B-7DBD-4CCB-AA01-92C56653F80D}"/>
              </a:ext>
            </a:extLst>
          </p:cNvPr>
          <p:cNvSpPr txBox="1"/>
          <p:nvPr/>
        </p:nvSpPr>
        <p:spPr>
          <a:xfrm>
            <a:off x="8064166" y="1521494"/>
            <a:ext cx="2350168" cy="646331"/>
          </a:xfrm>
          <a:prstGeom prst="rect">
            <a:avLst/>
          </a:prstGeom>
          <a:noFill/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pPr algn="ctr"/>
            <a:r>
              <a:rPr lang="it-IT" dirty="0"/>
              <a:t>Patient who has lab meas is kept</a:t>
            </a:r>
            <a:endParaRPr lang="nl-NL" dirty="0"/>
          </a:p>
        </p:txBody>
      </p:sp>
    </p:spTree>
    <p:extLst>
      <p:ext uri="{BB962C8B-B14F-4D97-AF65-F5344CB8AC3E}">
        <p14:creationId xmlns:p14="http://schemas.microsoft.com/office/powerpoint/2010/main" val="3364121093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spd="slow">
        <p159:morph option="byObject"/>
      </p:transition>
    </mc:Choice>
    <mc:Fallback xmlns="">
      <p:transition spd="slow">
        <p:fade/>
      </p:transition>
    </mc:Fallback>
  </mc:AlternateContent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Box 3">
            <a:extLst>
              <a:ext uri="{FF2B5EF4-FFF2-40B4-BE49-F238E27FC236}">
                <a16:creationId xmlns:a16="http://schemas.microsoft.com/office/drawing/2014/main" id="{E34F9682-BC94-4EF7-B59C-7F339EBAD685}"/>
              </a:ext>
            </a:extLst>
          </p:cNvPr>
          <p:cNvSpPr txBox="1"/>
          <p:nvPr/>
        </p:nvSpPr>
        <p:spPr>
          <a:xfrm>
            <a:off x="0" y="0"/>
            <a:ext cx="3946358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it-IT" u="sng" dirty="0"/>
              <a:t>Afspraken DB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FCD9424F-73E8-44E7-BE2B-0983785925DE}"/>
              </a:ext>
            </a:extLst>
          </p:cNvPr>
          <p:cNvSpPr txBox="1"/>
          <p:nvPr/>
        </p:nvSpPr>
        <p:spPr>
          <a:xfrm>
            <a:off x="4920916" y="4747028"/>
            <a:ext cx="2350168" cy="369332"/>
          </a:xfrm>
          <a:prstGeom prst="rect">
            <a:avLst/>
          </a:prstGeom>
          <a:noFill/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pPr algn="ctr"/>
            <a:r>
              <a:rPr lang="it-IT" dirty="0"/>
              <a:t>229 Patients</a:t>
            </a:r>
            <a:endParaRPr lang="nl-NL" dirty="0"/>
          </a:p>
        </p:txBody>
      </p:sp>
      <p:sp>
        <p:nvSpPr>
          <p:cNvPr id="10" name="Freeform: Shape 9">
            <a:extLst>
              <a:ext uri="{FF2B5EF4-FFF2-40B4-BE49-F238E27FC236}">
                <a16:creationId xmlns:a16="http://schemas.microsoft.com/office/drawing/2014/main" id="{7F0FAA5D-3950-414F-8178-6F612CCEC657}"/>
              </a:ext>
            </a:extLst>
          </p:cNvPr>
          <p:cNvSpPr/>
          <p:nvPr/>
        </p:nvSpPr>
        <p:spPr>
          <a:xfrm>
            <a:off x="4717884" y="1741639"/>
            <a:ext cx="2762251" cy="2762250"/>
          </a:xfrm>
          <a:custGeom>
            <a:avLst/>
            <a:gdLst>
              <a:gd name="connsiteX0" fmla="*/ 2755651 w 2762251"/>
              <a:gd name="connsiteY0" fmla="*/ 1250436 h 2762250"/>
              <a:gd name="connsiteX1" fmla="*/ 2755653 w 2762251"/>
              <a:gd name="connsiteY1" fmla="*/ 1250446 h 2762250"/>
              <a:gd name="connsiteX2" fmla="*/ 2762251 w 2762251"/>
              <a:gd name="connsiteY2" fmla="*/ 1381125 h 2762250"/>
              <a:gd name="connsiteX3" fmla="*/ 2755653 w 2762251"/>
              <a:gd name="connsiteY3" fmla="*/ 1511804 h 2762250"/>
              <a:gd name="connsiteX4" fmla="*/ 2755651 w 2762251"/>
              <a:gd name="connsiteY4" fmla="*/ 1511814 h 2762250"/>
              <a:gd name="connsiteX5" fmla="*/ 2762250 w 2762251"/>
              <a:gd name="connsiteY5" fmla="*/ 1381125 h 2762250"/>
              <a:gd name="connsiteX6" fmla="*/ 1381125 w 2762251"/>
              <a:gd name="connsiteY6" fmla="*/ 0 h 2762250"/>
              <a:gd name="connsiteX7" fmla="*/ 2755120 w 2762251"/>
              <a:gd name="connsiteY7" fmla="*/ 1239913 h 2762250"/>
              <a:gd name="connsiteX8" fmla="*/ 2755651 w 2762251"/>
              <a:gd name="connsiteY8" fmla="*/ 1250436 h 2762250"/>
              <a:gd name="connsiteX9" fmla="*/ 2736285 w 2762251"/>
              <a:gd name="connsiteY9" fmla="*/ 1123542 h 2762250"/>
              <a:gd name="connsiteX10" fmla="*/ 1484146 w 2762251"/>
              <a:gd name="connsiteY10" fmla="*/ 103020 h 2762250"/>
              <a:gd name="connsiteX11" fmla="*/ 206041 w 2762251"/>
              <a:gd name="connsiteY11" fmla="*/ 1381125 h 2762250"/>
              <a:gd name="connsiteX12" fmla="*/ 1484146 w 2762251"/>
              <a:gd name="connsiteY12" fmla="*/ 2659230 h 2762250"/>
              <a:gd name="connsiteX13" fmla="*/ 2736285 w 2762251"/>
              <a:gd name="connsiteY13" fmla="*/ 1638708 h 2762250"/>
              <a:gd name="connsiteX14" fmla="*/ 2755651 w 2762251"/>
              <a:gd name="connsiteY14" fmla="*/ 1511814 h 2762250"/>
              <a:gd name="connsiteX15" fmla="*/ 2755120 w 2762251"/>
              <a:gd name="connsiteY15" fmla="*/ 1522337 h 2762250"/>
              <a:gd name="connsiteX16" fmla="*/ 1381125 w 2762251"/>
              <a:gd name="connsiteY16" fmla="*/ 2762250 h 2762250"/>
              <a:gd name="connsiteX17" fmla="*/ 0 w 2762251"/>
              <a:gd name="connsiteY17" fmla="*/ 1381125 h 2762250"/>
              <a:gd name="connsiteX18" fmla="*/ 1381125 w 2762251"/>
              <a:gd name="connsiteY18" fmla="*/ 0 h 276225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</a:cxnLst>
            <a:rect l="l" t="t" r="r" b="b"/>
            <a:pathLst>
              <a:path w="2762251" h="2762250">
                <a:moveTo>
                  <a:pt x="2755651" y="1250436"/>
                </a:moveTo>
                <a:lnTo>
                  <a:pt x="2755653" y="1250446"/>
                </a:lnTo>
                <a:cubicBezTo>
                  <a:pt x="2760016" y="1293412"/>
                  <a:pt x="2762251" y="1337008"/>
                  <a:pt x="2762251" y="1381125"/>
                </a:cubicBezTo>
                <a:cubicBezTo>
                  <a:pt x="2762251" y="1425243"/>
                  <a:pt x="2760016" y="1468838"/>
                  <a:pt x="2755653" y="1511804"/>
                </a:cubicBezTo>
                <a:lnTo>
                  <a:pt x="2755651" y="1511814"/>
                </a:lnTo>
                <a:lnTo>
                  <a:pt x="2762250" y="1381125"/>
                </a:lnTo>
                <a:close/>
                <a:moveTo>
                  <a:pt x="1381125" y="0"/>
                </a:moveTo>
                <a:cubicBezTo>
                  <a:pt x="2096226" y="0"/>
                  <a:pt x="2684392" y="543473"/>
                  <a:pt x="2755120" y="1239913"/>
                </a:cubicBezTo>
                <a:lnTo>
                  <a:pt x="2755651" y="1250436"/>
                </a:lnTo>
                <a:lnTo>
                  <a:pt x="2736285" y="1123542"/>
                </a:lnTo>
                <a:cubicBezTo>
                  <a:pt x="2617106" y="541131"/>
                  <a:pt x="2101790" y="103020"/>
                  <a:pt x="1484146" y="103020"/>
                </a:cubicBezTo>
                <a:cubicBezTo>
                  <a:pt x="778268" y="103020"/>
                  <a:pt x="206041" y="675247"/>
                  <a:pt x="206041" y="1381125"/>
                </a:cubicBezTo>
                <a:cubicBezTo>
                  <a:pt x="206041" y="2087003"/>
                  <a:pt x="778268" y="2659230"/>
                  <a:pt x="1484146" y="2659230"/>
                </a:cubicBezTo>
                <a:cubicBezTo>
                  <a:pt x="2101790" y="2659230"/>
                  <a:pt x="2617106" y="2221119"/>
                  <a:pt x="2736285" y="1638708"/>
                </a:cubicBezTo>
                <a:lnTo>
                  <a:pt x="2755651" y="1511814"/>
                </a:lnTo>
                <a:lnTo>
                  <a:pt x="2755120" y="1522337"/>
                </a:lnTo>
                <a:cubicBezTo>
                  <a:pt x="2684392" y="2218778"/>
                  <a:pt x="2096226" y="2762250"/>
                  <a:pt x="1381125" y="2762250"/>
                </a:cubicBezTo>
                <a:cubicBezTo>
                  <a:pt x="618351" y="2762250"/>
                  <a:pt x="0" y="2143899"/>
                  <a:pt x="0" y="1381125"/>
                </a:cubicBezTo>
                <a:cubicBezTo>
                  <a:pt x="0" y="618351"/>
                  <a:pt x="618351" y="0"/>
                  <a:pt x="1381125" y="0"/>
                </a:cubicBezTo>
                <a:close/>
              </a:path>
            </a:pathLst>
          </a:custGeom>
        </p:spPr>
        <p:style>
          <a:lnRef idx="0">
            <a:schemeClr val="accent3"/>
          </a:lnRef>
          <a:fillRef idx="3">
            <a:schemeClr val="accent3"/>
          </a:fillRef>
          <a:effectRef idx="3">
            <a:schemeClr val="accent3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nl-NL"/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D5523F38-46EB-4439-B403-339A9CCB84BD}"/>
              </a:ext>
            </a:extLst>
          </p:cNvPr>
          <p:cNvSpPr txBox="1"/>
          <p:nvPr/>
        </p:nvSpPr>
        <p:spPr>
          <a:xfrm>
            <a:off x="8245642" y="0"/>
            <a:ext cx="3946358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it-IT" u="sng" dirty="0"/>
              <a:t>Lab Measures DB</a:t>
            </a:r>
          </a:p>
        </p:txBody>
      </p:sp>
      <p:cxnSp>
        <p:nvCxnSpPr>
          <p:cNvPr id="3" name="Straight Arrow Connector 2">
            <a:extLst>
              <a:ext uri="{FF2B5EF4-FFF2-40B4-BE49-F238E27FC236}">
                <a16:creationId xmlns:a16="http://schemas.microsoft.com/office/drawing/2014/main" id="{FA02BA0B-1B27-4720-8234-9ED4A43D6ED8}"/>
              </a:ext>
            </a:extLst>
          </p:cNvPr>
          <p:cNvCxnSpPr>
            <a:cxnSpLocks/>
            <a:stCxn id="13" idx="2"/>
            <a:endCxn id="10" idx="17"/>
          </p:cNvCxnSpPr>
          <p:nvPr/>
        </p:nvCxnSpPr>
        <p:spPr>
          <a:xfrm>
            <a:off x="2133600" y="1882849"/>
            <a:ext cx="2584284" cy="1239915"/>
          </a:xfrm>
          <a:prstGeom prst="straightConnector1">
            <a:avLst/>
          </a:prstGeom>
          <a:ln>
            <a:tailEnd type="triangle"/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sp>
        <p:nvSpPr>
          <p:cNvPr id="13" name="TextBox 12">
            <a:extLst>
              <a:ext uri="{FF2B5EF4-FFF2-40B4-BE49-F238E27FC236}">
                <a16:creationId xmlns:a16="http://schemas.microsoft.com/office/drawing/2014/main" id="{480CBE3B-7DBD-4CCB-AA01-92C56653F80D}"/>
              </a:ext>
            </a:extLst>
          </p:cNvPr>
          <p:cNvSpPr txBox="1"/>
          <p:nvPr/>
        </p:nvSpPr>
        <p:spPr>
          <a:xfrm>
            <a:off x="958516" y="959519"/>
            <a:ext cx="2350168" cy="923330"/>
          </a:xfrm>
          <a:prstGeom prst="rect">
            <a:avLst/>
          </a:prstGeom>
          <a:noFill/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pPr algn="ctr"/>
            <a:r>
              <a:rPr lang="it-IT" dirty="0"/>
              <a:t>Patient who has appointment but no lab meas</a:t>
            </a:r>
            <a:endParaRPr lang="nl-NL" dirty="0"/>
          </a:p>
        </p:txBody>
      </p:sp>
    </p:spTree>
    <p:extLst>
      <p:ext uri="{BB962C8B-B14F-4D97-AF65-F5344CB8AC3E}">
        <p14:creationId xmlns:p14="http://schemas.microsoft.com/office/powerpoint/2010/main" val="1747298928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spd="slow">
        <p159:morph option="byObject"/>
      </p:transition>
    </mc:Choice>
    <mc:Fallback xmlns="">
      <p:transition spd="slow">
        <p:fade/>
      </p:transition>
    </mc:Fallback>
  </mc:AlternateContent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4" name="Chart 3">
            <a:extLst>
              <a:ext uri="{FF2B5EF4-FFF2-40B4-BE49-F238E27FC236}">
                <a16:creationId xmlns:a16="http://schemas.microsoft.com/office/drawing/2014/main" id="{1E6EDE02-5888-4D59-B9D2-2A6DB51F3CF2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3490993891"/>
              </p:ext>
            </p:extLst>
          </p:nvPr>
        </p:nvGraphicFramePr>
        <p:xfrm>
          <a:off x="2967579" y="1343386"/>
          <a:ext cx="6256841" cy="4171227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2"/>
          </a:graphicData>
        </a:graphic>
      </p:graphicFrame>
      <p:sp>
        <p:nvSpPr>
          <p:cNvPr id="5" name="TextBox 4">
            <a:extLst>
              <a:ext uri="{FF2B5EF4-FFF2-40B4-BE49-F238E27FC236}">
                <a16:creationId xmlns:a16="http://schemas.microsoft.com/office/drawing/2014/main" id="{2DDB85C5-949E-4452-A569-0502A3BA6778}"/>
              </a:ext>
            </a:extLst>
          </p:cNvPr>
          <p:cNvSpPr txBox="1"/>
          <p:nvPr/>
        </p:nvSpPr>
        <p:spPr>
          <a:xfrm>
            <a:off x="0" y="0"/>
            <a:ext cx="389572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it-IT" u="sng" dirty="0"/>
              <a:t>Eligibility based on agenda codes</a:t>
            </a:r>
            <a:endParaRPr lang="nl-NL" u="sng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6" name="TextBox 5">
                <a:extLst>
                  <a:ext uri="{FF2B5EF4-FFF2-40B4-BE49-F238E27FC236}">
                    <a16:creationId xmlns:a16="http://schemas.microsoft.com/office/drawing/2014/main" id="{E769CF4A-89C6-4175-8EB5-AA434C76692C}"/>
                  </a:ext>
                </a:extLst>
              </p:cNvPr>
              <p:cNvSpPr txBox="1"/>
              <p:nvPr/>
            </p:nvSpPr>
            <p:spPr>
              <a:xfrm>
                <a:off x="3895725" y="1112553"/>
                <a:ext cx="3781425" cy="461665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it-IT" sz="2400" dirty="0"/>
                  <a:t>Agenda </a:t>
                </a:r>
                <a14:m>
                  <m:oMath xmlns:m="http://schemas.openxmlformats.org/officeDocument/2006/math">
                    <m:r>
                      <a:rPr lang="it-IT" sz="240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∩</m:t>
                    </m:r>
                  </m:oMath>
                </a14:m>
                <a:r>
                  <a:rPr lang="nl-NL" sz="2400" dirty="0"/>
                  <a:t> </a:t>
                </a:r>
                <a:r>
                  <a:rPr lang="it-IT" sz="2400" dirty="0"/>
                  <a:t>Lab Measures</a:t>
                </a:r>
                <a:endParaRPr lang="nl-NL" sz="2400" dirty="0"/>
              </a:p>
            </p:txBody>
          </p:sp>
        </mc:Choice>
        <mc:Fallback xmlns="">
          <p:sp>
            <p:nvSpPr>
              <p:cNvPr id="6" name="TextBox 5">
                <a:extLst>
                  <a:ext uri="{FF2B5EF4-FFF2-40B4-BE49-F238E27FC236}">
                    <a16:creationId xmlns:a16="http://schemas.microsoft.com/office/drawing/2014/main" id="{E769CF4A-89C6-4175-8EB5-AA434C76692C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895725" y="1112553"/>
                <a:ext cx="3781425" cy="461665"/>
              </a:xfrm>
              <a:prstGeom prst="rect">
                <a:avLst/>
              </a:prstGeom>
              <a:blipFill>
                <a:blip r:embed="rId3"/>
                <a:stretch>
                  <a:fillRect t="-10667" b="-30667"/>
                </a:stretch>
              </a:blipFill>
            </p:spPr>
            <p:txBody>
              <a:bodyPr/>
              <a:lstStyle/>
              <a:p>
                <a:r>
                  <a:rPr lang="nl-NL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2652313884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spd="slow">
        <p159:morph option="byObject"/>
      </p:transition>
    </mc:Choice>
    <mc:Fallback xmlns="">
      <p:transition spd="slow">
        <p:fade/>
      </p:transition>
    </mc:Fallback>
  </mc:AlternateContent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1109</TotalTime>
  <Words>841</Words>
  <Application>Microsoft Office PowerPoint</Application>
  <PresentationFormat>Widescreen</PresentationFormat>
  <Paragraphs>241</Paragraphs>
  <Slides>44</Slides>
  <Notes>0</Notes>
  <HiddenSlides>20</HiddenSlides>
  <MMClips>0</MMClips>
  <ScaleCrop>false</ScaleCrop>
  <HeadingPairs>
    <vt:vector size="6" baseType="variant">
      <vt:variant>
        <vt:lpstr>Fonts Used</vt:lpstr>
      </vt:variant>
      <vt:variant>
        <vt:i4>6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44</vt:i4>
      </vt:variant>
    </vt:vector>
  </HeadingPairs>
  <TitlesOfParts>
    <vt:vector size="51" baseType="lpstr">
      <vt:lpstr>Arial</vt:lpstr>
      <vt:lpstr>Calibri</vt:lpstr>
      <vt:lpstr>Calibri Light</vt:lpstr>
      <vt:lpstr>Cambria Math</vt:lpstr>
      <vt:lpstr>Gintronic</vt:lpstr>
      <vt:lpstr>Segoe UI</vt:lpstr>
      <vt:lpstr>Office Theme</vt:lpstr>
      <vt:lpstr>Patients</vt:lpstr>
      <vt:lpstr>PowerPoint Presentation</vt:lpstr>
      <vt:lpstr>Afspraken</vt:lpstr>
      <vt:lpstr>PowerPoint Presentation</vt:lpstr>
      <vt:lpstr>Lab Measurements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Medications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Eligibility to LHS</vt:lpstr>
      <vt:lpstr>PowerPoint Presentation</vt:lpstr>
      <vt:lpstr>PowerPoint Presentation</vt:lpstr>
      <vt:lpstr>PowerPoint Presentation</vt:lpstr>
      <vt:lpstr>PowerPoint Presentation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Afspraken</dc:title>
  <dc:creator>Vitale, J. (Jacopo)</dc:creator>
  <cp:lastModifiedBy>Della Morte, D. (David)</cp:lastModifiedBy>
  <cp:revision>79</cp:revision>
  <dcterms:created xsi:type="dcterms:W3CDTF">2024-08-14T11:19:45Z</dcterms:created>
  <dcterms:modified xsi:type="dcterms:W3CDTF">2024-11-11T16:46:34Z</dcterms:modified>
</cp:coreProperties>
</file>