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73" r:id="rId3"/>
    <p:sldId id="256" r:id="rId4"/>
    <p:sldId id="266" r:id="rId5"/>
    <p:sldId id="258" r:id="rId6"/>
    <p:sldId id="280" r:id="rId7"/>
    <p:sldId id="281" r:id="rId8"/>
    <p:sldId id="262" r:id="rId9"/>
    <p:sldId id="260" r:id="rId10"/>
    <p:sldId id="261" r:id="rId11"/>
    <p:sldId id="265" r:id="rId12"/>
    <p:sldId id="264" r:id="rId13"/>
    <p:sldId id="263" r:id="rId14"/>
    <p:sldId id="259" r:id="rId15"/>
    <p:sldId id="274" r:id="rId16"/>
    <p:sldId id="275" r:id="rId17"/>
    <p:sldId id="279" r:id="rId18"/>
    <p:sldId id="278" r:id="rId19"/>
    <p:sldId id="276" r:id="rId20"/>
    <p:sldId id="277" r:id="rId21"/>
    <p:sldId id="268" r:id="rId22"/>
    <p:sldId id="269" r:id="rId23"/>
    <p:sldId id="271" r:id="rId24"/>
    <p:sldId id="272" r:id="rId25"/>
    <p:sldId id="267" r:id="rId2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nl-NL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A67EE-E303-4967-962F-9A28980F7F51}" type="datetimeFigureOut">
              <a:rPr lang="nl-NL" smtClean="0"/>
              <a:t>26-8-2024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567A-7AFB-4BD5-B29D-942703DBBD9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06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566F3-1D76-4AEC-ABE9-AFABCF495913}" type="datetime1">
              <a:rPr lang="nl-NL" smtClean="0"/>
              <a:t>26-8-2024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ED964-D172-498F-BB83-2F7DE2692B37}" type="datetime1">
              <a:rPr lang="nl-NL" smtClean="0"/>
              <a:t>26-8-2024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F72AC-D91D-48F5-81B4-4889AEA39D06}" type="datetime1">
              <a:rPr lang="nl-NL" smtClean="0"/>
              <a:t>26-8-2024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69485-26A9-497C-AD22-BCEA88DF9055}" type="datetime1">
              <a:rPr lang="nl-NL" smtClean="0"/>
              <a:t>26-8-2024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D00C-0C62-40DF-B6FF-B9A70701552F}" type="datetime1">
              <a:rPr lang="nl-NL" smtClean="0"/>
              <a:t>26-8-2024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E9515-DD39-459B-B4EF-789D74C861A5}" type="datetime1">
              <a:rPr lang="nl-NL" smtClean="0"/>
              <a:t>26-8-2024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27954-A76F-4E23-8576-A7D9667CDBCC}" type="datetime1">
              <a:rPr lang="nl-NL" smtClean="0"/>
              <a:t>26-8-2024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17D54-D850-41AA-94F6-0F7316E4F326}" type="datetime1">
              <a:rPr lang="nl-NL" smtClean="0"/>
              <a:t>26-8-2024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6A96E-3739-43D3-93E5-DAA507EA7B79}" type="datetime1">
              <a:rPr lang="nl-NL" smtClean="0"/>
              <a:t>26-8-2024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55A1-B228-4CF1-BFC3-6AC3B8574AC2}" type="datetime1">
              <a:rPr lang="nl-NL" smtClean="0"/>
              <a:t>26-8-2024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EBC58-6519-439D-8982-F0178170B57B}" type="datetime1">
              <a:rPr lang="nl-NL" smtClean="0"/>
              <a:t>26-8-2024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B0748-A22F-4137-ADB1-6D5A09F7B1DF}" type="datetime1">
              <a:rPr lang="nl-NL" smtClean="0"/>
              <a:t>26-8-2024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svg"/><Relationship Id="rId3" Type="http://schemas.openxmlformats.org/officeDocument/2006/relationships/image" Target="../media/image20.svg"/><Relationship Id="rId7" Type="http://schemas.openxmlformats.org/officeDocument/2006/relationships/image" Target="../media/image24.svg"/><Relationship Id="rId12" Type="http://schemas.openxmlformats.org/officeDocument/2006/relationships/image" Target="../media/image2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svg"/><Relationship Id="rId5" Type="http://schemas.openxmlformats.org/officeDocument/2006/relationships/image" Target="../media/image22.sv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122CDA-8054-4F30-AA24-7864527ED42D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Original Chemical Subs distributions</a:t>
            </a:r>
            <a:endParaRPr lang="nl-NL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B614DA-B9E5-44DA-9D9F-C33D5F9B5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538130"/>
            <a:ext cx="11887200" cy="595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86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B4FD1-F66A-46C8-A96B-C6DD32132922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Instrumental Resolutions</a:t>
            </a:r>
            <a:endParaRPr lang="nl-NL" u="sn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FC426F-1024-4721-B560-E6BFB1CE0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925606"/>
              </p:ext>
            </p:extLst>
          </p:nvPr>
        </p:nvGraphicFramePr>
        <p:xfrm>
          <a:off x="1243262" y="903959"/>
          <a:ext cx="9464845" cy="4606498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836214">
                  <a:extLst>
                    <a:ext uri="{9D8B030D-6E8A-4147-A177-3AD203B41FA5}">
                      <a16:colId xmlns:a16="http://schemas.microsoft.com/office/drawing/2014/main" val="2076889326"/>
                    </a:ext>
                  </a:extLst>
                </a:gridCol>
                <a:gridCol w="1418892">
                  <a:extLst>
                    <a:ext uri="{9D8B030D-6E8A-4147-A177-3AD203B41FA5}">
                      <a16:colId xmlns:a16="http://schemas.microsoft.com/office/drawing/2014/main" val="2767547104"/>
                    </a:ext>
                  </a:extLst>
                </a:gridCol>
                <a:gridCol w="1335428">
                  <a:extLst>
                    <a:ext uri="{9D8B030D-6E8A-4147-A177-3AD203B41FA5}">
                      <a16:colId xmlns:a16="http://schemas.microsoft.com/office/drawing/2014/main" val="4204682836"/>
                    </a:ext>
                  </a:extLst>
                </a:gridCol>
                <a:gridCol w="2420462">
                  <a:extLst>
                    <a:ext uri="{9D8B030D-6E8A-4147-A177-3AD203B41FA5}">
                      <a16:colId xmlns:a16="http://schemas.microsoft.com/office/drawing/2014/main" val="4008304797"/>
                    </a:ext>
                  </a:extLst>
                </a:gridCol>
                <a:gridCol w="2453849">
                  <a:extLst>
                    <a:ext uri="{9D8B030D-6E8A-4147-A177-3AD203B41FA5}">
                      <a16:colId xmlns:a16="http://schemas.microsoft.com/office/drawing/2014/main" val="2756115298"/>
                    </a:ext>
                  </a:extLst>
                </a:gridCol>
              </a:tblGrid>
              <a:tr h="354346">
                <a:tc>
                  <a:txBody>
                    <a:bodyPr/>
                    <a:lstStyle/>
                    <a:p>
                      <a:pPr algn="ctr" fontAlgn="ctr"/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unit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healthyRange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instrumentResolutionMin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instrumentResolutionMax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812547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CRP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mg/L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0 - 10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624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213138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3.5 - 6.5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270079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1.10 -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564681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HbA1c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mmol/mol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20 - 42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9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195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566742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Hemoglobine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7.4 - 9.6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772148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Kalium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3.8 - 5.0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8282842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Kreatinine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µmol/L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49 - 90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13000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746684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LDL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0.5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9311022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Natrium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136 - 146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50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1654229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Triglyceriden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0.0 - 2.0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0.17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1330517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eGFR</a:t>
                      </a:r>
                      <a:r>
                        <a:rPr lang="nl-NL" sz="1600" u="none" strike="noStrike" dirty="0">
                          <a:effectLst/>
                        </a:rPr>
                        <a:t> (CKD-EPI)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mL/min/1.73m2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80 -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120218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non-HDL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0.0 - 3.8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 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976823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0C6C2-8A25-4732-ADD4-BBD79F7C8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Ref: https://www.umcutrecht.nl/bepalingenwijzer</a:t>
            </a:r>
          </a:p>
        </p:txBody>
      </p:sp>
    </p:spTree>
    <p:extLst>
      <p:ext uri="{BB962C8B-B14F-4D97-AF65-F5344CB8AC3E}">
        <p14:creationId xmlns:p14="http://schemas.microsoft.com/office/powerpoint/2010/main" val="97610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4625C7-DC4A-4491-AF1E-52984F0470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09"/>
          <a:stretch/>
        </p:blipFill>
        <p:spPr>
          <a:xfrm>
            <a:off x="2424139" y="352927"/>
            <a:ext cx="7343722" cy="650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41D145-8AC1-45C7-8D61-50D4BD1CC9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6458" y="1957137"/>
            <a:ext cx="6005542" cy="36495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8D7C7E-C973-4558-835C-AE7A82ECC7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8" y="1957137"/>
            <a:ext cx="6005542" cy="364958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D21716-6BD7-4A50-9558-0D0C13985C2D}"/>
              </a:ext>
            </a:extLst>
          </p:cNvPr>
          <p:cNvCxnSpPr>
            <a:cxnSpLocks/>
            <a:stCxn id="13" idx="2"/>
            <a:endCxn id="28" idx="7"/>
          </p:cNvCxnSpPr>
          <p:nvPr/>
        </p:nvCxnSpPr>
        <p:spPr>
          <a:xfrm flipH="1">
            <a:off x="1745476" y="1706964"/>
            <a:ext cx="1271553" cy="6181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88E362-09B2-4B0B-BBDE-2EFEFF000F9B}"/>
              </a:ext>
            </a:extLst>
          </p:cNvPr>
          <p:cNvCxnSpPr>
            <a:cxnSpLocks/>
            <a:stCxn id="13" idx="2"/>
            <a:endCxn id="30" idx="1"/>
          </p:cNvCxnSpPr>
          <p:nvPr/>
        </p:nvCxnSpPr>
        <p:spPr>
          <a:xfrm>
            <a:off x="3017029" y="1706964"/>
            <a:ext cx="1532465" cy="797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06D038-F66B-4859-9416-A23E4E34906D}"/>
              </a:ext>
            </a:extLst>
          </p:cNvPr>
          <p:cNvSpPr txBox="1"/>
          <p:nvPr/>
        </p:nvSpPr>
        <p:spPr>
          <a:xfrm>
            <a:off x="1490242" y="1337632"/>
            <a:ext cx="3053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Set to NaN... Imputation?</a:t>
            </a:r>
            <a:endParaRPr lang="nl-N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8F7243-8499-4EB9-8006-57DE1509E5C3}"/>
              </a:ext>
            </a:extLst>
          </p:cNvPr>
          <p:cNvSpPr txBox="1"/>
          <p:nvPr/>
        </p:nvSpPr>
        <p:spPr>
          <a:xfrm>
            <a:off x="8060265" y="1152966"/>
            <a:ext cx="2229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Considered Outliers</a:t>
            </a:r>
            <a:endParaRPr lang="nl-NL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F44B29E-148B-46BB-A8FF-E530EC852232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9175192" y="1522298"/>
            <a:ext cx="1451811" cy="11084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6788B4-CBEF-49A2-B29F-3DAC5165F805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7955994" y="1522298"/>
            <a:ext cx="1219198" cy="12127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5D3BB183-A2CA-46A2-B9C3-ADAE972B9027}"/>
              </a:ext>
            </a:extLst>
          </p:cNvPr>
          <p:cNvSpPr/>
          <p:nvPr/>
        </p:nvSpPr>
        <p:spPr>
          <a:xfrm>
            <a:off x="1444235" y="2056559"/>
            <a:ext cx="352926" cy="183365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FC1405A-A1FB-4B7D-A729-6F366D78F1F5}"/>
              </a:ext>
            </a:extLst>
          </p:cNvPr>
          <p:cNvSpPr/>
          <p:nvPr/>
        </p:nvSpPr>
        <p:spPr>
          <a:xfrm>
            <a:off x="4497809" y="2056558"/>
            <a:ext cx="352926" cy="3060874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/>
          <p:nvPr/>
        </p:nvCxnSpPr>
        <p:spPr>
          <a:xfrm>
            <a:off x="344905" y="4868779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2310061" y="458804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/>
          <p:nvPr/>
        </p:nvCxnSpPr>
        <p:spPr>
          <a:xfrm>
            <a:off x="351141" y="389021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2181726" y="3609474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/>
          <p:nvPr/>
        </p:nvCxnSpPr>
        <p:spPr>
          <a:xfrm>
            <a:off x="3376752" y="5219798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166A446-0273-44CD-8582-FA57872289AC}"/>
              </a:ext>
            </a:extLst>
          </p:cNvPr>
          <p:cNvSpPr txBox="1"/>
          <p:nvPr/>
        </p:nvSpPr>
        <p:spPr>
          <a:xfrm>
            <a:off x="5624542" y="503513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/>
          <p:nvPr/>
        </p:nvCxnSpPr>
        <p:spPr>
          <a:xfrm>
            <a:off x="3382988" y="511278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9388AA8-1909-4DBD-B882-1AB427F2771E}"/>
              </a:ext>
            </a:extLst>
          </p:cNvPr>
          <p:cNvSpPr txBox="1"/>
          <p:nvPr/>
        </p:nvSpPr>
        <p:spPr>
          <a:xfrm>
            <a:off x="5566173" y="4796958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CF186115-EF21-4E45-BA1A-F7A01B55B725}"/>
              </a:ext>
            </a:extLst>
          </p:cNvPr>
          <p:cNvSpPr/>
          <p:nvPr/>
        </p:nvSpPr>
        <p:spPr>
          <a:xfrm>
            <a:off x="5654279" y="3364185"/>
            <a:ext cx="1094205" cy="369332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946F1D0-67D6-45FC-AEDB-3F765ADB089F}"/>
              </a:ext>
            </a:extLst>
          </p:cNvPr>
          <p:cNvSpPr/>
          <p:nvPr/>
        </p:nvSpPr>
        <p:spPr>
          <a:xfrm>
            <a:off x="1444235" y="4886330"/>
            <a:ext cx="352926" cy="47386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CA64AE-70C0-46DC-9DE0-3BD016877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014" y="2125452"/>
            <a:ext cx="7249970" cy="44058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3727A-AEE6-4E01-9A07-195FB57628BF}"/>
              </a:ext>
            </a:extLst>
          </p:cNvPr>
          <p:cNvSpPr txBox="1"/>
          <p:nvPr/>
        </p:nvSpPr>
        <p:spPr>
          <a:xfrm>
            <a:off x="2709862" y="811929"/>
            <a:ext cx="67722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dirty="0"/>
              <a:t>Replaced with Mean value </a:t>
            </a:r>
          </a:p>
          <a:p>
            <a:pPr algn="ctr"/>
            <a:r>
              <a:rPr lang="it-IT" sz="2400" dirty="0"/>
              <a:t>if </a:t>
            </a:r>
          </a:p>
          <a:p>
            <a:pPr algn="ctr"/>
            <a:r>
              <a:rPr lang="it-IT" sz="2400" dirty="0"/>
              <a:t>|BP</a:t>
            </a:r>
            <a:r>
              <a:rPr lang="it-IT" sz="2400" baseline="-25000" dirty="0"/>
              <a:t>Sys,Dia</a:t>
            </a:r>
            <a:r>
              <a:rPr lang="it-IT" sz="2400" dirty="0"/>
              <a:t>| </a:t>
            </a:r>
            <a:r>
              <a:rPr lang="nl-NL" sz="2400" dirty="0"/>
              <a:t>&lt; 3·</a:t>
            </a:r>
            <a:r>
              <a:rPr lang="el-GR" sz="2400" dirty="0"/>
              <a:t>σ</a:t>
            </a: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</TotalTime>
  <Words>347</Words>
  <Application>Microsoft Office PowerPoint</Application>
  <PresentationFormat>Widescreen</PresentationFormat>
  <Paragraphs>122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Gintronic</vt:lpstr>
      <vt:lpstr>Segoe UI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35</cp:revision>
  <dcterms:created xsi:type="dcterms:W3CDTF">2024-08-14T11:19:45Z</dcterms:created>
  <dcterms:modified xsi:type="dcterms:W3CDTF">2024-08-26T15:24:32Z</dcterms:modified>
</cp:coreProperties>
</file>