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3" r:id="rId3"/>
    <p:sldId id="256" r:id="rId4"/>
    <p:sldId id="266" r:id="rId5"/>
    <p:sldId id="258" r:id="rId6"/>
    <p:sldId id="262" r:id="rId7"/>
    <p:sldId id="260" r:id="rId8"/>
    <p:sldId id="261" r:id="rId9"/>
    <p:sldId id="265" r:id="rId10"/>
    <p:sldId id="264" r:id="rId11"/>
    <p:sldId id="263" r:id="rId12"/>
    <p:sldId id="259" r:id="rId13"/>
    <p:sldId id="274" r:id="rId14"/>
    <p:sldId id="268" r:id="rId15"/>
    <p:sldId id="269" r:id="rId16"/>
    <p:sldId id="271" r:id="rId17"/>
    <p:sldId id="272" r:id="rId18"/>
    <p:sldId id="267" r:id="rId1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 DB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78F-4D1A-B53E-33D64C00E42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78F-4D1A-B53E-33D64C00E4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nl-N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Eligible</c:v>
                </c:pt>
                <c:pt idx="1">
                  <c:v>Neligible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2"/>
                <c:pt idx="0">
                  <c:v>0.20328102710413695</c:v>
                </c:pt>
                <c:pt idx="1">
                  <c:v>0.79671897289586302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7F-49CF-93C6-9D708D3574D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48AC-B287-41CA-B47D-67A620FCF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A617D-8CDC-4F65-9390-74CB821F9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8C5F7-6F60-4F27-9F59-7785DBA2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DCB6A-D323-4354-B7D4-9467AF69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01AE-19F8-4663-9CE5-05DDFF71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5657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B29B-76F2-435B-8F9B-E4A2D217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97678-D29D-4E25-93FC-8B4938B3E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F8ED1-C23D-4429-BFB5-AD2DC235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C219-EA01-42FA-AC79-20C9BBBF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6E373-602B-42F2-9544-22BDA84A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1517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4D96-94D4-4752-B9E6-24AE8CA4B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FCD03-CFB3-41EE-966A-80E195415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E3FEE-6205-4B95-B947-1CD57C07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5C6CB-9F43-4A9A-8BDF-5E361E3C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CE6F9-9336-435B-99C4-1B2C3760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7669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E04E1-BECD-4F8D-9AEA-3E1FBBF13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62AE8-0F1C-40A4-9933-C2C6445D6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CC6A3-60D3-4F49-8134-9555DD8F7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23EEF-B2AF-4007-A0CC-6A04FCC6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186E3-2EAF-45FC-9D3B-5DB8A774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A7C7D-5BF9-414E-A909-E02CE39DF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773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ED87-5DBC-4105-B8D2-62F6369D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12741-98B6-45BE-9238-3AB9286E6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08037-93F8-4100-8D8B-802899C17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B42F52-1159-4498-A10F-670837787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0DDDA-D0F2-46C1-9333-7C8A9ECFA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5AE4ED-6327-4310-8F14-2B226688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0153B-CC0F-48D1-83E4-C86DF6CA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802443-BB47-4A86-990E-F2DAFE68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0520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51E0-850D-45CE-80D0-E1526BC0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64787-DB4C-476C-9ABE-CBE11FC2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0C689-1691-4A79-8F79-1765F66F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F9125-8AA4-4357-942F-E0D512E3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5343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26473B-8E52-4970-8EFE-BB7A7795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14C28-DA8C-41E4-99ED-CD4A4AB2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3173E-2575-432C-ADB6-4EE7AA57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8428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016D-CA79-4B99-9DA5-91C8716E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F824F-7392-41A8-9386-EBABEA33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98C4A-C3D9-49EE-BEF4-44B0A1718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D8747-C1DE-4DAA-8C5A-D16BBDE2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386BB-D6D2-4031-9E57-70FB88EF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8E8E8-9918-44B4-9FEF-4D7E7D5C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9423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9765-CB30-4E25-86E7-F361531C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9B116-C0FF-4B02-AD1A-8A08E6CD6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BC79-9573-4E4A-91B1-F0B96BC08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E7554-64CA-41FE-90D3-147D0A7A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36275-3860-47B0-95E5-E47CE66A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DFAFA-428F-4700-8922-3B8EF95F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7984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A495-6C31-41FF-A4B0-020E8B28B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9B0F3-43F5-4FD4-8122-5CBA293A7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5225E-CE43-4540-AFFC-AAF04C8F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C101D-B292-40F4-8464-2A879648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5A11-C444-49FD-B50B-F582B0FB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3210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01D48E-E891-4B7D-AFD4-9AAF8E626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37D1B-0094-47DD-B9AD-31C8CA042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1E101-668E-4BC7-A4CA-5313C7DB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AB8E-FB2E-4D6E-8154-57D43887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A07D3-3567-41F1-8DAB-8F2C583D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175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2EC7E0-AED4-42A9-B7C8-1C8A30363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DD091-A0BD-4098-8CBF-4B3778A48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A2CE4-233C-4F57-A4A0-CBB695AC8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86422-5540-4AA8-A2A3-FD24E383623F}" type="datetimeFigureOut">
              <a:rPr lang="nl-NL" smtClean="0"/>
              <a:t>23-8-2024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E4AEF-05F3-4A58-BDBD-A8927D090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EA39C-A23D-4EEC-9C8A-0F53C0465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C3C21-509A-4348-9AB0-64B0840D363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475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23D3-032D-4C20-8F5B-1840BC892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Patients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70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A7B6BB-C9E7-42BB-9046-E7EF2AC5E8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73" t="6127" r="2358" b="15388"/>
          <a:stretch/>
        </p:blipFill>
        <p:spPr>
          <a:xfrm>
            <a:off x="561472" y="894345"/>
            <a:ext cx="4427621" cy="373780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652BC0-FD39-45D2-8A89-277F3528032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42" t="1790" r="19895" b="9508"/>
          <a:stretch/>
        </p:blipFill>
        <p:spPr>
          <a:xfrm>
            <a:off x="6096000" y="894345"/>
            <a:ext cx="5534528" cy="4765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91A7E8-B31F-4EB2-A136-C957064F6D69}"/>
              </a:ext>
            </a:extLst>
          </p:cNvPr>
          <p:cNvSpPr txBox="1"/>
          <p:nvPr/>
        </p:nvSpPr>
        <p:spPr>
          <a:xfrm>
            <a:off x="0" y="0"/>
            <a:ext cx="254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Patient ∩ Lab Meas</a:t>
            </a:r>
            <a:endParaRPr lang="nl-NL" u="sng" dirty="0"/>
          </a:p>
        </p:txBody>
      </p:sp>
    </p:spTree>
    <p:extLst>
      <p:ext uri="{BB962C8B-B14F-4D97-AF65-F5344CB8AC3E}">
        <p14:creationId xmlns:p14="http://schemas.microsoft.com/office/powerpoint/2010/main" val="2129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23D3-032D-4C20-8F5B-1840BC892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Afspraken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42301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C70155-7B24-4064-B0C3-5EEA6027BB53}"/>
              </a:ext>
            </a:extLst>
          </p:cNvPr>
          <p:cNvSpPr txBox="1"/>
          <p:nvPr/>
        </p:nvSpPr>
        <p:spPr>
          <a:xfrm>
            <a:off x="0" y="0"/>
            <a:ext cx="4002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Appointment Code to be in the LHS</a:t>
            </a:r>
            <a:endParaRPr lang="nl-NL" u="sn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26DC9C-B1EF-49B7-8DDB-0DD4D517C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464091"/>
              </p:ext>
            </p:extLst>
          </p:nvPr>
        </p:nvGraphicFramePr>
        <p:xfrm>
          <a:off x="1141663" y="2493276"/>
          <a:ext cx="4064000" cy="1871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82513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16798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CODE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OLD CODE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18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NALG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NFALG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185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NGEH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NFGEH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749231"/>
                  </a:ext>
                </a:extLst>
              </a:tr>
              <a:tr h="388085">
                <a:tc>
                  <a:txBody>
                    <a:bodyPr/>
                    <a:lstStyle/>
                    <a:p>
                      <a:r>
                        <a:rPr lang="it-IT" dirty="0"/>
                        <a:t>NVCMI+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NFVMI+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84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NVAL+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NFVAL+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656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04C170-6B5B-4F31-8C8D-F2DB0D2EBAEF}"/>
              </a:ext>
            </a:extLst>
          </p:cNvPr>
          <p:cNvSpPr txBox="1"/>
          <p:nvPr/>
        </p:nvSpPr>
        <p:spPr>
          <a:xfrm>
            <a:off x="5791200" y="2828833"/>
            <a:ext cx="5550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4 out of 26 codes are for eligible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Inclusion doesn’t take into account haematochemicals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Inclusion doesn’t take into account the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Better clusterize?</a:t>
            </a:r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49981-8A26-4A9C-9403-D321C871732D}"/>
              </a:ext>
            </a:extLst>
          </p:cNvPr>
          <p:cNvSpPr/>
          <p:nvPr/>
        </p:nvSpPr>
        <p:spPr>
          <a:xfrm>
            <a:off x="292768" y="685073"/>
            <a:ext cx="11606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nl-NL" dirty="0">
                <a:latin typeface="Gintronic"/>
              </a:rPr>
              <a:t>'NFFRAC’,'NFPOS’,'NFALG’,'NONCO’,'NFVPVAL', 'NFVAL+', 'NFOST', 'NFNEF', 'NFGEHPSO', 'NFPSO', 'NF', 'NPOSK', 'NFVPGEH', 'NTC', 'NFGEH', 'NFPSOVMI', 'NTCPOS', 'NFVMI+', 'NFVPVMI', 'NFSP', 'TCN', 'NSPOS', 'NFSOGEH', 'NS', 'STSN', 'NSCREEN'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1137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23D3-032D-4C20-8F5B-1840BC892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Lab Measurements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87888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47F34C-2231-469A-9B11-AA44AE7D7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496"/>
            <a:ext cx="12192000" cy="5789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0CC955-9822-4C97-8EA5-CCA925BF2200}"/>
              </a:ext>
            </a:extLst>
          </p:cNvPr>
          <p:cNvSpPr txBox="1"/>
          <p:nvPr/>
        </p:nvSpPr>
        <p:spPr>
          <a:xfrm>
            <a:off x="0" y="2009"/>
            <a:ext cx="3430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Missing Values</a:t>
            </a:r>
            <a:endParaRPr lang="nl-NL" u="sng" dirty="0"/>
          </a:p>
        </p:txBody>
      </p:sp>
    </p:spTree>
    <p:extLst>
      <p:ext uri="{BB962C8B-B14F-4D97-AF65-F5344CB8AC3E}">
        <p14:creationId xmlns:p14="http://schemas.microsoft.com/office/powerpoint/2010/main" val="277145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52414F87-F631-4D89-AA4B-5432D5006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5099" y="3299436"/>
            <a:ext cx="4394477" cy="3299436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68FD5771-5A2A-484D-A31C-D9D6B4711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424" y="3299436"/>
            <a:ext cx="4394477" cy="3299436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666AFF7-F3EA-45A7-9012-B02B8CF61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4104" y="0"/>
            <a:ext cx="4394477" cy="3299436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BC051BED-6050-4585-8170-AF9657F7F5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56901" y="0"/>
            <a:ext cx="4394477" cy="3299436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C29D5F6-41B5-4C6C-A664-E5758A4113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99699" y="0"/>
            <a:ext cx="4394477" cy="3299436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E40859BE-F25B-48B1-B7CF-10C7F1E45D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657503" y="0"/>
            <a:ext cx="4394477" cy="329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64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104F63A-8305-48CC-A7C8-38D27F499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860" y="3300410"/>
            <a:ext cx="4471895" cy="335756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68B9AC6-63AF-4D04-8412-F617E4BD1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5392" y="3300411"/>
            <a:ext cx="4471895" cy="335756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67BD1E4-1078-48C8-A0CC-A8F92079F4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6461" y="0"/>
            <a:ext cx="4471895" cy="335756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FBB4D53-4F61-4420-B2EA-5DBB2190FB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5166" y="0"/>
            <a:ext cx="4471895" cy="33575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947BBB5-44C5-48CF-969E-441FAF4420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14940" y="0"/>
            <a:ext cx="4471895" cy="335756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C69359F-A5B2-4EC6-BD2E-74DFBA522C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859675" y="-28577"/>
            <a:ext cx="4471895" cy="33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66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D4D3CB-2C2F-4524-B868-41FAEA9F0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97" y="2219156"/>
            <a:ext cx="4163006" cy="2419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14EC3D-B477-4A30-911C-BD0F244670E3}"/>
              </a:ext>
            </a:extLst>
          </p:cNvPr>
          <p:cNvSpPr txBox="1"/>
          <p:nvPr/>
        </p:nvSpPr>
        <p:spPr>
          <a:xfrm>
            <a:off x="0" y="0"/>
            <a:ext cx="228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MICE Forest</a:t>
            </a:r>
            <a:endParaRPr lang="nl-NL" u="sng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2FC79F2-6630-4E33-A4C3-8D9A42B46FEF}"/>
              </a:ext>
            </a:extLst>
          </p:cNvPr>
          <p:cNvSpPr/>
          <p:nvPr/>
        </p:nvSpPr>
        <p:spPr>
          <a:xfrm rot="4638552">
            <a:off x="7604369" y="3141785"/>
            <a:ext cx="140677" cy="1742831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A6ACB-2D2C-4E4F-96F1-0D3837C836FC}"/>
              </a:ext>
            </a:extLst>
          </p:cNvPr>
          <p:cNvSpPr txBox="1"/>
          <p:nvPr/>
        </p:nvSpPr>
        <p:spPr>
          <a:xfrm>
            <a:off x="8519452" y="3476396"/>
            <a:ext cx="2360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Gradient Boosting</a:t>
            </a:r>
          </a:p>
          <a:p>
            <a:r>
              <a:rPr lang="it-IT" dirty="0"/>
              <a:t>Decision Trees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20443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9EC944-F65A-4355-9EE4-D17542B2E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432"/>
            <a:ext cx="12192000" cy="5753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55110-826E-47CF-A5A8-A85A55A8AEE0}"/>
              </a:ext>
            </a:extLst>
          </p:cNvPr>
          <p:cNvSpPr txBox="1"/>
          <p:nvPr/>
        </p:nvSpPr>
        <p:spPr>
          <a:xfrm>
            <a:off x="0" y="-5807"/>
            <a:ext cx="252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Imputed Values</a:t>
            </a:r>
            <a:endParaRPr lang="nl-NL" u="sng" dirty="0"/>
          </a:p>
        </p:txBody>
      </p:sp>
    </p:spTree>
    <p:extLst>
      <p:ext uri="{BB962C8B-B14F-4D97-AF65-F5344CB8AC3E}">
        <p14:creationId xmlns:p14="http://schemas.microsoft.com/office/powerpoint/2010/main" val="1759352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962B23-E15F-4BCF-9983-5A40DD11E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65" y="214923"/>
            <a:ext cx="8570870" cy="64281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E0656D-44CA-4A22-BC1D-23F23E963B16}"/>
              </a:ext>
            </a:extLst>
          </p:cNvPr>
          <p:cNvSpPr txBox="1"/>
          <p:nvPr/>
        </p:nvSpPr>
        <p:spPr>
          <a:xfrm>
            <a:off x="0" y="0"/>
            <a:ext cx="228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MICE Forest</a:t>
            </a:r>
            <a:endParaRPr lang="nl-NL" u="sng" dirty="0"/>
          </a:p>
        </p:txBody>
      </p:sp>
    </p:spTree>
    <p:extLst>
      <p:ext uri="{BB962C8B-B14F-4D97-AF65-F5344CB8AC3E}">
        <p14:creationId xmlns:p14="http://schemas.microsoft.com/office/powerpoint/2010/main" val="1608275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23D3-032D-4C20-8F5B-1840BC892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Medications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7856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79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2523-2057-44B4-9FB1-A3B7126F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Eligibility to LHS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685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4F9682-BC94-4EF7-B59C-7F339EBAD685}"/>
              </a:ext>
            </a:extLst>
          </p:cNvPr>
          <p:cNvSpPr txBox="1"/>
          <p:nvPr/>
        </p:nvSpPr>
        <p:spPr>
          <a:xfrm>
            <a:off x="0" y="0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Afspraken DB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E904B1F-4ED8-416C-A086-E6529D5565A8}"/>
              </a:ext>
            </a:extLst>
          </p:cNvPr>
          <p:cNvGrpSpPr/>
          <p:nvPr/>
        </p:nvGrpSpPr>
        <p:grpSpPr>
          <a:xfrm>
            <a:off x="1973179" y="1741640"/>
            <a:ext cx="2762250" cy="3374720"/>
            <a:chOff x="1944604" y="1803095"/>
            <a:chExt cx="2762250" cy="33747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D9424F-73E8-44E7-BE2B-0983785925DE}"/>
                </a:ext>
              </a:extLst>
            </p:cNvPr>
            <p:cNvSpPr txBox="1"/>
            <p:nvPr/>
          </p:nvSpPr>
          <p:spPr>
            <a:xfrm>
              <a:off x="2150645" y="4808483"/>
              <a:ext cx="235016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4435 patients records</a:t>
              </a:r>
              <a:endParaRPr lang="nl-NL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4B023E9-86D6-4B7C-B948-43D4B9C4890F}"/>
                </a:ext>
              </a:extLst>
            </p:cNvPr>
            <p:cNvSpPr/>
            <p:nvPr/>
          </p:nvSpPr>
          <p:spPr>
            <a:xfrm>
              <a:off x="1944604" y="1803095"/>
              <a:ext cx="2762250" cy="276225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D3A9A0-2489-4D82-A634-95332E6C96A1}"/>
              </a:ext>
            </a:extLst>
          </p:cNvPr>
          <p:cNvGrpSpPr/>
          <p:nvPr/>
        </p:nvGrpSpPr>
        <p:grpSpPr>
          <a:xfrm>
            <a:off x="7782929" y="1844660"/>
            <a:ext cx="2556209" cy="3271700"/>
            <a:chOff x="2150644" y="2009135"/>
            <a:chExt cx="2556209" cy="32717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B8A1FF-34D3-4172-A7C9-8D2FE1ACE8A4}"/>
                </a:ext>
              </a:extLst>
            </p:cNvPr>
            <p:cNvSpPr txBox="1"/>
            <p:nvPr/>
          </p:nvSpPr>
          <p:spPr>
            <a:xfrm>
              <a:off x="2253664" y="4911503"/>
              <a:ext cx="235016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4206 patients records</a:t>
              </a:r>
              <a:endParaRPr lang="nl-NL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CF602D0-F806-4700-9C47-0F278131D424}"/>
                </a:ext>
              </a:extLst>
            </p:cNvPr>
            <p:cNvSpPr/>
            <p:nvPr/>
          </p:nvSpPr>
          <p:spPr>
            <a:xfrm>
              <a:off x="2150644" y="2009135"/>
              <a:ext cx="2556209" cy="2556209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5523F38-46EB-4439-B403-339A9CCB84BD}"/>
              </a:ext>
            </a:extLst>
          </p:cNvPr>
          <p:cNvSpPr txBox="1"/>
          <p:nvPr/>
        </p:nvSpPr>
        <p:spPr>
          <a:xfrm>
            <a:off x="8245642" y="0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u="sng" dirty="0"/>
              <a:t>Lab Measures DB</a:t>
            </a:r>
          </a:p>
        </p:txBody>
      </p:sp>
    </p:spTree>
    <p:extLst>
      <p:ext uri="{BB962C8B-B14F-4D97-AF65-F5344CB8AC3E}">
        <p14:creationId xmlns:p14="http://schemas.microsoft.com/office/powerpoint/2010/main" val="2641032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4F9682-BC94-4EF7-B59C-7F339EBAD685}"/>
              </a:ext>
            </a:extLst>
          </p:cNvPr>
          <p:cNvSpPr txBox="1"/>
          <p:nvPr/>
        </p:nvSpPr>
        <p:spPr>
          <a:xfrm>
            <a:off x="0" y="0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Afspraken DB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E904B1F-4ED8-416C-A086-E6529D5565A8}"/>
              </a:ext>
            </a:extLst>
          </p:cNvPr>
          <p:cNvGrpSpPr/>
          <p:nvPr/>
        </p:nvGrpSpPr>
        <p:grpSpPr>
          <a:xfrm>
            <a:off x="4714875" y="1741640"/>
            <a:ext cx="2762250" cy="3374720"/>
            <a:chOff x="1944604" y="1803095"/>
            <a:chExt cx="2762250" cy="33747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D9424F-73E8-44E7-BE2B-0983785925DE}"/>
                </a:ext>
              </a:extLst>
            </p:cNvPr>
            <p:cNvSpPr txBox="1"/>
            <p:nvPr/>
          </p:nvSpPr>
          <p:spPr>
            <a:xfrm>
              <a:off x="2150645" y="4808483"/>
              <a:ext cx="2350168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4206 Patients</a:t>
              </a:r>
              <a:endParaRPr lang="nl-NL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4B023E9-86D6-4B7C-B948-43D4B9C4890F}"/>
                </a:ext>
              </a:extLst>
            </p:cNvPr>
            <p:cNvSpPr/>
            <p:nvPr/>
          </p:nvSpPr>
          <p:spPr>
            <a:xfrm>
              <a:off x="1944604" y="1803095"/>
              <a:ext cx="2762250" cy="276225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ACF602D0-F806-4700-9C47-0F278131D424}"/>
              </a:ext>
            </a:extLst>
          </p:cNvPr>
          <p:cNvSpPr/>
          <p:nvPr/>
        </p:nvSpPr>
        <p:spPr>
          <a:xfrm>
            <a:off x="4923925" y="1844660"/>
            <a:ext cx="2556209" cy="255620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23F38-46EB-4439-B403-339A9CCB84BD}"/>
              </a:ext>
            </a:extLst>
          </p:cNvPr>
          <p:cNvSpPr txBox="1"/>
          <p:nvPr/>
        </p:nvSpPr>
        <p:spPr>
          <a:xfrm>
            <a:off x="8245642" y="0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u="sng" dirty="0"/>
              <a:t>Lab Measures DB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02BA0B-1B27-4720-8234-9ED4A43D6ED8}"/>
              </a:ext>
            </a:extLst>
          </p:cNvPr>
          <p:cNvCxnSpPr/>
          <p:nvPr/>
        </p:nvCxnSpPr>
        <p:spPr>
          <a:xfrm flipH="1">
            <a:off x="6286500" y="1933575"/>
            <a:ext cx="2171700" cy="1181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0CBE3B-7DBD-4CCB-AA01-92C56653F80D}"/>
              </a:ext>
            </a:extLst>
          </p:cNvPr>
          <p:cNvSpPr txBox="1"/>
          <p:nvPr/>
        </p:nvSpPr>
        <p:spPr>
          <a:xfrm>
            <a:off x="8064166" y="1521494"/>
            <a:ext cx="2350168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/>
              <a:t>Patient who has lab meas is kept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4121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4F9682-BC94-4EF7-B59C-7F339EBAD685}"/>
              </a:ext>
            </a:extLst>
          </p:cNvPr>
          <p:cNvSpPr txBox="1"/>
          <p:nvPr/>
        </p:nvSpPr>
        <p:spPr>
          <a:xfrm>
            <a:off x="0" y="0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Afspraken DB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9424F-73E8-44E7-BE2B-0983785925DE}"/>
              </a:ext>
            </a:extLst>
          </p:cNvPr>
          <p:cNvSpPr txBox="1"/>
          <p:nvPr/>
        </p:nvSpPr>
        <p:spPr>
          <a:xfrm>
            <a:off x="4920916" y="4747028"/>
            <a:ext cx="235016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/>
              <a:t>229 Patients</a:t>
            </a:r>
            <a:endParaRPr lang="nl-NL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0FAA5D-3950-414F-8178-6F612CCEC657}"/>
              </a:ext>
            </a:extLst>
          </p:cNvPr>
          <p:cNvSpPr/>
          <p:nvPr/>
        </p:nvSpPr>
        <p:spPr>
          <a:xfrm>
            <a:off x="4717884" y="1741639"/>
            <a:ext cx="2762251" cy="2762250"/>
          </a:xfrm>
          <a:custGeom>
            <a:avLst/>
            <a:gdLst>
              <a:gd name="connsiteX0" fmla="*/ 2755651 w 2762251"/>
              <a:gd name="connsiteY0" fmla="*/ 1250436 h 2762250"/>
              <a:gd name="connsiteX1" fmla="*/ 2755653 w 2762251"/>
              <a:gd name="connsiteY1" fmla="*/ 1250446 h 2762250"/>
              <a:gd name="connsiteX2" fmla="*/ 2762251 w 2762251"/>
              <a:gd name="connsiteY2" fmla="*/ 1381125 h 2762250"/>
              <a:gd name="connsiteX3" fmla="*/ 2755653 w 2762251"/>
              <a:gd name="connsiteY3" fmla="*/ 1511804 h 2762250"/>
              <a:gd name="connsiteX4" fmla="*/ 2755651 w 2762251"/>
              <a:gd name="connsiteY4" fmla="*/ 1511814 h 2762250"/>
              <a:gd name="connsiteX5" fmla="*/ 2762250 w 2762251"/>
              <a:gd name="connsiteY5" fmla="*/ 1381125 h 2762250"/>
              <a:gd name="connsiteX6" fmla="*/ 1381125 w 2762251"/>
              <a:gd name="connsiteY6" fmla="*/ 0 h 2762250"/>
              <a:gd name="connsiteX7" fmla="*/ 2755120 w 2762251"/>
              <a:gd name="connsiteY7" fmla="*/ 1239913 h 2762250"/>
              <a:gd name="connsiteX8" fmla="*/ 2755651 w 2762251"/>
              <a:gd name="connsiteY8" fmla="*/ 1250436 h 2762250"/>
              <a:gd name="connsiteX9" fmla="*/ 2736285 w 2762251"/>
              <a:gd name="connsiteY9" fmla="*/ 1123542 h 2762250"/>
              <a:gd name="connsiteX10" fmla="*/ 1484146 w 2762251"/>
              <a:gd name="connsiteY10" fmla="*/ 103020 h 2762250"/>
              <a:gd name="connsiteX11" fmla="*/ 206041 w 2762251"/>
              <a:gd name="connsiteY11" fmla="*/ 1381125 h 2762250"/>
              <a:gd name="connsiteX12" fmla="*/ 1484146 w 2762251"/>
              <a:gd name="connsiteY12" fmla="*/ 2659230 h 2762250"/>
              <a:gd name="connsiteX13" fmla="*/ 2736285 w 2762251"/>
              <a:gd name="connsiteY13" fmla="*/ 1638708 h 2762250"/>
              <a:gd name="connsiteX14" fmla="*/ 2755651 w 2762251"/>
              <a:gd name="connsiteY14" fmla="*/ 1511814 h 2762250"/>
              <a:gd name="connsiteX15" fmla="*/ 2755120 w 2762251"/>
              <a:gd name="connsiteY15" fmla="*/ 1522337 h 2762250"/>
              <a:gd name="connsiteX16" fmla="*/ 1381125 w 2762251"/>
              <a:gd name="connsiteY16" fmla="*/ 2762250 h 2762250"/>
              <a:gd name="connsiteX17" fmla="*/ 0 w 2762251"/>
              <a:gd name="connsiteY17" fmla="*/ 1381125 h 2762250"/>
              <a:gd name="connsiteX18" fmla="*/ 1381125 w 2762251"/>
              <a:gd name="connsiteY18" fmla="*/ 0 h 276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62251" h="2762250">
                <a:moveTo>
                  <a:pt x="2755651" y="1250436"/>
                </a:moveTo>
                <a:lnTo>
                  <a:pt x="2755653" y="1250446"/>
                </a:lnTo>
                <a:cubicBezTo>
                  <a:pt x="2760016" y="1293412"/>
                  <a:pt x="2762251" y="1337008"/>
                  <a:pt x="2762251" y="1381125"/>
                </a:cubicBezTo>
                <a:cubicBezTo>
                  <a:pt x="2762251" y="1425243"/>
                  <a:pt x="2760016" y="1468838"/>
                  <a:pt x="2755653" y="1511804"/>
                </a:cubicBezTo>
                <a:lnTo>
                  <a:pt x="2755651" y="1511814"/>
                </a:lnTo>
                <a:lnTo>
                  <a:pt x="2762250" y="1381125"/>
                </a:lnTo>
                <a:close/>
                <a:moveTo>
                  <a:pt x="1381125" y="0"/>
                </a:moveTo>
                <a:cubicBezTo>
                  <a:pt x="2096226" y="0"/>
                  <a:pt x="2684392" y="543473"/>
                  <a:pt x="2755120" y="1239913"/>
                </a:cubicBezTo>
                <a:lnTo>
                  <a:pt x="2755651" y="1250436"/>
                </a:lnTo>
                <a:lnTo>
                  <a:pt x="2736285" y="1123542"/>
                </a:lnTo>
                <a:cubicBezTo>
                  <a:pt x="2617106" y="541131"/>
                  <a:pt x="2101790" y="103020"/>
                  <a:pt x="1484146" y="103020"/>
                </a:cubicBezTo>
                <a:cubicBezTo>
                  <a:pt x="778268" y="103020"/>
                  <a:pt x="206041" y="675247"/>
                  <a:pt x="206041" y="1381125"/>
                </a:cubicBezTo>
                <a:cubicBezTo>
                  <a:pt x="206041" y="2087003"/>
                  <a:pt x="778268" y="2659230"/>
                  <a:pt x="1484146" y="2659230"/>
                </a:cubicBezTo>
                <a:cubicBezTo>
                  <a:pt x="2101790" y="2659230"/>
                  <a:pt x="2617106" y="2221119"/>
                  <a:pt x="2736285" y="1638708"/>
                </a:cubicBezTo>
                <a:lnTo>
                  <a:pt x="2755651" y="1511814"/>
                </a:lnTo>
                <a:lnTo>
                  <a:pt x="2755120" y="1522337"/>
                </a:lnTo>
                <a:cubicBezTo>
                  <a:pt x="2684392" y="2218778"/>
                  <a:pt x="2096226" y="2762250"/>
                  <a:pt x="1381125" y="2762250"/>
                </a:cubicBezTo>
                <a:cubicBezTo>
                  <a:pt x="618351" y="2762250"/>
                  <a:pt x="0" y="2143899"/>
                  <a:pt x="0" y="1381125"/>
                </a:cubicBezTo>
                <a:cubicBezTo>
                  <a:pt x="0" y="618351"/>
                  <a:pt x="618351" y="0"/>
                  <a:pt x="1381125" y="0"/>
                </a:cubicBezTo>
                <a:close/>
              </a:path>
            </a:pathLst>
          </a:cu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23F38-46EB-4439-B403-339A9CCB84BD}"/>
              </a:ext>
            </a:extLst>
          </p:cNvPr>
          <p:cNvSpPr txBox="1"/>
          <p:nvPr/>
        </p:nvSpPr>
        <p:spPr>
          <a:xfrm>
            <a:off x="8245642" y="0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u="sng" dirty="0"/>
              <a:t>Lab Measures DB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02BA0B-1B27-4720-8234-9ED4A43D6ED8}"/>
              </a:ext>
            </a:extLst>
          </p:cNvPr>
          <p:cNvCxnSpPr>
            <a:cxnSpLocks/>
            <a:stCxn id="13" idx="2"/>
            <a:endCxn id="10" idx="17"/>
          </p:cNvCxnSpPr>
          <p:nvPr/>
        </p:nvCxnSpPr>
        <p:spPr>
          <a:xfrm>
            <a:off x="2133600" y="1882849"/>
            <a:ext cx="2584284" cy="12399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0CBE3B-7DBD-4CCB-AA01-92C56653F80D}"/>
              </a:ext>
            </a:extLst>
          </p:cNvPr>
          <p:cNvSpPr txBox="1"/>
          <p:nvPr/>
        </p:nvSpPr>
        <p:spPr>
          <a:xfrm>
            <a:off x="958516" y="959519"/>
            <a:ext cx="2350168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/>
              <a:t>Patient who has appointment but no lab meas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7298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E6EDE02-5888-4D59-B9D2-2A6DB51F3C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0993891"/>
              </p:ext>
            </p:extLst>
          </p:nvPr>
        </p:nvGraphicFramePr>
        <p:xfrm>
          <a:off x="2967579" y="1343386"/>
          <a:ext cx="6256841" cy="4171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DB85C5-949E-4452-A569-0502A3BA6778}"/>
              </a:ext>
            </a:extLst>
          </p:cNvPr>
          <p:cNvSpPr txBox="1"/>
          <p:nvPr/>
        </p:nvSpPr>
        <p:spPr>
          <a:xfrm>
            <a:off x="0" y="0"/>
            <a:ext cx="3895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Eligibility based on agenda codes</a:t>
            </a:r>
            <a:endParaRPr lang="nl-NL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69CF4A-89C6-4175-8EB5-AA434C76692C}"/>
                  </a:ext>
                </a:extLst>
              </p:cNvPr>
              <p:cNvSpPr txBox="1"/>
              <p:nvPr/>
            </p:nvSpPr>
            <p:spPr>
              <a:xfrm>
                <a:off x="3895725" y="1112553"/>
                <a:ext cx="37814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400" dirty="0"/>
                  <a:t>Agenda </a:t>
                </a:r>
                <a14:m>
                  <m:oMath xmlns:m="http://schemas.openxmlformats.org/officeDocument/2006/math">
                    <m:r>
                      <a:rPr lang="it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nl-NL" sz="2400" dirty="0"/>
                  <a:t> </a:t>
                </a:r>
                <a:r>
                  <a:rPr lang="it-IT" sz="2400" dirty="0"/>
                  <a:t>Lab Measures</a:t>
                </a:r>
                <a:endParaRPr lang="nl-NL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69CF4A-89C6-4175-8EB5-AA434C766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725" y="1112553"/>
                <a:ext cx="3781425" cy="461665"/>
              </a:xfrm>
              <a:prstGeom prst="rect">
                <a:avLst/>
              </a:prstGeom>
              <a:blipFill>
                <a:blip r:embed="rId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313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172</Words>
  <Application>Microsoft Office PowerPoint</Application>
  <PresentationFormat>Widescreen</PresentationFormat>
  <Paragraphs>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Gintronic</vt:lpstr>
      <vt:lpstr>Office Theme</vt:lpstr>
      <vt:lpstr>Patients</vt:lpstr>
      <vt:lpstr>PowerPoint Presentation</vt:lpstr>
      <vt:lpstr>Afspraken</vt:lpstr>
      <vt:lpstr>PowerPoint Presentation</vt:lpstr>
      <vt:lpstr>Lab Measurements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Medications</vt:lpstr>
      <vt:lpstr>PowerPoint Presentation</vt:lpstr>
      <vt:lpstr>Eligibility to LHS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Afspraken</dc:title>
  <dc:creator>Vitale, J. (Jacopo)</dc:creator>
  <cp:lastModifiedBy>Vitale, J. (Jacopo)</cp:lastModifiedBy>
  <cp:revision>22</cp:revision>
  <dcterms:created xsi:type="dcterms:W3CDTF">2024-08-14T11:19:45Z</dcterms:created>
  <dcterms:modified xsi:type="dcterms:W3CDTF">2024-08-23T09:44:09Z</dcterms:modified>
</cp:coreProperties>
</file>