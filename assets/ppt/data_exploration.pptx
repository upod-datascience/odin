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273" r:id="rId3"/>
    <p:sldId id="256" r:id="rId4"/>
    <p:sldId id="266" r:id="rId5"/>
    <p:sldId id="258" r:id="rId6"/>
    <p:sldId id="281" r:id="rId7"/>
    <p:sldId id="260" r:id="rId8"/>
    <p:sldId id="261" r:id="rId9"/>
    <p:sldId id="262" r:id="rId10"/>
    <p:sldId id="265" r:id="rId11"/>
    <p:sldId id="264" r:id="rId12"/>
    <p:sldId id="263" r:id="rId13"/>
    <p:sldId id="285" r:id="rId14"/>
    <p:sldId id="280" r:id="rId15"/>
    <p:sldId id="282" r:id="rId16"/>
    <p:sldId id="283" r:id="rId17"/>
    <p:sldId id="286" r:id="rId18"/>
    <p:sldId id="284" r:id="rId19"/>
    <p:sldId id="289" r:id="rId20"/>
    <p:sldId id="288" r:id="rId21"/>
    <p:sldId id="287" r:id="rId22"/>
    <p:sldId id="259" r:id="rId23"/>
    <p:sldId id="274" r:id="rId24"/>
    <p:sldId id="275" r:id="rId25"/>
    <p:sldId id="279" r:id="rId26"/>
    <p:sldId id="278" r:id="rId27"/>
    <p:sldId id="276" r:id="rId28"/>
    <p:sldId id="277" r:id="rId29"/>
    <p:sldId id="268" r:id="rId30"/>
    <p:sldId id="269" r:id="rId31"/>
    <p:sldId id="271" r:id="rId32"/>
    <p:sldId id="272" r:id="rId33"/>
    <p:sldId id="267" r:id="rId3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60"/>
      </p:cViewPr>
      <p:guideLst>
        <p:guide orient="horz" pos="79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nl-NL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A67EE-E303-4967-962F-9A28980F7F51}" type="datetimeFigureOut">
              <a:rPr lang="nl-NL" smtClean="0"/>
              <a:t>28-8-2024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567A-7AFB-4BD5-B29D-942703DBBD9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06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566F3-1D76-4AEC-ABE9-AFABCF495913}" type="datetime1">
              <a:rPr lang="nl-NL" smtClean="0"/>
              <a:t>28-8-2024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ED964-D172-498F-BB83-2F7DE2692B37}" type="datetime1">
              <a:rPr lang="nl-NL" smtClean="0"/>
              <a:t>28-8-2024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F72AC-D91D-48F5-81B4-4889AEA39D06}" type="datetime1">
              <a:rPr lang="nl-NL" smtClean="0"/>
              <a:t>28-8-2024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69485-26A9-497C-AD22-BCEA88DF9055}" type="datetime1">
              <a:rPr lang="nl-NL" smtClean="0"/>
              <a:t>28-8-2024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D00C-0C62-40DF-B6FF-B9A70701552F}" type="datetime1">
              <a:rPr lang="nl-NL" smtClean="0"/>
              <a:t>28-8-2024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E9515-DD39-459B-B4EF-789D74C861A5}" type="datetime1">
              <a:rPr lang="nl-NL" smtClean="0"/>
              <a:t>28-8-2024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27954-A76F-4E23-8576-A7D9667CDBCC}" type="datetime1">
              <a:rPr lang="nl-NL" smtClean="0"/>
              <a:t>28-8-2024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17D54-D850-41AA-94F6-0F7316E4F326}" type="datetime1">
              <a:rPr lang="nl-NL" smtClean="0"/>
              <a:t>28-8-2024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6A96E-3739-43D3-93E5-DAA507EA7B79}" type="datetime1">
              <a:rPr lang="nl-NL" smtClean="0"/>
              <a:t>28-8-2024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55A1-B228-4CF1-BFC3-6AC3B8574AC2}" type="datetime1">
              <a:rPr lang="nl-NL" smtClean="0"/>
              <a:t>28-8-2024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EBC58-6519-439D-8982-F0178170B57B}" type="datetime1">
              <a:rPr lang="nl-NL" smtClean="0"/>
              <a:t>28-8-2024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B0748-A22F-4137-ADB1-6D5A09F7B1DF}" type="datetime1">
              <a:rPr lang="nl-NL" smtClean="0"/>
              <a:t>28-8-2024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DS.UMCUTRECHT.NL\DATA\LAB\lab_research\RES-Folder-UPOD\ODIN-UC4\G_Output\3_OtherOutput\ha_8180v_user_manual.pdf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svg"/><Relationship Id="rId5" Type="http://schemas.openxmlformats.org/officeDocument/2006/relationships/image" Target="../media/image40.sv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B4FD1-F66A-46C8-A96B-C6DD32132922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Instrumental Resolutions</a:t>
            </a:r>
            <a:endParaRPr lang="nl-NL" u="sn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FC426F-1024-4721-B560-E6BFB1CE0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792572"/>
              </p:ext>
            </p:extLst>
          </p:nvPr>
        </p:nvGraphicFramePr>
        <p:xfrm>
          <a:off x="1243262" y="903959"/>
          <a:ext cx="9464845" cy="4606498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836214">
                  <a:extLst>
                    <a:ext uri="{9D8B030D-6E8A-4147-A177-3AD203B41FA5}">
                      <a16:colId xmlns:a16="http://schemas.microsoft.com/office/drawing/2014/main" val="2076889326"/>
                    </a:ext>
                  </a:extLst>
                </a:gridCol>
                <a:gridCol w="1418892">
                  <a:extLst>
                    <a:ext uri="{9D8B030D-6E8A-4147-A177-3AD203B41FA5}">
                      <a16:colId xmlns:a16="http://schemas.microsoft.com/office/drawing/2014/main" val="2767547104"/>
                    </a:ext>
                  </a:extLst>
                </a:gridCol>
                <a:gridCol w="1335428">
                  <a:extLst>
                    <a:ext uri="{9D8B030D-6E8A-4147-A177-3AD203B41FA5}">
                      <a16:colId xmlns:a16="http://schemas.microsoft.com/office/drawing/2014/main" val="4204682836"/>
                    </a:ext>
                  </a:extLst>
                </a:gridCol>
                <a:gridCol w="2420462">
                  <a:extLst>
                    <a:ext uri="{9D8B030D-6E8A-4147-A177-3AD203B41FA5}">
                      <a16:colId xmlns:a16="http://schemas.microsoft.com/office/drawing/2014/main" val="4008304797"/>
                    </a:ext>
                  </a:extLst>
                </a:gridCol>
                <a:gridCol w="2453849">
                  <a:extLst>
                    <a:ext uri="{9D8B030D-6E8A-4147-A177-3AD203B41FA5}">
                      <a16:colId xmlns:a16="http://schemas.microsoft.com/office/drawing/2014/main" val="2756115298"/>
                    </a:ext>
                  </a:extLst>
                </a:gridCol>
              </a:tblGrid>
              <a:tr h="354346">
                <a:tc>
                  <a:txBody>
                    <a:bodyPr/>
                    <a:lstStyle/>
                    <a:p>
                      <a:pPr algn="ctr" fontAlgn="ctr"/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unit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healthyRange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instrumentResolutionMin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instrumentResolutionMax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812547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CRP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mg/L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0 - 10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624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213138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3.5 - 6.5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270079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1.10 -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564681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HbA1c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mmol/mol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20 - 42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9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195*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566742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Hemoglobine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7.4 - 9.6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772148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Kalium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3.8 - 5.0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8282842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Kreatinine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µmol/L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49 - 90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13000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746684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LDL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0.5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9311022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Natrium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136 - 146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50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1654229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Triglyceriden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0.0 - 2.0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0.17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1330517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eGFR</a:t>
                      </a:r>
                      <a:r>
                        <a:rPr lang="nl-NL" sz="1600" u="none" strike="noStrike" dirty="0">
                          <a:effectLst/>
                        </a:rPr>
                        <a:t> (CKD-EPI)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mL/min/1.73m2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80 -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120218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non-HDL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0.0 - 3.8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 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976823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0C6C2-8A25-4732-ADD4-BBD79F7C8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25545"/>
            <a:ext cx="4114800" cy="365125"/>
          </a:xfrm>
        </p:spPr>
        <p:txBody>
          <a:bodyPr/>
          <a:lstStyle/>
          <a:p>
            <a:r>
              <a:rPr lang="nl-NL"/>
              <a:t>Ref: https://www.umcutrecht.nl/bepalingenwijzer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F0FF0B-34D3-4B7E-B257-2C2107C39FA2}"/>
              </a:ext>
            </a:extLst>
          </p:cNvPr>
          <p:cNvSpPr txBox="1"/>
          <p:nvPr/>
        </p:nvSpPr>
        <p:spPr>
          <a:xfrm>
            <a:off x="5081336" y="6590670"/>
            <a:ext cx="1788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dirty="0"/>
              <a:t>*</a:t>
            </a:r>
            <a:r>
              <a:rPr lang="it-IT" sz="1050" dirty="0">
                <a:hlinkClick r:id="rId2" action="ppaction://hlinkfile"/>
              </a:rPr>
              <a:t>Machine Reference Manual</a:t>
            </a:r>
            <a:endParaRPr lang="nl-NL" sz="1050" dirty="0"/>
          </a:p>
        </p:txBody>
      </p:sp>
    </p:spTree>
    <p:extLst>
      <p:ext uri="{BB962C8B-B14F-4D97-AF65-F5344CB8AC3E}">
        <p14:creationId xmlns:p14="http://schemas.microsoft.com/office/powerpoint/2010/main" val="97610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2EDD9-3028-4E42-A5D9-F1DB5004F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477" y="0"/>
            <a:ext cx="6455405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E2BBFA-3EDF-4661-8183-33CEFA6D623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7868654" y="1198693"/>
            <a:ext cx="1066798" cy="469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D9A5AB-1C42-4603-9CC8-4255D3AD50A2}"/>
              </a:ext>
            </a:extLst>
          </p:cNvPr>
          <p:cNvSpPr txBox="1"/>
          <p:nvPr/>
        </p:nvSpPr>
        <p:spPr>
          <a:xfrm>
            <a:off x="8935452" y="737028"/>
            <a:ext cx="26228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This is the Pivoted data, that can increase the scarcity of the data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02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E12EBB-0F27-451D-A1C2-B974EDB76742}"/>
              </a:ext>
            </a:extLst>
          </p:cNvPr>
          <p:cNvSpPr txBox="1"/>
          <p:nvPr/>
        </p:nvSpPr>
        <p:spPr>
          <a:xfrm>
            <a:off x="9681410" y="3244333"/>
            <a:ext cx="1949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Seems good uh?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74891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122CDA-8054-4F30-AA24-7864527ED42D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Original Chemical Subs distributions</a:t>
            </a:r>
            <a:endParaRPr lang="nl-NL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B614DA-B9E5-44DA-9D9F-C33D5F9B5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538130"/>
            <a:ext cx="11887200" cy="595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86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EDA138-723D-402C-81C9-FBE5F72D6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869"/>
            <a:ext cx="12192000" cy="61109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9BEB55-6184-4AF3-A7C2-E99DE34DA79B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After Imputation Chemical Subs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817773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9671"/>
            <a:ext cx="12192000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31492"/>
            <a:ext cx="12192000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4395537" y="742333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4395537" y="3798172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30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1238007"/>
            <a:ext cx="5919537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4359828"/>
            <a:ext cx="5919537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2583053" y="865483"/>
            <a:ext cx="2598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1937083" y="3990496"/>
            <a:ext cx="38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F6C92-4554-46AB-A52E-5085F8CBD941}"/>
              </a:ext>
            </a:extLst>
          </p:cNvPr>
          <p:cNvSpPr txBox="1"/>
          <p:nvPr/>
        </p:nvSpPr>
        <p:spPr>
          <a:xfrm>
            <a:off x="8229601" y="3370835"/>
            <a:ext cx="295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need to change strategy...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062F9B-75EE-45F0-9939-679479C24314}"/>
              </a:ext>
            </a:extLst>
          </p:cNvPr>
          <p:cNvCxnSpPr>
            <a:stCxn id="2" idx="1"/>
            <a:endCxn id="3" idx="3"/>
          </p:cNvCxnSpPr>
          <p:nvPr/>
        </p:nvCxnSpPr>
        <p:spPr>
          <a:xfrm flipH="1" flipV="1">
            <a:off x="6841958" y="2304421"/>
            <a:ext cx="1387643" cy="1251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C72A0-5C06-4603-82F0-D06B5C07D601}"/>
              </a:ext>
            </a:extLst>
          </p:cNvPr>
          <p:cNvCxnSpPr>
            <a:stCxn id="2" idx="1"/>
            <a:endCxn id="5" idx="3"/>
          </p:cNvCxnSpPr>
          <p:nvPr/>
        </p:nvCxnSpPr>
        <p:spPr>
          <a:xfrm flipH="1">
            <a:off x="6841958" y="3555501"/>
            <a:ext cx="1387643" cy="1870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712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EB4A5-7556-45C7-AF61-C9952B09F07C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New Strategy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3596063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0D465E5E-71B4-4CAA-80E1-ADC707F0E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916" y="2993858"/>
            <a:ext cx="914400" cy="914400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E81DF561-3B38-4BE3-974A-FE9B9C865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1439778"/>
            <a:ext cx="914400" cy="914400"/>
          </a:xfrm>
          <a:prstGeom prst="rect">
            <a:avLst/>
          </a:prstGeom>
        </p:spPr>
      </p:pic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6FE9CA92-798F-4967-8D7B-6A1E2BF3A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4503822"/>
            <a:ext cx="914400" cy="914400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2D7E791C-D6D1-49D9-A9B9-CA8B32688F1D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644316" y="1896978"/>
            <a:ext cx="1275347" cy="15540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06B5001-B912-4762-8E80-96E82E1A01EB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1644316" y="3451058"/>
            <a:ext cx="1275347" cy="15099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Graphic 13" descr="Braille">
            <a:extLst>
              <a:ext uri="{FF2B5EF4-FFF2-40B4-BE49-F238E27FC236}">
                <a16:creationId xmlns:a16="http://schemas.microsoft.com/office/drawing/2014/main" id="{CFE3DD75-4FF4-4EFC-94BD-D9BF548E1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1439778"/>
            <a:ext cx="914400" cy="914400"/>
          </a:xfrm>
          <a:prstGeom prst="rect">
            <a:avLst/>
          </a:prstGeom>
        </p:spPr>
      </p:pic>
      <p:pic>
        <p:nvPicPr>
          <p:cNvPr id="16" name="Graphic 15" descr="Head with gears">
            <a:extLst>
              <a:ext uri="{FF2B5EF4-FFF2-40B4-BE49-F238E27FC236}">
                <a16:creationId xmlns:a16="http://schemas.microsoft.com/office/drawing/2014/main" id="{53E289C0-C6F1-4870-99BC-B4F0CD2B59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7221" y="4503822"/>
            <a:ext cx="914400" cy="914400"/>
          </a:xfrm>
          <a:prstGeom prst="rect">
            <a:avLst/>
          </a:prstGeom>
        </p:spPr>
      </p:pic>
      <p:pic>
        <p:nvPicPr>
          <p:cNvPr id="18" name="Graphic 17" descr="Network diagram">
            <a:extLst>
              <a:ext uri="{FF2B5EF4-FFF2-40B4-BE49-F238E27FC236}">
                <a16:creationId xmlns:a16="http://schemas.microsoft.com/office/drawing/2014/main" id="{F4F2FF9D-9F35-4D8F-ADFB-D0FC4B5737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0" y="2993858"/>
            <a:ext cx="914400" cy="914400"/>
          </a:xfrm>
          <a:prstGeom prst="rect">
            <a:avLst/>
          </a:prstGeom>
        </p:spPr>
      </p:pic>
      <p:pic>
        <p:nvPicPr>
          <p:cNvPr id="20" name="Graphic 19" descr="Statistics">
            <a:extLst>
              <a:ext uri="{FF2B5EF4-FFF2-40B4-BE49-F238E27FC236}">
                <a16:creationId xmlns:a16="http://schemas.microsoft.com/office/drawing/2014/main" id="{FFCFB770-836A-4E84-8798-0AB8A5F21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037221" y="1439778"/>
            <a:ext cx="914400" cy="914400"/>
          </a:xfrm>
          <a:prstGeom prst="rect">
            <a:avLst/>
          </a:prstGeom>
        </p:spPr>
      </p:pic>
      <p:pic>
        <p:nvPicPr>
          <p:cNvPr id="21" name="Graphic 20" descr="Braille">
            <a:extLst>
              <a:ext uri="{FF2B5EF4-FFF2-40B4-BE49-F238E27FC236}">
                <a16:creationId xmlns:a16="http://schemas.microsoft.com/office/drawing/2014/main" id="{8AC4798F-98EB-4F3F-92C9-6C7F638058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4503822"/>
            <a:ext cx="914400" cy="9144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3D8E2E-A8A1-4A4F-B04B-888FE81ECC83}"/>
              </a:ext>
            </a:extLst>
          </p:cNvPr>
          <p:cNvCxnSpPr>
            <a:stCxn id="6" idx="3"/>
            <a:endCxn id="20" idx="1"/>
          </p:cNvCxnSpPr>
          <p:nvPr/>
        </p:nvCxnSpPr>
        <p:spPr>
          <a:xfrm>
            <a:off x="3834063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43F149-E4E7-4783-8884-9E977B5D78BF}"/>
              </a:ext>
            </a:extLst>
          </p:cNvPr>
          <p:cNvCxnSpPr>
            <a:stCxn id="20" idx="3"/>
            <a:endCxn id="14" idx="1"/>
          </p:cNvCxnSpPr>
          <p:nvPr/>
        </p:nvCxnSpPr>
        <p:spPr>
          <a:xfrm>
            <a:off x="5951621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EAEDDD-7130-4679-AED7-6303C1A57890}"/>
              </a:ext>
            </a:extLst>
          </p:cNvPr>
          <p:cNvCxnSpPr>
            <a:stCxn id="14" idx="3"/>
            <a:endCxn id="18" idx="1"/>
          </p:cNvCxnSpPr>
          <p:nvPr/>
        </p:nvCxnSpPr>
        <p:spPr>
          <a:xfrm>
            <a:off x="8069179" y="1896978"/>
            <a:ext cx="617621" cy="155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1349B75-AD95-4C06-B895-E3C404052A54}"/>
              </a:ext>
            </a:extLst>
          </p:cNvPr>
          <p:cNvCxnSpPr>
            <a:stCxn id="7" idx="3"/>
            <a:endCxn id="16" idx="1"/>
          </p:cNvCxnSpPr>
          <p:nvPr/>
        </p:nvCxnSpPr>
        <p:spPr>
          <a:xfrm>
            <a:off x="3834063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9122D0-529A-4924-9F25-179DD8CDEF6E}"/>
              </a:ext>
            </a:extLst>
          </p:cNvPr>
          <p:cNvCxnSpPr>
            <a:stCxn id="16" idx="3"/>
            <a:endCxn id="21" idx="1"/>
          </p:cNvCxnSpPr>
          <p:nvPr/>
        </p:nvCxnSpPr>
        <p:spPr>
          <a:xfrm>
            <a:off x="5951621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A79EF34-8C9A-46B0-A0C8-281492399F29}"/>
              </a:ext>
            </a:extLst>
          </p:cNvPr>
          <p:cNvCxnSpPr>
            <a:stCxn id="21" idx="3"/>
            <a:endCxn id="18" idx="1"/>
          </p:cNvCxnSpPr>
          <p:nvPr/>
        </p:nvCxnSpPr>
        <p:spPr>
          <a:xfrm flipV="1">
            <a:off x="8069179" y="3451058"/>
            <a:ext cx="617621" cy="15099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92C21B9-73DF-4A50-8732-70B04DB91BB2}"/>
              </a:ext>
            </a:extLst>
          </p:cNvPr>
          <p:cNvSpPr txBox="1"/>
          <p:nvPr/>
        </p:nvSpPr>
        <p:spPr>
          <a:xfrm>
            <a:off x="729916" y="267401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</a:t>
            </a:r>
            <a:endParaRPr lang="nl-NL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2AB112-5266-4EE3-8175-5625F3CC0148}"/>
              </a:ext>
            </a:extLst>
          </p:cNvPr>
          <p:cNvSpPr txBox="1"/>
          <p:nvPr/>
        </p:nvSpPr>
        <p:spPr>
          <a:xfrm>
            <a:off x="2410326" y="1040458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interpolated</a:t>
            </a:r>
            <a:endParaRPr lang="nl-NL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DB563F-66D7-4806-B713-02249C6E6939}"/>
              </a:ext>
            </a:extLst>
          </p:cNvPr>
          <p:cNvSpPr txBox="1"/>
          <p:nvPr/>
        </p:nvSpPr>
        <p:spPr>
          <a:xfrm>
            <a:off x="2486526" y="4206040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imputed</a:t>
            </a:r>
            <a:endParaRPr lang="nl-NL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19FC32-97A8-4104-B28A-CF6DA7AD830C}"/>
              </a:ext>
            </a:extLst>
          </p:cNvPr>
          <p:cNvSpPr txBox="1"/>
          <p:nvPr/>
        </p:nvSpPr>
        <p:spPr>
          <a:xfrm>
            <a:off x="6777789" y="4076383"/>
            <a:ext cx="166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Agg Imputed Data</a:t>
            </a:r>
            <a:endParaRPr lang="nl-NL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11C0EE-145E-4892-AAC3-2ACC6A2D1834}"/>
              </a:ext>
            </a:extLst>
          </p:cNvPr>
          <p:cNvSpPr txBox="1"/>
          <p:nvPr/>
        </p:nvSpPr>
        <p:spPr>
          <a:xfrm>
            <a:off x="4527884" y="4178424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Imputer</a:t>
            </a:r>
            <a:endParaRPr lang="nl-N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FA8274-CF09-4053-A202-9FD34F0AD1D7}"/>
              </a:ext>
            </a:extLst>
          </p:cNvPr>
          <p:cNvSpPr txBox="1"/>
          <p:nvPr/>
        </p:nvSpPr>
        <p:spPr>
          <a:xfrm>
            <a:off x="4578016" y="1040458"/>
            <a:ext cx="1792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Interpolate&amp;Agg</a:t>
            </a:r>
            <a:endParaRPr lang="nl-NL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3F9F64-9CB2-4C49-B464-95ADFA07E271}"/>
              </a:ext>
            </a:extLst>
          </p:cNvPr>
          <p:cNvSpPr txBox="1"/>
          <p:nvPr/>
        </p:nvSpPr>
        <p:spPr>
          <a:xfrm>
            <a:off x="6605337" y="939326"/>
            <a:ext cx="1973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Weighted Avg based on time</a:t>
            </a:r>
            <a:endParaRPr lang="nl-NL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D1AA15-024B-4A22-9E5B-6FCA5290E1CE}"/>
              </a:ext>
            </a:extLst>
          </p:cNvPr>
          <p:cNvSpPr txBox="1"/>
          <p:nvPr/>
        </p:nvSpPr>
        <p:spPr>
          <a:xfrm>
            <a:off x="9436768" y="3244334"/>
            <a:ext cx="1532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Fusion</a:t>
            </a:r>
            <a:endParaRPr lang="nl-NL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9AB1E6-67B6-4B4E-97CC-380898C45A3E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83811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EFDCE-6A3A-4FC2-878E-0096095E2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074226"/>
              </p:ext>
            </p:extLst>
          </p:nvPr>
        </p:nvGraphicFramePr>
        <p:xfrm>
          <a:off x="1048081" y="1018540"/>
          <a:ext cx="5874084" cy="48209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609474">
                  <a:extLst>
                    <a:ext uri="{9D8B030D-6E8A-4147-A177-3AD203B41FA5}">
                      <a16:colId xmlns:a16="http://schemas.microsoft.com/office/drawing/2014/main" val="2857705795"/>
                    </a:ext>
                  </a:extLst>
                </a:gridCol>
                <a:gridCol w="2264610">
                  <a:extLst>
                    <a:ext uri="{9D8B030D-6E8A-4147-A177-3AD203B41FA5}">
                      <a16:colId xmlns:a16="http://schemas.microsoft.com/office/drawing/2014/main" val="3255647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Substance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Present values count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812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CRP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11669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03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Cholesterol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2525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83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479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HbA1c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19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Hemoglobine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23126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326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Kalium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23488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06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Kreatinine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21205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138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752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Natrium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20724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056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Triglyceriden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2626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239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eGFR</a:t>
                      </a:r>
                      <a:r>
                        <a:rPr lang="nl-NL" dirty="0"/>
                        <a:t> (CKD-EPI)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21181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592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non-HDL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890481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FDBA18B-D1D7-4CFF-A12B-7FB9E004DF79}"/>
              </a:ext>
            </a:extLst>
          </p:cNvPr>
          <p:cNvSpPr/>
          <p:nvPr/>
        </p:nvSpPr>
        <p:spPr>
          <a:xfrm>
            <a:off x="1048081" y="2863516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61424-BD8E-4EEF-BF4D-2D8BA8FB26AE}"/>
              </a:ext>
            </a:extLst>
          </p:cNvPr>
          <p:cNvSpPr/>
          <p:nvPr/>
        </p:nvSpPr>
        <p:spPr>
          <a:xfrm>
            <a:off x="1048081" y="3625517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4DEB25-96EA-4DFC-989E-80095B8F2316}"/>
              </a:ext>
            </a:extLst>
          </p:cNvPr>
          <p:cNvSpPr/>
          <p:nvPr/>
        </p:nvSpPr>
        <p:spPr>
          <a:xfrm>
            <a:off x="1048081" y="436352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EEE006-C5B8-43F0-8A57-0163A12D0E93}"/>
              </a:ext>
            </a:extLst>
          </p:cNvPr>
          <p:cNvSpPr/>
          <p:nvPr/>
        </p:nvSpPr>
        <p:spPr>
          <a:xfrm>
            <a:off x="1048081" y="510149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2961CC-91D0-4961-BB42-58A23F6CF0DA}"/>
              </a:ext>
            </a:extLst>
          </p:cNvPr>
          <p:cNvSpPr/>
          <p:nvPr/>
        </p:nvSpPr>
        <p:spPr>
          <a:xfrm>
            <a:off x="1048081" y="1387542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307ECC-0C19-49E1-AAE5-B528C69F84A2}"/>
              </a:ext>
            </a:extLst>
          </p:cNvPr>
          <p:cNvSpPr/>
          <p:nvPr/>
        </p:nvSpPr>
        <p:spPr>
          <a:xfrm>
            <a:off x="1048081" y="1756510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C1DF77-2156-41BA-B371-314FDAF17CB5}"/>
              </a:ext>
            </a:extLst>
          </p:cNvPr>
          <p:cNvSpPr/>
          <p:nvPr/>
        </p:nvSpPr>
        <p:spPr>
          <a:xfrm>
            <a:off x="1048081" y="2125529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DCDDD4-1795-4D71-AAA2-7FCACA5AA2B7}"/>
              </a:ext>
            </a:extLst>
          </p:cNvPr>
          <p:cNvSpPr/>
          <p:nvPr/>
        </p:nvSpPr>
        <p:spPr>
          <a:xfrm>
            <a:off x="1048081" y="2494531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5593BE-D5E6-43BC-AC69-B5F0C659BFB0}"/>
              </a:ext>
            </a:extLst>
          </p:cNvPr>
          <p:cNvSpPr/>
          <p:nvPr/>
        </p:nvSpPr>
        <p:spPr>
          <a:xfrm>
            <a:off x="1048081" y="3232483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521C61-66F1-497B-AE24-312DF4DA282D}"/>
              </a:ext>
            </a:extLst>
          </p:cNvPr>
          <p:cNvSpPr/>
          <p:nvPr/>
        </p:nvSpPr>
        <p:spPr>
          <a:xfrm>
            <a:off x="1048081" y="3982469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9AD5D4-C117-4800-A408-D2DFD4CA907D}"/>
              </a:ext>
            </a:extLst>
          </p:cNvPr>
          <p:cNvSpPr/>
          <p:nvPr/>
        </p:nvSpPr>
        <p:spPr>
          <a:xfrm>
            <a:off x="1048081" y="470845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265051-3DEC-4E0B-AD6E-61CD5452612F}"/>
              </a:ext>
            </a:extLst>
          </p:cNvPr>
          <p:cNvSpPr/>
          <p:nvPr/>
        </p:nvSpPr>
        <p:spPr>
          <a:xfrm>
            <a:off x="1048081" y="544642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0FF940-39AD-4449-8ABF-111815A5CB45}"/>
              </a:ext>
            </a:extLst>
          </p:cNvPr>
          <p:cNvCxnSpPr>
            <a:cxnSpLocks/>
            <a:stCxn id="17" idx="1"/>
            <a:endCxn id="5" idx="3"/>
          </p:cNvCxnSpPr>
          <p:nvPr/>
        </p:nvCxnSpPr>
        <p:spPr>
          <a:xfrm flipH="1">
            <a:off x="6922165" y="3047817"/>
            <a:ext cx="2021304" cy="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DC9BDA-F7D8-4B2C-8431-93525FA96F49}"/>
              </a:ext>
            </a:extLst>
          </p:cNvPr>
          <p:cNvSpPr txBox="1"/>
          <p:nvPr/>
        </p:nvSpPr>
        <p:spPr>
          <a:xfrm>
            <a:off x="8943469" y="2863151"/>
            <a:ext cx="2181727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Interpolate the data</a:t>
            </a:r>
            <a:endParaRPr lang="nl-NL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E3452580-DECD-4053-A95B-2985B8A7F98D}"/>
              </a:ext>
            </a:extLst>
          </p:cNvPr>
          <p:cNvCxnSpPr>
            <a:stCxn id="17" idx="1"/>
            <a:endCxn id="6" idx="3"/>
          </p:cNvCxnSpPr>
          <p:nvPr/>
        </p:nvCxnSpPr>
        <p:spPr>
          <a:xfrm rot="10800000" flipV="1">
            <a:off x="6922165" y="3047817"/>
            <a:ext cx="2021304" cy="76218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BC5F390-5870-4620-A2E1-8216FECE4532}"/>
              </a:ext>
            </a:extLst>
          </p:cNvPr>
          <p:cNvCxnSpPr>
            <a:stCxn id="17" idx="1"/>
            <a:endCxn id="7" idx="3"/>
          </p:cNvCxnSpPr>
          <p:nvPr/>
        </p:nvCxnSpPr>
        <p:spPr>
          <a:xfrm rot="10800000" flipV="1">
            <a:off x="6922165" y="3047816"/>
            <a:ext cx="2021304" cy="150018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71A9B99-C402-402F-B6D6-1175DC078108}"/>
              </a:ext>
            </a:extLst>
          </p:cNvPr>
          <p:cNvCxnSpPr>
            <a:stCxn id="17" idx="1"/>
            <a:endCxn id="8" idx="3"/>
          </p:cNvCxnSpPr>
          <p:nvPr/>
        </p:nvCxnSpPr>
        <p:spPr>
          <a:xfrm rot="10800000" flipV="1">
            <a:off x="6922165" y="3047816"/>
            <a:ext cx="2021304" cy="223815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B2C1735-87A1-42A0-94CD-065D6E3DB48C}"/>
              </a:ext>
            </a:extLst>
          </p:cNvPr>
          <p:cNvSpPr txBox="1"/>
          <p:nvPr/>
        </p:nvSpPr>
        <p:spPr>
          <a:xfrm>
            <a:off x="8943468" y="1391423"/>
            <a:ext cx="218172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Impute the data</a:t>
            </a:r>
            <a:endParaRPr lang="nl-NL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FD28A1-1CAB-4C27-B1AC-01D86CA0C541}"/>
              </a:ext>
            </a:extLst>
          </p:cNvPr>
          <p:cNvCxnSpPr>
            <a:stCxn id="30" idx="1"/>
            <a:endCxn id="9" idx="3"/>
          </p:cNvCxnSpPr>
          <p:nvPr/>
        </p:nvCxnSpPr>
        <p:spPr>
          <a:xfrm flipH="1" flipV="1">
            <a:off x="6922165" y="1572026"/>
            <a:ext cx="2021303" cy="4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E72941C-A0AA-4D4A-9704-784B74E19054}"/>
              </a:ext>
            </a:extLst>
          </p:cNvPr>
          <p:cNvCxnSpPr>
            <a:stCxn id="30" idx="1"/>
            <a:endCxn id="10" idx="3"/>
          </p:cNvCxnSpPr>
          <p:nvPr/>
        </p:nvCxnSpPr>
        <p:spPr>
          <a:xfrm rot="10800000" flipV="1">
            <a:off x="6922166" y="1576088"/>
            <a:ext cx="2021303" cy="364905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2EEA8B7-446B-492D-B283-2719BDC4699E}"/>
              </a:ext>
            </a:extLst>
          </p:cNvPr>
          <p:cNvCxnSpPr>
            <a:stCxn id="30" idx="1"/>
            <a:endCxn id="11" idx="3"/>
          </p:cNvCxnSpPr>
          <p:nvPr/>
        </p:nvCxnSpPr>
        <p:spPr>
          <a:xfrm rot="10800000" flipV="1">
            <a:off x="6922166" y="1576089"/>
            <a:ext cx="2021303" cy="73392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AA49802-CCEE-401A-A67A-DCAB21AD479F}"/>
              </a:ext>
            </a:extLst>
          </p:cNvPr>
          <p:cNvCxnSpPr>
            <a:stCxn id="30" idx="1"/>
            <a:endCxn id="12" idx="3"/>
          </p:cNvCxnSpPr>
          <p:nvPr/>
        </p:nvCxnSpPr>
        <p:spPr>
          <a:xfrm rot="10800000" flipV="1">
            <a:off x="6922166" y="1576089"/>
            <a:ext cx="2021303" cy="1102926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AD846E9-613C-4D64-9871-751D24F7FCB9}"/>
              </a:ext>
            </a:extLst>
          </p:cNvPr>
          <p:cNvCxnSpPr>
            <a:stCxn id="30" idx="1"/>
            <a:endCxn id="3" idx="3"/>
          </p:cNvCxnSpPr>
          <p:nvPr/>
        </p:nvCxnSpPr>
        <p:spPr>
          <a:xfrm rot="10800000" flipV="1">
            <a:off x="6922166" y="1576088"/>
            <a:ext cx="2021303" cy="1852911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41878C0-C417-42EF-937F-5D8EAC946940}"/>
              </a:ext>
            </a:extLst>
          </p:cNvPr>
          <p:cNvCxnSpPr>
            <a:stCxn id="30" idx="1"/>
            <a:endCxn id="14" idx="3"/>
          </p:cNvCxnSpPr>
          <p:nvPr/>
        </p:nvCxnSpPr>
        <p:spPr>
          <a:xfrm rot="10800000" flipV="1">
            <a:off x="6922166" y="1576088"/>
            <a:ext cx="2021303" cy="2602897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E5E577A5-5C4E-4314-B94E-C692A7C075E7}"/>
              </a:ext>
            </a:extLst>
          </p:cNvPr>
          <p:cNvCxnSpPr>
            <a:stCxn id="30" idx="1"/>
            <a:endCxn id="15" idx="3"/>
          </p:cNvCxnSpPr>
          <p:nvPr/>
        </p:nvCxnSpPr>
        <p:spPr>
          <a:xfrm rot="10800000" flipV="1">
            <a:off x="6922166" y="1576089"/>
            <a:ext cx="2021303" cy="332888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AAE5AA8C-C949-4CBF-BBC4-FC9FB991F2B3}"/>
              </a:ext>
            </a:extLst>
          </p:cNvPr>
          <p:cNvCxnSpPr>
            <a:stCxn id="30" idx="1"/>
            <a:endCxn id="16" idx="3"/>
          </p:cNvCxnSpPr>
          <p:nvPr/>
        </p:nvCxnSpPr>
        <p:spPr>
          <a:xfrm rot="10800000" flipV="1">
            <a:off x="6922166" y="1576089"/>
            <a:ext cx="2021303" cy="406685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908D600-ADD3-4A71-8FD9-84F68F862A78}"/>
              </a:ext>
            </a:extLst>
          </p:cNvPr>
          <p:cNvSpPr txBox="1"/>
          <p:nvPr/>
        </p:nvSpPr>
        <p:spPr>
          <a:xfrm>
            <a:off x="0" y="0"/>
            <a:ext cx="425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– Selection values-based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3961398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7968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41D145-8AC1-45C7-8D61-50D4BD1CC9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6458" y="1957137"/>
            <a:ext cx="6005542" cy="36495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8D7C7E-C973-4558-835C-AE7A82ECC7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8" y="1957137"/>
            <a:ext cx="6005542" cy="364958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D21716-6BD7-4A50-9558-0D0C13985C2D}"/>
              </a:ext>
            </a:extLst>
          </p:cNvPr>
          <p:cNvCxnSpPr>
            <a:cxnSpLocks/>
            <a:stCxn id="13" idx="2"/>
            <a:endCxn id="28" idx="7"/>
          </p:cNvCxnSpPr>
          <p:nvPr/>
        </p:nvCxnSpPr>
        <p:spPr>
          <a:xfrm flipH="1">
            <a:off x="1745476" y="1706964"/>
            <a:ext cx="1271553" cy="6181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88E362-09B2-4B0B-BBDE-2EFEFF000F9B}"/>
              </a:ext>
            </a:extLst>
          </p:cNvPr>
          <p:cNvCxnSpPr>
            <a:cxnSpLocks/>
            <a:stCxn id="13" idx="2"/>
            <a:endCxn id="30" idx="1"/>
          </p:cNvCxnSpPr>
          <p:nvPr/>
        </p:nvCxnSpPr>
        <p:spPr>
          <a:xfrm>
            <a:off x="3017029" y="1706964"/>
            <a:ext cx="1532465" cy="797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06D038-F66B-4859-9416-A23E4E34906D}"/>
              </a:ext>
            </a:extLst>
          </p:cNvPr>
          <p:cNvSpPr txBox="1"/>
          <p:nvPr/>
        </p:nvSpPr>
        <p:spPr>
          <a:xfrm>
            <a:off x="1490242" y="1337632"/>
            <a:ext cx="3053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Set to NaN... Imputation?</a:t>
            </a:r>
            <a:endParaRPr lang="nl-N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8F7243-8499-4EB9-8006-57DE1509E5C3}"/>
              </a:ext>
            </a:extLst>
          </p:cNvPr>
          <p:cNvSpPr txBox="1"/>
          <p:nvPr/>
        </p:nvSpPr>
        <p:spPr>
          <a:xfrm>
            <a:off x="8060265" y="1152966"/>
            <a:ext cx="2229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Considered Outliers</a:t>
            </a:r>
            <a:endParaRPr lang="nl-NL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F44B29E-148B-46BB-A8FF-E530EC852232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9175192" y="1522298"/>
            <a:ext cx="1451811" cy="11084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6788B4-CBEF-49A2-B29F-3DAC5165F805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7955994" y="1522298"/>
            <a:ext cx="1219198" cy="12127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5D3BB183-A2CA-46A2-B9C3-ADAE972B9027}"/>
              </a:ext>
            </a:extLst>
          </p:cNvPr>
          <p:cNvSpPr/>
          <p:nvPr/>
        </p:nvSpPr>
        <p:spPr>
          <a:xfrm>
            <a:off x="1444235" y="2056559"/>
            <a:ext cx="352926" cy="183365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FC1405A-A1FB-4B7D-A729-6F366D78F1F5}"/>
              </a:ext>
            </a:extLst>
          </p:cNvPr>
          <p:cNvSpPr/>
          <p:nvPr/>
        </p:nvSpPr>
        <p:spPr>
          <a:xfrm>
            <a:off x="4497809" y="2056558"/>
            <a:ext cx="352926" cy="3060874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/>
          <p:nvPr/>
        </p:nvCxnSpPr>
        <p:spPr>
          <a:xfrm>
            <a:off x="344905" y="4868779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2310061" y="458804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/>
          <p:nvPr/>
        </p:nvCxnSpPr>
        <p:spPr>
          <a:xfrm>
            <a:off x="351141" y="389021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2181726" y="3609474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/>
          <p:nvPr/>
        </p:nvCxnSpPr>
        <p:spPr>
          <a:xfrm>
            <a:off x="3376752" y="5219798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166A446-0273-44CD-8582-FA57872289AC}"/>
              </a:ext>
            </a:extLst>
          </p:cNvPr>
          <p:cNvSpPr txBox="1"/>
          <p:nvPr/>
        </p:nvSpPr>
        <p:spPr>
          <a:xfrm>
            <a:off x="5624542" y="503513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/>
          <p:nvPr/>
        </p:nvCxnSpPr>
        <p:spPr>
          <a:xfrm>
            <a:off x="3382988" y="511278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9388AA8-1909-4DBD-B882-1AB427F2771E}"/>
              </a:ext>
            </a:extLst>
          </p:cNvPr>
          <p:cNvSpPr txBox="1"/>
          <p:nvPr/>
        </p:nvSpPr>
        <p:spPr>
          <a:xfrm>
            <a:off x="5566173" y="4796958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CF186115-EF21-4E45-BA1A-F7A01B55B725}"/>
              </a:ext>
            </a:extLst>
          </p:cNvPr>
          <p:cNvSpPr/>
          <p:nvPr/>
        </p:nvSpPr>
        <p:spPr>
          <a:xfrm>
            <a:off x="5654279" y="3364185"/>
            <a:ext cx="1094205" cy="369332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946F1D0-67D6-45FC-AEDB-3F765ADB089F}"/>
              </a:ext>
            </a:extLst>
          </p:cNvPr>
          <p:cNvSpPr/>
          <p:nvPr/>
        </p:nvSpPr>
        <p:spPr>
          <a:xfrm>
            <a:off x="1444235" y="4886330"/>
            <a:ext cx="352926" cy="47386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CA64AE-70C0-46DC-9DE0-3BD016877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014" y="2125452"/>
            <a:ext cx="7249970" cy="44058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3727A-AEE6-4E01-9A07-195FB57628BF}"/>
              </a:ext>
            </a:extLst>
          </p:cNvPr>
          <p:cNvSpPr txBox="1"/>
          <p:nvPr/>
        </p:nvSpPr>
        <p:spPr>
          <a:xfrm>
            <a:off x="2709862" y="811929"/>
            <a:ext cx="67722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dirty="0"/>
              <a:t>Replaced with Mean value </a:t>
            </a:r>
          </a:p>
          <a:p>
            <a:pPr algn="ctr"/>
            <a:r>
              <a:rPr lang="it-IT" sz="2400" dirty="0"/>
              <a:t>if </a:t>
            </a:r>
          </a:p>
          <a:p>
            <a:pPr algn="ctr"/>
            <a:r>
              <a:rPr lang="it-IT" sz="2400" dirty="0"/>
              <a:t>|BP</a:t>
            </a:r>
            <a:r>
              <a:rPr lang="it-IT" sz="2400" baseline="-25000" dirty="0"/>
              <a:t>Sys,Dia</a:t>
            </a:r>
            <a:r>
              <a:rPr lang="it-IT" sz="2400" dirty="0"/>
              <a:t>| </a:t>
            </a:r>
            <a:r>
              <a:rPr lang="nl-NL" sz="2400" dirty="0"/>
              <a:t>&lt; 3·</a:t>
            </a:r>
            <a:r>
              <a:rPr lang="el-GR" sz="2400" dirty="0"/>
              <a:t>σ</a:t>
            </a: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</TotalTime>
  <Words>475</Words>
  <Application>Microsoft Office PowerPoint</Application>
  <PresentationFormat>Widescreen</PresentationFormat>
  <Paragraphs>173</Paragraphs>
  <Slides>33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Arial</vt:lpstr>
      <vt:lpstr>Calibri</vt:lpstr>
      <vt:lpstr>Calibri Light</vt:lpstr>
      <vt:lpstr>Cambria Math</vt:lpstr>
      <vt:lpstr>Gintronic</vt:lpstr>
      <vt:lpstr>Segoe UI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57</cp:revision>
  <dcterms:created xsi:type="dcterms:W3CDTF">2024-08-14T11:19:45Z</dcterms:created>
  <dcterms:modified xsi:type="dcterms:W3CDTF">2024-08-28T14:23:44Z</dcterms:modified>
</cp:coreProperties>
</file>